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Lst>
  <p:notesMasterIdLst>
    <p:notesMasterId r:id="rId18"/>
  </p:notesMasterIdLst>
  <p:sldIdLst>
    <p:sldId id="294" r:id="rId3"/>
    <p:sldId id="327" r:id="rId4"/>
    <p:sldId id="347" r:id="rId5"/>
    <p:sldId id="367" r:id="rId6"/>
    <p:sldId id="348" r:id="rId7"/>
    <p:sldId id="349" r:id="rId8"/>
    <p:sldId id="350" r:id="rId9"/>
    <p:sldId id="351" r:id="rId10"/>
    <p:sldId id="352" r:id="rId11"/>
    <p:sldId id="368" r:id="rId12"/>
    <p:sldId id="369" r:id="rId13"/>
    <p:sldId id="370" r:id="rId14"/>
    <p:sldId id="371" r:id="rId15"/>
    <p:sldId id="372" r:id="rId16"/>
    <p:sldId id="293"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g2SAHP/sgd5BQlYktJoj3fDWeW5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82D91D-28F5-4622-BDE7-FCF2C8A00C1C}">
  <a:tblStyle styleId="{8782D91D-28F5-4622-BDE7-FCF2C8A00C1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744" y="96"/>
      </p:cViewPr>
      <p:guideLst>
        <p:guide orient="horz" pos="2160"/>
        <p:guide pos="2880"/>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59"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8"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61" Type="http://schemas.openxmlformats.org/officeDocument/2006/relationships/theme" Target="theme/theme1.xml"/><Relationship Id="rId10" Type="http://schemas.openxmlformats.org/officeDocument/2006/relationships/slide" Target="slides/slide8.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048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5274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912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748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0799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070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9322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610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575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5862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914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6577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9204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pic>
        <p:nvPicPr>
          <p:cNvPr id="15" name="Google Shape;15;p98" descr=" Portada_1090.png"/>
          <p:cNvPicPr preferRelativeResize="0"/>
          <p:nvPr/>
        </p:nvPicPr>
        <p:blipFill rotWithShape="1">
          <a:blip r:embed="rId2">
            <a:alphaModFix/>
          </a:blip>
          <a:srcRect/>
          <a:stretch/>
        </p:blipFill>
        <p:spPr>
          <a:xfrm>
            <a:off x="0" y="0"/>
            <a:ext cx="9142223" cy="5143500"/>
          </a:xfrm>
          <a:prstGeom prst="rect">
            <a:avLst/>
          </a:prstGeom>
          <a:noFill/>
          <a:ln>
            <a:noFill/>
          </a:ln>
        </p:spPr>
      </p:pic>
      <p:sp>
        <p:nvSpPr>
          <p:cNvPr id="16" name="Google Shape;16;p98"/>
          <p:cNvSpPr txBox="1">
            <a:spLocks noGrp="1"/>
          </p:cNvSpPr>
          <p:nvPr>
            <p:ph type="ctrTitle"/>
          </p:nvPr>
        </p:nvSpPr>
        <p:spPr>
          <a:xfrm>
            <a:off x="685800" y="1714500"/>
            <a:ext cx="5727700" cy="15494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8"/>
          <p:cNvSpPr txBox="1">
            <a:spLocks noGrp="1"/>
          </p:cNvSpPr>
          <p:nvPr>
            <p:ph type="dt" idx="10"/>
          </p:nvPr>
        </p:nvSpPr>
        <p:spPr>
          <a:xfrm>
            <a:off x="6280150" y="4434648"/>
            <a:ext cx="2495550"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6"/>
        <p:cNvGrpSpPr/>
        <p:nvPr/>
      </p:nvGrpSpPr>
      <p:grpSpPr>
        <a:xfrm>
          <a:off x="0" y="0"/>
          <a:ext cx="0" cy="0"/>
          <a:chOff x="0" y="0"/>
          <a:chExt cx="0" cy="0"/>
        </a:xfrm>
      </p:grpSpPr>
      <p:sp>
        <p:nvSpPr>
          <p:cNvPr id="27" name="Google Shape;27;p101"/>
          <p:cNvSpPr txBox="1">
            <a:spLocks noGrp="1"/>
          </p:cNvSpPr>
          <p:nvPr>
            <p:ph type="title"/>
          </p:nvPr>
        </p:nvSpPr>
        <p:spPr>
          <a:xfrm>
            <a:off x="628651" y="612586"/>
            <a:ext cx="4257675" cy="887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01"/>
          <p:cNvSpPr txBox="1">
            <a:spLocks noGrp="1"/>
          </p:cNvSpPr>
          <p:nvPr>
            <p:ph type="sldNum" idx="12"/>
          </p:nvPr>
        </p:nvSpPr>
        <p:spPr>
          <a:xfrm>
            <a:off x="522288" y="4570589"/>
            <a:ext cx="2049462" cy="265031"/>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29"/>
        <p:cNvGrpSpPr/>
        <p:nvPr/>
      </p:nvGrpSpPr>
      <p:grpSpPr>
        <a:xfrm>
          <a:off x="0" y="0"/>
          <a:ext cx="0" cy="0"/>
          <a:chOff x="0" y="0"/>
          <a:chExt cx="0" cy="0"/>
        </a:xfrm>
      </p:grpSpPr>
      <p:pic>
        <p:nvPicPr>
          <p:cNvPr id="30" name="Google Shape;30;p102"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31" name="Google Shape;31;p102"/>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32" name="Google Shape;32;p102"/>
          <p:cNvSpPr txBox="1">
            <a:spLocks noGrp="1"/>
          </p:cNvSpPr>
          <p:nvPr>
            <p:ph type="title"/>
          </p:nvPr>
        </p:nvSpPr>
        <p:spPr>
          <a:xfrm>
            <a:off x="628649" y="611572"/>
            <a:ext cx="4303223" cy="60421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2"/>
          <p:cNvSpPr txBox="1">
            <a:spLocks noGrp="1"/>
          </p:cNvSpPr>
          <p:nvPr>
            <p:ph type="body" idx="1"/>
          </p:nvPr>
        </p:nvSpPr>
        <p:spPr>
          <a:xfrm>
            <a:off x="6286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02"/>
          <p:cNvSpPr txBox="1">
            <a:spLocks noGrp="1"/>
          </p:cNvSpPr>
          <p:nvPr>
            <p:ph type="body" idx="2"/>
          </p:nvPr>
        </p:nvSpPr>
        <p:spPr>
          <a:xfrm>
            <a:off x="46291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02"/>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36" name="Google Shape;36;p102"/>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En blanco" type="blank">
  <p:cSld name="BLANK">
    <p:spTree>
      <p:nvGrpSpPr>
        <p:cNvPr id="1" name="Shape 37"/>
        <p:cNvGrpSpPr/>
        <p:nvPr/>
      </p:nvGrpSpPr>
      <p:grpSpPr>
        <a:xfrm>
          <a:off x="0" y="0"/>
          <a:ext cx="0" cy="0"/>
          <a:chOff x="0" y="0"/>
          <a:chExt cx="0" cy="0"/>
        </a:xfrm>
      </p:grpSpPr>
      <p:sp>
        <p:nvSpPr>
          <p:cNvPr id="38" name="Google Shape;38;p103"/>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Dos objetos" type="twoObj">
  <p:cSld name="TWO_OBJECTS">
    <p:spTree>
      <p:nvGrpSpPr>
        <p:cNvPr id="1" name="Shape 39"/>
        <p:cNvGrpSpPr/>
        <p:nvPr/>
      </p:nvGrpSpPr>
      <p:grpSpPr>
        <a:xfrm>
          <a:off x="0" y="0"/>
          <a:ext cx="0" cy="0"/>
          <a:chOff x="0" y="0"/>
          <a:chExt cx="0" cy="0"/>
        </a:xfrm>
      </p:grpSpPr>
      <p:sp>
        <p:nvSpPr>
          <p:cNvPr id="40" name="Google Shape;40;p104"/>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04"/>
          <p:cNvSpPr txBox="1">
            <a:spLocks noGrp="1"/>
          </p:cNvSpPr>
          <p:nvPr>
            <p:ph type="body" idx="1"/>
          </p:nvPr>
        </p:nvSpPr>
        <p:spPr>
          <a:xfrm>
            <a:off x="510698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04"/>
          <p:cNvSpPr txBox="1">
            <a:spLocks noGrp="1"/>
          </p:cNvSpPr>
          <p:nvPr>
            <p:ph type="body" idx="2"/>
          </p:nvPr>
        </p:nvSpPr>
        <p:spPr>
          <a:xfrm>
            <a:off x="709453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04"/>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ítulo y objetos" type="obj">
  <p:cSld name="OBJECT">
    <p:spTree>
      <p:nvGrpSpPr>
        <p:cNvPr id="1" name="Shape 44"/>
        <p:cNvGrpSpPr/>
        <p:nvPr/>
      </p:nvGrpSpPr>
      <p:grpSpPr>
        <a:xfrm>
          <a:off x="0" y="0"/>
          <a:ext cx="0" cy="0"/>
          <a:chOff x="0" y="0"/>
          <a:chExt cx="0" cy="0"/>
        </a:xfrm>
      </p:grpSpPr>
      <p:sp>
        <p:nvSpPr>
          <p:cNvPr id="45" name="Google Shape;45;p105"/>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05"/>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48"/>
        <p:cNvGrpSpPr/>
        <p:nvPr/>
      </p:nvGrpSpPr>
      <p:grpSpPr>
        <a:xfrm>
          <a:off x="0" y="0"/>
          <a:ext cx="0" cy="0"/>
          <a:chOff x="0" y="0"/>
          <a:chExt cx="0" cy="0"/>
        </a:xfrm>
      </p:grpSpPr>
      <p:pic>
        <p:nvPicPr>
          <p:cNvPr id="49" name="Google Shape;49;p106"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0" name="Google Shape;50;p106"/>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1" name="Google Shape;51;p106"/>
          <p:cNvSpPr txBox="1">
            <a:spLocks noGrp="1"/>
          </p:cNvSpPr>
          <p:nvPr>
            <p:ph type="title"/>
          </p:nvPr>
        </p:nvSpPr>
        <p:spPr>
          <a:xfrm>
            <a:off x="591660" y="597766"/>
            <a:ext cx="4352542" cy="79482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06"/>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3" name="Google Shape;53;p106"/>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54"/>
        <p:cNvGrpSpPr/>
        <p:nvPr/>
      </p:nvGrpSpPr>
      <p:grpSpPr>
        <a:xfrm>
          <a:off x="0" y="0"/>
          <a:ext cx="0" cy="0"/>
          <a:chOff x="0" y="0"/>
          <a:chExt cx="0" cy="0"/>
        </a:xfrm>
      </p:grpSpPr>
      <p:pic>
        <p:nvPicPr>
          <p:cNvPr id="55" name="Google Shape;55;p107"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6" name="Google Shape;56;p107"/>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07"/>
          <p:cNvSpPr txBox="1">
            <a:spLocks noGrp="1"/>
          </p:cNvSpPr>
          <p:nvPr>
            <p:ph type="sldNum" idx="12"/>
          </p:nvPr>
        </p:nvSpPr>
        <p:spPr>
          <a:xfrm>
            <a:off x="48453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8" name="Google Shape;58;p107"/>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59"/>
        <p:cNvGrpSpPr/>
        <p:nvPr/>
      </p:nvGrpSpPr>
      <p:grpSpPr>
        <a:xfrm>
          <a:off x="0" y="0"/>
          <a:ext cx="0" cy="0"/>
          <a:chOff x="0" y="0"/>
          <a:chExt cx="0" cy="0"/>
        </a:xfrm>
      </p:grpSpPr>
      <p:pic>
        <p:nvPicPr>
          <p:cNvPr id="60" name="Google Shape;60;p108"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61" name="Google Shape;61;p108"/>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62" name="Google Shape;62;p108"/>
          <p:cNvSpPr txBox="1">
            <a:spLocks noGrp="1"/>
          </p:cNvSpPr>
          <p:nvPr>
            <p:ph type="title"/>
          </p:nvPr>
        </p:nvSpPr>
        <p:spPr>
          <a:xfrm>
            <a:off x="629841" y="599245"/>
            <a:ext cx="4302032" cy="6288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8"/>
          <p:cNvSpPr txBox="1">
            <a:spLocks noGrp="1"/>
          </p:cNvSpPr>
          <p:nvPr>
            <p:ph type="body" idx="1"/>
          </p:nvPr>
        </p:nvSpPr>
        <p:spPr>
          <a:xfrm>
            <a:off x="629842" y="1159100"/>
            <a:ext cx="3868340"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108"/>
          <p:cNvSpPr txBox="1">
            <a:spLocks noGrp="1"/>
          </p:cNvSpPr>
          <p:nvPr>
            <p:ph type="body" idx="2"/>
          </p:nvPr>
        </p:nvSpPr>
        <p:spPr>
          <a:xfrm>
            <a:off x="629842" y="1849626"/>
            <a:ext cx="3868340" cy="2577146"/>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8"/>
          <p:cNvSpPr txBox="1">
            <a:spLocks noGrp="1"/>
          </p:cNvSpPr>
          <p:nvPr>
            <p:ph type="body" idx="3"/>
          </p:nvPr>
        </p:nvSpPr>
        <p:spPr>
          <a:xfrm>
            <a:off x="4629151" y="1159100"/>
            <a:ext cx="3887391"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108"/>
          <p:cNvSpPr txBox="1">
            <a:spLocks noGrp="1"/>
          </p:cNvSpPr>
          <p:nvPr>
            <p:ph type="body" idx="4"/>
          </p:nvPr>
        </p:nvSpPr>
        <p:spPr>
          <a:xfrm>
            <a:off x="4629151" y="1849626"/>
            <a:ext cx="3887391" cy="257714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08"/>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68" name="Google Shape;68;p108"/>
          <p:cNvSpPr txBox="1">
            <a:spLocks noGrp="1"/>
          </p:cNvSpPr>
          <p:nvPr>
            <p:ph type="body" idx="5"/>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69"/>
        <p:cNvGrpSpPr/>
        <p:nvPr/>
      </p:nvGrpSpPr>
      <p:grpSpPr>
        <a:xfrm>
          <a:off x="0" y="0"/>
          <a:ext cx="0" cy="0"/>
          <a:chOff x="0" y="0"/>
          <a:chExt cx="0" cy="0"/>
        </a:xfrm>
      </p:grpSpPr>
      <p:pic>
        <p:nvPicPr>
          <p:cNvPr id="70" name="Google Shape;70;p109"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1" name="Google Shape;71;p109"/>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72" name="Google Shape;72;p109"/>
          <p:cNvSpPr txBox="1">
            <a:spLocks noGrp="1"/>
          </p:cNvSpPr>
          <p:nvPr>
            <p:ph type="title"/>
          </p:nvPr>
        </p:nvSpPr>
        <p:spPr>
          <a:xfrm>
            <a:off x="629841" y="600714"/>
            <a:ext cx="2949178" cy="9741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9"/>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109"/>
          <p:cNvSpPr txBox="1">
            <a:spLocks noGrp="1"/>
          </p:cNvSpPr>
          <p:nvPr>
            <p:ph type="body" idx="2"/>
          </p:nvPr>
        </p:nvSpPr>
        <p:spPr>
          <a:xfrm>
            <a:off x="629841" y="1578348"/>
            <a:ext cx="2949178" cy="282339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09"/>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76" name="Google Shape;76;p109"/>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77"/>
        <p:cNvGrpSpPr/>
        <p:nvPr/>
      </p:nvGrpSpPr>
      <p:grpSpPr>
        <a:xfrm>
          <a:off x="0" y="0"/>
          <a:ext cx="0" cy="0"/>
          <a:chOff x="0" y="0"/>
          <a:chExt cx="0" cy="0"/>
        </a:xfrm>
      </p:grpSpPr>
      <p:pic>
        <p:nvPicPr>
          <p:cNvPr id="78" name="Google Shape;78;p110"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9" name="Google Shape;79;p110"/>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0" name="Google Shape;80;p110"/>
          <p:cNvSpPr txBox="1">
            <a:spLocks noGrp="1"/>
          </p:cNvSpPr>
          <p:nvPr>
            <p:ph type="title"/>
          </p:nvPr>
        </p:nvSpPr>
        <p:spPr>
          <a:xfrm>
            <a:off x="617511" y="599244"/>
            <a:ext cx="2949178" cy="115909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10"/>
          <p:cNvSpPr>
            <a:spLocks noGrp="1"/>
          </p:cNvSpPr>
          <p:nvPr>
            <p:ph type="pic" idx="2"/>
          </p:nvPr>
        </p:nvSpPr>
        <p:spPr>
          <a:xfrm>
            <a:off x="3887391" y="740570"/>
            <a:ext cx="4629150" cy="3655219"/>
          </a:xfrm>
          <a:prstGeom prst="rect">
            <a:avLst/>
          </a:prstGeom>
          <a:noFill/>
          <a:ln>
            <a:noFill/>
          </a:ln>
        </p:spPr>
      </p:sp>
      <p:sp>
        <p:nvSpPr>
          <p:cNvPr id="82" name="Google Shape;82;p110"/>
          <p:cNvSpPr txBox="1">
            <a:spLocks noGrp="1"/>
          </p:cNvSpPr>
          <p:nvPr>
            <p:ph type="body" idx="1"/>
          </p:nvPr>
        </p:nvSpPr>
        <p:spPr>
          <a:xfrm>
            <a:off x="629841" y="1812633"/>
            <a:ext cx="2949178" cy="258910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110"/>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84" name="Google Shape;84;p110"/>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p:cSld name="Título y texto vertical">
    <p:spTree>
      <p:nvGrpSpPr>
        <p:cNvPr id="1" name="Shape 85"/>
        <p:cNvGrpSpPr/>
        <p:nvPr/>
      </p:nvGrpSpPr>
      <p:grpSpPr>
        <a:xfrm>
          <a:off x="0" y="0"/>
          <a:ext cx="0" cy="0"/>
          <a:chOff x="0" y="0"/>
          <a:chExt cx="0" cy="0"/>
        </a:xfrm>
      </p:grpSpPr>
      <p:pic>
        <p:nvPicPr>
          <p:cNvPr id="86" name="Google Shape;86;p111"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87" name="Google Shape;87;p111"/>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8" name="Google Shape;88;p111"/>
          <p:cNvSpPr txBox="1">
            <a:spLocks noGrp="1"/>
          </p:cNvSpPr>
          <p:nvPr>
            <p:ph type="title"/>
          </p:nvPr>
        </p:nvSpPr>
        <p:spPr>
          <a:xfrm>
            <a:off x="628650" y="613047"/>
            <a:ext cx="4315552" cy="104862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11"/>
          <p:cNvSpPr txBox="1">
            <a:spLocks noGrp="1"/>
          </p:cNvSpPr>
          <p:nvPr>
            <p:ph type="body" idx="1"/>
          </p:nvPr>
        </p:nvSpPr>
        <p:spPr>
          <a:xfrm rot="5400000">
            <a:off x="3154205" y="-946707"/>
            <a:ext cx="2835589" cy="788670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b="1">
                <a:solidFill>
                  <a:srgbClr val="5D5D5D"/>
                </a:solidFill>
              </a:defRPr>
            </a:lvl1pPr>
            <a:lvl2pPr marL="914400" lvl="1" indent="-317500" algn="l">
              <a:lnSpc>
                <a:spcPct val="90000"/>
              </a:lnSpc>
              <a:spcBef>
                <a:spcPts val="500"/>
              </a:spcBef>
              <a:spcAft>
                <a:spcPts val="0"/>
              </a:spcAft>
              <a:buClr>
                <a:srgbClr val="5D5D5D"/>
              </a:buClr>
              <a:buSzPts val="1400"/>
              <a:buChar char="•"/>
              <a:defRPr sz="1400" b="1">
                <a:solidFill>
                  <a:srgbClr val="5D5D5D"/>
                </a:solidFill>
              </a:defRPr>
            </a:lvl2pPr>
            <a:lvl3pPr marL="1371600" lvl="2" indent="-317500" algn="l">
              <a:lnSpc>
                <a:spcPct val="90000"/>
              </a:lnSpc>
              <a:spcBef>
                <a:spcPts val="500"/>
              </a:spcBef>
              <a:spcAft>
                <a:spcPts val="0"/>
              </a:spcAft>
              <a:buClr>
                <a:srgbClr val="5D5D5D"/>
              </a:buClr>
              <a:buSzPts val="1400"/>
              <a:buChar char="•"/>
              <a:defRPr sz="1400" b="1">
                <a:solidFill>
                  <a:srgbClr val="5D5D5D"/>
                </a:solidFill>
              </a:defRPr>
            </a:lvl3pPr>
            <a:lvl4pPr marL="1828800" lvl="3" indent="-317500" algn="l">
              <a:lnSpc>
                <a:spcPct val="90000"/>
              </a:lnSpc>
              <a:spcBef>
                <a:spcPts val="500"/>
              </a:spcBef>
              <a:spcAft>
                <a:spcPts val="0"/>
              </a:spcAft>
              <a:buClr>
                <a:srgbClr val="5D5D5D"/>
              </a:buClr>
              <a:buSzPts val="1400"/>
              <a:buChar char="•"/>
              <a:defRPr sz="1400" b="1">
                <a:solidFill>
                  <a:srgbClr val="5D5D5D"/>
                </a:solidFill>
              </a:defRPr>
            </a:lvl4pPr>
            <a:lvl5pPr marL="2286000" lvl="4" indent="-317500" algn="l">
              <a:lnSpc>
                <a:spcPct val="90000"/>
              </a:lnSpc>
              <a:spcBef>
                <a:spcPts val="500"/>
              </a:spcBef>
              <a:spcAft>
                <a:spcPts val="0"/>
              </a:spcAft>
              <a:buClr>
                <a:srgbClr val="5D5D5D"/>
              </a:buClr>
              <a:buSzPts val="1400"/>
              <a:buChar char="•"/>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11"/>
          <p:cNvSpPr txBox="1">
            <a:spLocks noGrp="1"/>
          </p:cNvSpPr>
          <p:nvPr>
            <p:ph type="sldNum" idx="12"/>
          </p:nvPr>
        </p:nvSpPr>
        <p:spPr>
          <a:xfrm>
            <a:off x="52152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91" name="Google Shape;91;p111"/>
          <p:cNvSpPr txBox="1">
            <a:spLocks noGrp="1"/>
          </p:cNvSpPr>
          <p:nvPr>
            <p:ph type="body" idx="2"/>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18"/>
        <p:cNvGrpSpPr/>
        <p:nvPr/>
      </p:nvGrpSpPr>
      <p:grpSpPr>
        <a:xfrm>
          <a:off x="0" y="0"/>
          <a:ext cx="0" cy="0"/>
          <a:chOff x="0" y="0"/>
          <a:chExt cx="0" cy="0"/>
        </a:xfrm>
      </p:grpSpPr>
      <p:sp>
        <p:nvSpPr>
          <p:cNvPr id="19" name="Google Shape;19;p99"/>
          <p:cNvSpPr txBox="1">
            <a:spLocks noGrp="1"/>
          </p:cNvSpPr>
          <p:nvPr>
            <p:ph type="title"/>
          </p:nvPr>
        </p:nvSpPr>
        <p:spPr>
          <a:xfrm>
            <a:off x="1195441" y="516026"/>
            <a:ext cx="5351620" cy="994172"/>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rgbClr val="D9D9D9"/>
              </a:buClr>
              <a:buSzPts val="4400"/>
              <a:buFont typeface="Arial"/>
              <a:buNone/>
              <a:defRPr sz="4400">
                <a:solidFill>
                  <a:srgbClr val="D9D9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718794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29"/>
        <p:cNvGrpSpPr/>
        <p:nvPr/>
      </p:nvGrpSpPr>
      <p:grpSpPr>
        <a:xfrm>
          <a:off x="0" y="0"/>
          <a:ext cx="0" cy="0"/>
          <a:chOff x="0" y="0"/>
          <a:chExt cx="0" cy="0"/>
        </a:xfrm>
      </p:grpSpPr>
      <p:pic>
        <p:nvPicPr>
          <p:cNvPr id="30" name="Google Shape;30;p102"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31" name="Google Shape;31;p102"/>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32" name="Google Shape;32;p102"/>
          <p:cNvSpPr txBox="1">
            <a:spLocks noGrp="1"/>
          </p:cNvSpPr>
          <p:nvPr>
            <p:ph type="title"/>
          </p:nvPr>
        </p:nvSpPr>
        <p:spPr>
          <a:xfrm>
            <a:off x="628649" y="611572"/>
            <a:ext cx="4303223" cy="60421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2"/>
          <p:cNvSpPr txBox="1">
            <a:spLocks noGrp="1"/>
          </p:cNvSpPr>
          <p:nvPr>
            <p:ph type="body" idx="1"/>
          </p:nvPr>
        </p:nvSpPr>
        <p:spPr>
          <a:xfrm>
            <a:off x="6286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02"/>
          <p:cNvSpPr txBox="1">
            <a:spLocks noGrp="1"/>
          </p:cNvSpPr>
          <p:nvPr>
            <p:ph type="body" idx="2"/>
          </p:nvPr>
        </p:nvSpPr>
        <p:spPr>
          <a:xfrm>
            <a:off x="46291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02"/>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36" name="Google Shape;36;p102"/>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71932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En blanco" type="blank">
  <p:cSld name="1_En blanco">
    <p:spTree>
      <p:nvGrpSpPr>
        <p:cNvPr id="1" name="Shape 37"/>
        <p:cNvGrpSpPr/>
        <p:nvPr/>
      </p:nvGrpSpPr>
      <p:grpSpPr>
        <a:xfrm>
          <a:off x="0" y="0"/>
          <a:ext cx="0" cy="0"/>
          <a:chOff x="0" y="0"/>
          <a:chExt cx="0" cy="0"/>
        </a:xfrm>
      </p:grpSpPr>
      <p:sp>
        <p:nvSpPr>
          <p:cNvPr id="38" name="Google Shape;38;p103"/>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618309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Dos objetos" type="twoObj">
  <p:cSld name="1_Dos objetos">
    <p:spTree>
      <p:nvGrpSpPr>
        <p:cNvPr id="1" name="Shape 39"/>
        <p:cNvGrpSpPr/>
        <p:nvPr/>
      </p:nvGrpSpPr>
      <p:grpSpPr>
        <a:xfrm>
          <a:off x="0" y="0"/>
          <a:ext cx="0" cy="0"/>
          <a:chOff x="0" y="0"/>
          <a:chExt cx="0" cy="0"/>
        </a:xfrm>
      </p:grpSpPr>
      <p:sp>
        <p:nvSpPr>
          <p:cNvPr id="40" name="Google Shape;40;p104"/>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04"/>
          <p:cNvSpPr txBox="1">
            <a:spLocks noGrp="1"/>
          </p:cNvSpPr>
          <p:nvPr>
            <p:ph type="body" idx="1"/>
          </p:nvPr>
        </p:nvSpPr>
        <p:spPr>
          <a:xfrm>
            <a:off x="510698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04"/>
          <p:cNvSpPr txBox="1">
            <a:spLocks noGrp="1"/>
          </p:cNvSpPr>
          <p:nvPr>
            <p:ph type="body" idx="2"/>
          </p:nvPr>
        </p:nvSpPr>
        <p:spPr>
          <a:xfrm>
            <a:off x="709453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04"/>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766241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ítulo y objetos" type="obj">
  <p:cSld name="1_Título y objetos">
    <p:spTree>
      <p:nvGrpSpPr>
        <p:cNvPr id="1" name="Shape 44"/>
        <p:cNvGrpSpPr/>
        <p:nvPr/>
      </p:nvGrpSpPr>
      <p:grpSpPr>
        <a:xfrm>
          <a:off x="0" y="0"/>
          <a:ext cx="0" cy="0"/>
          <a:chOff x="0" y="0"/>
          <a:chExt cx="0" cy="0"/>
        </a:xfrm>
      </p:grpSpPr>
      <p:sp>
        <p:nvSpPr>
          <p:cNvPr id="45" name="Google Shape;45;p105"/>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05"/>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2648839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48"/>
        <p:cNvGrpSpPr/>
        <p:nvPr/>
      </p:nvGrpSpPr>
      <p:grpSpPr>
        <a:xfrm>
          <a:off x="0" y="0"/>
          <a:ext cx="0" cy="0"/>
          <a:chOff x="0" y="0"/>
          <a:chExt cx="0" cy="0"/>
        </a:xfrm>
      </p:grpSpPr>
      <p:pic>
        <p:nvPicPr>
          <p:cNvPr id="49" name="Google Shape;49;p106"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0" name="Google Shape;50;p106"/>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1" name="Google Shape;51;p106"/>
          <p:cNvSpPr txBox="1">
            <a:spLocks noGrp="1"/>
          </p:cNvSpPr>
          <p:nvPr>
            <p:ph type="title"/>
          </p:nvPr>
        </p:nvSpPr>
        <p:spPr>
          <a:xfrm>
            <a:off x="591660" y="597766"/>
            <a:ext cx="4352542" cy="79482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06"/>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3" name="Google Shape;53;p106"/>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7634289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54"/>
        <p:cNvGrpSpPr/>
        <p:nvPr/>
      </p:nvGrpSpPr>
      <p:grpSpPr>
        <a:xfrm>
          <a:off x="0" y="0"/>
          <a:ext cx="0" cy="0"/>
          <a:chOff x="0" y="0"/>
          <a:chExt cx="0" cy="0"/>
        </a:xfrm>
      </p:grpSpPr>
      <p:pic>
        <p:nvPicPr>
          <p:cNvPr id="55" name="Google Shape;55;p107"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6" name="Google Shape;56;p107"/>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07"/>
          <p:cNvSpPr txBox="1">
            <a:spLocks noGrp="1"/>
          </p:cNvSpPr>
          <p:nvPr>
            <p:ph type="sldNum" idx="12"/>
          </p:nvPr>
        </p:nvSpPr>
        <p:spPr>
          <a:xfrm>
            <a:off x="48453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8" name="Google Shape;58;p107"/>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0502432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59"/>
        <p:cNvGrpSpPr/>
        <p:nvPr/>
      </p:nvGrpSpPr>
      <p:grpSpPr>
        <a:xfrm>
          <a:off x="0" y="0"/>
          <a:ext cx="0" cy="0"/>
          <a:chOff x="0" y="0"/>
          <a:chExt cx="0" cy="0"/>
        </a:xfrm>
      </p:grpSpPr>
      <p:pic>
        <p:nvPicPr>
          <p:cNvPr id="60" name="Google Shape;60;p108"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61" name="Google Shape;61;p108"/>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62" name="Google Shape;62;p108"/>
          <p:cNvSpPr txBox="1">
            <a:spLocks noGrp="1"/>
          </p:cNvSpPr>
          <p:nvPr>
            <p:ph type="title"/>
          </p:nvPr>
        </p:nvSpPr>
        <p:spPr>
          <a:xfrm>
            <a:off x="629841" y="599245"/>
            <a:ext cx="4302032" cy="6288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8"/>
          <p:cNvSpPr txBox="1">
            <a:spLocks noGrp="1"/>
          </p:cNvSpPr>
          <p:nvPr>
            <p:ph type="body" idx="1"/>
          </p:nvPr>
        </p:nvSpPr>
        <p:spPr>
          <a:xfrm>
            <a:off x="629842" y="1159100"/>
            <a:ext cx="3868340"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108"/>
          <p:cNvSpPr txBox="1">
            <a:spLocks noGrp="1"/>
          </p:cNvSpPr>
          <p:nvPr>
            <p:ph type="body" idx="2"/>
          </p:nvPr>
        </p:nvSpPr>
        <p:spPr>
          <a:xfrm>
            <a:off x="629842" y="1849626"/>
            <a:ext cx="3868340" cy="2577146"/>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8"/>
          <p:cNvSpPr txBox="1">
            <a:spLocks noGrp="1"/>
          </p:cNvSpPr>
          <p:nvPr>
            <p:ph type="body" idx="3"/>
          </p:nvPr>
        </p:nvSpPr>
        <p:spPr>
          <a:xfrm>
            <a:off x="4629151" y="1159100"/>
            <a:ext cx="3887391"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108"/>
          <p:cNvSpPr txBox="1">
            <a:spLocks noGrp="1"/>
          </p:cNvSpPr>
          <p:nvPr>
            <p:ph type="body" idx="4"/>
          </p:nvPr>
        </p:nvSpPr>
        <p:spPr>
          <a:xfrm>
            <a:off x="4629151" y="1849626"/>
            <a:ext cx="3887391" cy="257714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08"/>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68" name="Google Shape;68;p108"/>
          <p:cNvSpPr txBox="1">
            <a:spLocks noGrp="1"/>
          </p:cNvSpPr>
          <p:nvPr>
            <p:ph type="body" idx="5"/>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85738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69"/>
        <p:cNvGrpSpPr/>
        <p:nvPr/>
      </p:nvGrpSpPr>
      <p:grpSpPr>
        <a:xfrm>
          <a:off x="0" y="0"/>
          <a:ext cx="0" cy="0"/>
          <a:chOff x="0" y="0"/>
          <a:chExt cx="0" cy="0"/>
        </a:xfrm>
      </p:grpSpPr>
      <p:pic>
        <p:nvPicPr>
          <p:cNvPr id="70" name="Google Shape;70;p109"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1" name="Google Shape;71;p109"/>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72" name="Google Shape;72;p109"/>
          <p:cNvSpPr txBox="1">
            <a:spLocks noGrp="1"/>
          </p:cNvSpPr>
          <p:nvPr>
            <p:ph type="title"/>
          </p:nvPr>
        </p:nvSpPr>
        <p:spPr>
          <a:xfrm>
            <a:off x="629841" y="600714"/>
            <a:ext cx="2949178" cy="9741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9"/>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109"/>
          <p:cNvSpPr txBox="1">
            <a:spLocks noGrp="1"/>
          </p:cNvSpPr>
          <p:nvPr>
            <p:ph type="body" idx="2"/>
          </p:nvPr>
        </p:nvSpPr>
        <p:spPr>
          <a:xfrm>
            <a:off x="629841" y="1578348"/>
            <a:ext cx="2949178" cy="282339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09"/>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76" name="Google Shape;76;p109"/>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37233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77"/>
        <p:cNvGrpSpPr/>
        <p:nvPr/>
      </p:nvGrpSpPr>
      <p:grpSpPr>
        <a:xfrm>
          <a:off x="0" y="0"/>
          <a:ext cx="0" cy="0"/>
          <a:chOff x="0" y="0"/>
          <a:chExt cx="0" cy="0"/>
        </a:xfrm>
      </p:grpSpPr>
      <p:pic>
        <p:nvPicPr>
          <p:cNvPr id="78" name="Google Shape;78;p110"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9" name="Google Shape;79;p110"/>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0" name="Google Shape;80;p110"/>
          <p:cNvSpPr txBox="1">
            <a:spLocks noGrp="1"/>
          </p:cNvSpPr>
          <p:nvPr>
            <p:ph type="title"/>
          </p:nvPr>
        </p:nvSpPr>
        <p:spPr>
          <a:xfrm>
            <a:off x="617511" y="599244"/>
            <a:ext cx="2949178" cy="115909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10"/>
          <p:cNvSpPr>
            <a:spLocks noGrp="1"/>
          </p:cNvSpPr>
          <p:nvPr>
            <p:ph type="pic" idx="2"/>
          </p:nvPr>
        </p:nvSpPr>
        <p:spPr>
          <a:xfrm>
            <a:off x="3887391" y="740570"/>
            <a:ext cx="4629150" cy="3655219"/>
          </a:xfrm>
          <a:prstGeom prst="rect">
            <a:avLst/>
          </a:prstGeom>
          <a:noFill/>
          <a:ln>
            <a:noFill/>
          </a:ln>
        </p:spPr>
      </p:sp>
      <p:sp>
        <p:nvSpPr>
          <p:cNvPr id="82" name="Google Shape;82;p110"/>
          <p:cNvSpPr txBox="1">
            <a:spLocks noGrp="1"/>
          </p:cNvSpPr>
          <p:nvPr>
            <p:ph type="body" idx="1"/>
          </p:nvPr>
        </p:nvSpPr>
        <p:spPr>
          <a:xfrm>
            <a:off x="629841" y="1812633"/>
            <a:ext cx="2949178" cy="258910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110"/>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84" name="Google Shape;84;p110"/>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858030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y texto vertical">
  <p:cSld name="Título y texto vertical">
    <p:spTree>
      <p:nvGrpSpPr>
        <p:cNvPr id="1" name="Shape 85"/>
        <p:cNvGrpSpPr/>
        <p:nvPr/>
      </p:nvGrpSpPr>
      <p:grpSpPr>
        <a:xfrm>
          <a:off x="0" y="0"/>
          <a:ext cx="0" cy="0"/>
          <a:chOff x="0" y="0"/>
          <a:chExt cx="0" cy="0"/>
        </a:xfrm>
      </p:grpSpPr>
      <p:pic>
        <p:nvPicPr>
          <p:cNvPr id="86" name="Google Shape;86;p111"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87" name="Google Shape;87;p111"/>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8" name="Google Shape;88;p111"/>
          <p:cNvSpPr txBox="1">
            <a:spLocks noGrp="1"/>
          </p:cNvSpPr>
          <p:nvPr>
            <p:ph type="title"/>
          </p:nvPr>
        </p:nvSpPr>
        <p:spPr>
          <a:xfrm>
            <a:off x="628650" y="613047"/>
            <a:ext cx="4315552" cy="104862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11"/>
          <p:cNvSpPr txBox="1">
            <a:spLocks noGrp="1"/>
          </p:cNvSpPr>
          <p:nvPr>
            <p:ph type="body" idx="1"/>
          </p:nvPr>
        </p:nvSpPr>
        <p:spPr>
          <a:xfrm rot="5400000">
            <a:off x="3154205" y="-946707"/>
            <a:ext cx="2835589" cy="788670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b="1">
                <a:solidFill>
                  <a:srgbClr val="5D5D5D"/>
                </a:solidFill>
              </a:defRPr>
            </a:lvl1pPr>
            <a:lvl2pPr marL="914400" lvl="1" indent="-317500" algn="l">
              <a:lnSpc>
                <a:spcPct val="90000"/>
              </a:lnSpc>
              <a:spcBef>
                <a:spcPts val="500"/>
              </a:spcBef>
              <a:spcAft>
                <a:spcPts val="0"/>
              </a:spcAft>
              <a:buClr>
                <a:srgbClr val="5D5D5D"/>
              </a:buClr>
              <a:buSzPts val="1400"/>
              <a:buChar char="•"/>
              <a:defRPr sz="1400" b="1">
                <a:solidFill>
                  <a:srgbClr val="5D5D5D"/>
                </a:solidFill>
              </a:defRPr>
            </a:lvl2pPr>
            <a:lvl3pPr marL="1371600" lvl="2" indent="-317500" algn="l">
              <a:lnSpc>
                <a:spcPct val="90000"/>
              </a:lnSpc>
              <a:spcBef>
                <a:spcPts val="500"/>
              </a:spcBef>
              <a:spcAft>
                <a:spcPts val="0"/>
              </a:spcAft>
              <a:buClr>
                <a:srgbClr val="5D5D5D"/>
              </a:buClr>
              <a:buSzPts val="1400"/>
              <a:buChar char="•"/>
              <a:defRPr sz="1400" b="1">
                <a:solidFill>
                  <a:srgbClr val="5D5D5D"/>
                </a:solidFill>
              </a:defRPr>
            </a:lvl3pPr>
            <a:lvl4pPr marL="1828800" lvl="3" indent="-317500" algn="l">
              <a:lnSpc>
                <a:spcPct val="90000"/>
              </a:lnSpc>
              <a:spcBef>
                <a:spcPts val="500"/>
              </a:spcBef>
              <a:spcAft>
                <a:spcPts val="0"/>
              </a:spcAft>
              <a:buClr>
                <a:srgbClr val="5D5D5D"/>
              </a:buClr>
              <a:buSzPts val="1400"/>
              <a:buChar char="•"/>
              <a:defRPr sz="1400" b="1">
                <a:solidFill>
                  <a:srgbClr val="5D5D5D"/>
                </a:solidFill>
              </a:defRPr>
            </a:lvl4pPr>
            <a:lvl5pPr marL="2286000" lvl="4" indent="-317500" algn="l">
              <a:lnSpc>
                <a:spcPct val="90000"/>
              </a:lnSpc>
              <a:spcBef>
                <a:spcPts val="500"/>
              </a:spcBef>
              <a:spcAft>
                <a:spcPts val="0"/>
              </a:spcAft>
              <a:buClr>
                <a:srgbClr val="5D5D5D"/>
              </a:buClr>
              <a:buSzPts val="1400"/>
              <a:buChar char="•"/>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11"/>
          <p:cNvSpPr txBox="1">
            <a:spLocks noGrp="1"/>
          </p:cNvSpPr>
          <p:nvPr>
            <p:ph type="sldNum" idx="12"/>
          </p:nvPr>
        </p:nvSpPr>
        <p:spPr>
          <a:xfrm>
            <a:off x="52152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91" name="Google Shape;91;p111"/>
          <p:cNvSpPr txBox="1">
            <a:spLocks noGrp="1"/>
          </p:cNvSpPr>
          <p:nvPr>
            <p:ph type="body" idx="2"/>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8888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7"/>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7"/>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7"/>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800" b="0" i="0" u="none" strike="noStrike" cap="none">
                <a:solidFill>
                  <a:srgbClr val="888888"/>
                </a:solidFill>
                <a:latin typeface="Arial"/>
                <a:ea typeface="Arial"/>
                <a:cs typeface="Arial"/>
                <a:sym typeface="Arial"/>
              </a:defRPr>
            </a:lvl1pPr>
            <a:lvl2pPr marL="0" marR="0" lvl="1" indent="0" algn="l" rtl="0">
              <a:spcBef>
                <a:spcPts val="0"/>
              </a:spcBef>
              <a:buNone/>
              <a:defRPr sz="1800" b="0" i="0" u="none" strike="noStrike" cap="none">
                <a:solidFill>
                  <a:srgbClr val="888888"/>
                </a:solidFill>
                <a:latin typeface="Arial"/>
                <a:ea typeface="Arial"/>
                <a:cs typeface="Arial"/>
                <a:sym typeface="Arial"/>
              </a:defRPr>
            </a:lvl2pPr>
            <a:lvl3pPr marL="0" marR="0" lvl="2" indent="0" algn="l" rtl="0">
              <a:spcBef>
                <a:spcPts val="0"/>
              </a:spcBef>
              <a:buNone/>
              <a:defRPr sz="1800" b="0" i="0" u="none" strike="noStrike" cap="none">
                <a:solidFill>
                  <a:srgbClr val="888888"/>
                </a:solidFill>
                <a:latin typeface="Arial"/>
                <a:ea typeface="Arial"/>
                <a:cs typeface="Arial"/>
                <a:sym typeface="Arial"/>
              </a:defRPr>
            </a:lvl3pPr>
            <a:lvl4pPr marL="0" marR="0" lvl="3" indent="0" algn="l" rtl="0">
              <a:spcBef>
                <a:spcPts val="0"/>
              </a:spcBef>
              <a:buNone/>
              <a:defRPr sz="1800" b="0" i="0" u="none" strike="noStrike" cap="none">
                <a:solidFill>
                  <a:srgbClr val="888888"/>
                </a:solidFill>
                <a:latin typeface="Arial"/>
                <a:ea typeface="Arial"/>
                <a:cs typeface="Arial"/>
                <a:sym typeface="Arial"/>
              </a:defRPr>
            </a:lvl4pPr>
            <a:lvl5pPr marL="0" marR="0" lvl="4" indent="0" algn="l" rtl="0">
              <a:spcBef>
                <a:spcPts val="0"/>
              </a:spcBef>
              <a:buNone/>
              <a:defRPr sz="1800" b="0" i="0" u="none" strike="noStrike" cap="none">
                <a:solidFill>
                  <a:srgbClr val="888888"/>
                </a:solidFill>
                <a:latin typeface="Arial"/>
                <a:ea typeface="Arial"/>
                <a:cs typeface="Arial"/>
                <a:sym typeface="Arial"/>
              </a:defRPr>
            </a:lvl5pPr>
            <a:lvl6pPr marL="0" marR="0" lvl="5" indent="0" algn="l" rtl="0">
              <a:spcBef>
                <a:spcPts val="0"/>
              </a:spcBef>
              <a:buNone/>
              <a:defRPr sz="1800" b="0" i="0" u="none" strike="noStrike" cap="none">
                <a:solidFill>
                  <a:srgbClr val="888888"/>
                </a:solidFill>
                <a:latin typeface="Arial"/>
                <a:ea typeface="Arial"/>
                <a:cs typeface="Arial"/>
                <a:sym typeface="Arial"/>
              </a:defRPr>
            </a:lvl6pPr>
            <a:lvl7pPr marL="0" marR="0" lvl="6" indent="0" algn="l" rtl="0">
              <a:spcBef>
                <a:spcPts val="0"/>
              </a:spcBef>
              <a:buNone/>
              <a:defRPr sz="1800" b="0" i="0" u="none" strike="noStrike" cap="none">
                <a:solidFill>
                  <a:srgbClr val="888888"/>
                </a:solidFill>
                <a:latin typeface="Arial"/>
                <a:ea typeface="Arial"/>
                <a:cs typeface="Arial"/>
                <a:sym typeface="Arial"/>
              </a:defRPr>
            </a:lvl7pPr>
            <a:lvl8pPr marL="0" marR="0" lvl="7" indent="0" algn="l" rtl="0">
              <a:spcBef>
                <a:spcPts val="0"/>
              </a:spcBef>
              <a:buNone/>
              <a:defRPr sz="1800" b="0" i="0" u="none" strike="noStrike" cap="none">
                <a:solidFill>
                  <a:srgbClr val="888888"/>
                </a:solidFill>
                <a:latin typeface="Arial"/>
                <a:ea typeface="Arial"/>
                <a:cs typeface="Arial"/>
                <a:sym typeface="Arial"/>
              </a:defRPr>
            </a:lvl8pPr>
            <a:lvl9pPr marL="0" marR="0" lvl="8" indent="0" algn="l" rtl="0">
              <a:spcBef>
                <a:spcPts val="0"/>
              </a:spcBef>
              <a:buNone/>
              <a:defRPr sz="1800" b="0" i="0" u="none" strike="noStrike" cap="none">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
        <p:nvSpPr>
          <p:cNvPr id="13" name="Google Shape;13;p97"/>
          <p:cNvSpPr txBox="1">
            <a:spLocks noGrp="1"/>
          </p:cNvSpPr>
          <p:nvPr>
            <p:ph type="dt" idx="10"/>
          </p:nvPr>
        </p:nvSpPr>
        <p:spPr>
          <a:xfrm>
            <a:off x="6381750" y="4629944"/>
            <a:ext cx="2133600" cy="274637"/>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7"/>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7"/>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7"/>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800" b="0" i="0" u="none" strike="noStrike" cap="none">
                <a:solidFill>
                  <a:srgbClr val="888888"/>
                </a:solidFill>
                <a:latin typeface="Arial"/>
                <a:ea typeface="Arial"/>
                <a:cs typeface="Arial"/>
                <a:sym typeface="Arial"/>
              </a:defRPr>
            </a:lvl1pPr>
            <a:lvl2pPr marL="0" marR="0" lvl="1" indent="0" algn="l" rtl="0">
              <a:spcBef>
                <a:spcPts val="0"/>
              </a:spcBef>
              <a:buNone/>
              <a:defRPr sz="1800" b="0" i="0" u="none" strike="noStrike" cap="none">
                <a:solidFill>
                  <a:srgbClr val="888888"/>
                </a:solidFill>
                <a:latin typeface="Arial"/>
                <a:ea typeface="Arial"/>
                <a:cs typeface="Arial"/>
                <a:sym typeface="Arial"/>
              </a:defRPr>
            </a:lvl2pPr>
            <a:lvl3pPr marL="0" marR="0" lvl="2" indent="0" algn="l" rtl="0">
              <a:spcBef>
                <a:spcPts val="0"/>
              </a:spcBef>
              <a:buNone/>
              <a:defRPr sz="1800" b="0" i="0" u="none" strike="noStrike" cap="none">
                <a:solidFill>
                  <a:srgbClr val="888888"/>
                </a:solidFill>
                <a:latin typeface="Arial"/>
                <a:ea typeface="Arial"/>
                <a:cs typeface="Arial"/>
                <a:sym typeface="Arial"/>
              </a:defRPr>
            </a:lvl3pPr>
            <a:lvl4pPr marL="0" marR="0" lvl="3" indent="0" algn="l" rtl="0">
              <a:spcBef>
                <a:spcPts val="0"/>
              </a:spcBef>
              <a:buNone/>
              <a:defRPr sz="1800" b="0" i="0" u="none" strike="noStrike" cap="none">
                <a:solidFill>
                  <a:srgbClr val="888888"/>
                </a:solidFill>
                <a:latin typeface="Arial"/>
                <a:ea typeface="Arial"/>
                <a:cs typeface="Arial"/>
                <a:sym typeface="Arial"/>
              </a:defRPr>
            </a:lvl4pPr>
            <a:lvl5pPr marL="0" marR="0" lvl="4" indent="0" algn="l" rtl="0">
              <a:spcBef>
                <a:spcPts val="0"/>
              </a:spcBef>
              <a:buNone/>
              <a:defRPr sz="1800" b="0" i="0" u="none" strike="noStrike" cap="none">
                <a:solidFill>
                  <a:srgbClr val="888888"/>
                </a:solidFill>
                <a:latin typeface="Arial"/>
                <a:ea typeface="Arial"/>
                <a:cs typeface="Arial"/>
                <a:sym typeface="Arial"/>
              </a:defRPr>
            </a:lvl5pPr>
            <a:lvl6pPr marL="0" marR="0" lvl="5" indent="0" algn="l" rtl="0">
              <a:spcBef>
                <a:spcPts val="0"/>
              </a:spcBef>
              <a:buNone/>
              <a:defRPr sz="1800" b="0" i="0" u="none" strike="noStrike" cap="none">
                <a:solidFill>
                  <a:srgbClr val="888888"/>
                </a:solidFill>
                <a:latin typeface="Arial"/>
                <a:ea typeface="Arial"/>
                <a:cs typeface="Arial"/>
                <a:sym typeface="Arial"/>
              </a:defRPr>
            </a:lvl6pPr>
            <a:lvl7pPr marL="0" marR="0" lvl="6" indent="0" algn="l" rtl="0">
              <a:spcBef>
                <a:spcPts val="0"/>
              </a:spcBef>
              <a:buNone/>
              <a:defRPr sz="1800" b="0" i="0" u="none" strike="noStrike" cap="none">
                <a:solidFill>
                  <a:srgbClr val="888888"/>
                </a:solidFill>
                <a:latin typeface="Arial"/>
                <a:ea typeface="Arial"/>
                <a:cs typeface="Arial"/>
                <a:sym typeface="Arial"/>
              </a:defRPr>
            </a:lvl7pPr>
            <a:lvl8pPr marL="0" marR="0" lvl="7" indent="0" algn="l" rtl="0">
              <a:spcBef>
                <a:spcPts val="0"/>
              </a:spcBef>
              <a:buNone/>
              <a:defRPr sz="1800" b="0" i="0" u="none" strike="noStrike" cap="none">
                <a:solidFill>
                  <a:srgbClr val="888888"/>
                </a:solidFill>
                <a:latin typeface="Arial"/>
                <a:ea typeface="Arial"/>
                <a:cs typeface="Arial"/>
                <a:sym typeface="Arial"/>
              </a:defRPr>
            </a:lvl8pPr>
            <a:lvl9pPr marL="0" marR="0" lvl="8" indent="0" algn="l" rtl="0">
              <a:spcBef>
                <a:spcPts val="0"/>
              </a:spcBef>
              <a:buNone/>
              <a:defRPr sz="1800" b="0" i="0" u="none" strike="noStrike" cap="none">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
        <p:nvSpPr>
          <p:cNvPr id="13" name="Google Shape;13;p97"/>
          <p:cNvSpPr txBox="1">
            <a:spLocks noGrp="1"/>
          </p:cNvSpPr>
          <p:nvPr>
            <p:ph type="dt" idx="10"/>
          </p:nvPr>
        </p:nvSpPr>
        <p:spPr>
          <a:xfrm>
            <a:off x="6381750" y="4629944"/>
            <a:ext cx="2133600" cy="274637"/>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s-ES"/>
              <a:t>18.03.21</a:t>
            </a:r>
            <a:endParaRPr/>
          </a:p>
        </p:txBody>
      </p:sp>
    </p:spTree>
    <p:extLst>
      <p:ext uri="{BB962C8B-B14F-4D97-AF65-F5344CB8AC3E}">
        <p14:creationId xmlns:p14="http://schemas.microsoft.com/office/powerpoint/2010/main" val="2123732293"/>
      </p:ext>
    </p:extLst>
  </p:cSld>
  <p:clrMap bg1="lt1" tx1="dk1" bg2="dk2" tx2="lt2" accent1="accent1" accent2="accent2" accent3="accent3" accent4="accent4" accent5="accent5" accent6="accent6" hlink="hlink" folHlink="folHlink"/>
  <p:sldLayoutIdLst>
    <p:sldLayoutId id="2147483664"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5"/>
        <p:cNvGrpSpPr/>
        <p:nvPr/>
      </p:nvGrpSpPr>
      <p:grpSpPr>
        <a:xfrm>
          <a:off x="0" y="0"/>
          <a:ext cx="0" cy="0"/>
          <a:chOff x="0" y="0"/>
          <a:chExt cx="0" cy="0"/>
        </a:xfrm>
      </p:grpSpPr>
      <p:sp useBgFill="1">
        <p:nvSpPr>
          <p:cNvPr id="2052" name="Rectangle 198">
            <a:extLst>
              <a:ext uri="{FF2B5EF4-FFF2-40B4-BE49-F238E27FC236}">
                <a16:creationId xmlns:a16="http://schemas.microsoft.com/office/drawing/2014/main" id="{16F9E488-0718-4E1E-9D12-26779F606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053" name="Freeform: Shape 200">
            <a:extLst>
              <a:ext uri="{FF2B5EF4-FFF2-40B4-BE49-F238E27FC236}">
                <a16:creationId xmlns:a16="http://schemas.microsoft.com/office/drawing/2014/main" id="{09BE6F6B-19BD-443C-8FB0-FA45F13F9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4628" cy="5143156"/>
          </a:xfrm>
          <a:custGeom>
            <a:avLst/>
            <a:gdLst>
              <a:gd name="connsiteX0" fmla="*/ 0 w 7539505"/>
              <a:gd name="connsiteY0" fmla="*/ 0 h 6857542"/>
              <a:gd name="connsiteX1" fmla="*/ 6392832 w 7539505"/>
              <a:gd name="connsiteY1" fmla="*/ 0 h 6857542"/>
              <a:gd name="connsiteX2" fmla="*/ 6405479 w 7539505"/>
              <a:gd name="connsiteY2" fmla="*/ 31774 h 6857542"/>
              <a:gd name="connsiteX3" fmla="*/ 7460487 w 7539505"/>
              <a:gd name="connsiteY3" fmla="*/ 2682457 h 6857542"/>
              <a:gd name="connsiteX4" fmla="*/ 7460487 w 7539505"/>
              <a:gd name="connsiteY4" fmla="*/ 3752208 h 6857542"/>
              <a:gd name="connsiteX5" fmla="*/ 6302983 w 7539505"/>
              <a:gd name="connsiteY5" fmla="*/ 6660411 h 6857542"/>
              <a:gd name="connsiteX6" fmla="*/ 6224521 w 7539505"/>
              <a:gd name="connsiteY6" fmla="*/ 6857542 h 6857542"/>
              <a:gd name="connsiteX7" fmla="*/ 0 w 7539505"/>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9505" h="6857542">
                <a:moveTo>
                  <a:pt x="0" y="0"/>
                </a:moveTo>
                <a:lnTo>
                  <a:pt x="6392832" y="0"/>
                </a:lnTo>
                <a:lnTo>
                  <a:pt x="6405479" y="31774"/>
                </a:lnTo>
                <a:cubicBezTo>
                  <a:pt x="7460487" y="2682457"/>
                  <a:pt x="7460487" y="2682457"/>
                  <a:pt x="7460487" y="2682457"/>
                </a:cubicBezTo>
                <a:cubicBezTo>
                  <a:pt x="7565845" y="2988100"/>
                  <a:pt x="7565845" y="3446565"/>
                  <a:pt x="7460487" y="3752208"/>
                </a:cubicBezTo>
                <a:cubicBezTo>
                  <a:pt x="6976500" y="4968215"/>
                  <a:pt x="6598385" y="5918220"/>
                  <a:pt x="6302983" y="6660411"/>
                </a:cubicBezTo>
                <a:lnTo>
                  <a:pt x="6224521"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6" name="Google Shape;96;p1"/>
          <p:cNvSpPr txBox="1">
            <a:spLocks noGrp="1"/>
          </p:cNvSpPr>
          <p:nvPr>
            <p:ph type="title"/>
          </p:nvPr>
        </p:nvSpPr>
        <p:spPr>
          <a:xfrm>
            <a:off x="565744" y="893794"/>
            <a:ext cx="4180109" cy="2762729"/>
          </a:xfrm>
        </p:spPr>
        <p:txBody>
          <a:bodyPr spcFirstLastPara="1" vert="horz" lIns="91440" tIns="45720" rIns="91440" bIns="45720" rtlCol="0" anchor="b" anchorCtr="0">
            <a:normAutofit fontScale="90000"/>
          </a:bodyPr>
          <a:lstStyle/>
          <a:p>
            <a:pPr marL="0" lvl="0" indent="0" algn="r">
              <a:spcBef>
                <a:spcPct val="0"/>
              </a:spcBef>
              <a:spcAft>
                <a:spcPts val="0"/>
              </a:spcAft>
              <a:buClr>
                <a:schemeClr val="lt1"/>
              </a:buClr>
              <a:buSzPct val="100000"/>
            </a:pP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CURSO ESPECIALIZACIÓN</a:t>
            </a: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IA Y BIG DATA</a:t>
            </a: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MÓDULO: SISTEMAS DE APRENDIZAJE AUTOMÁTICO</a:t>
            </a: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U2: PREPARACIÓN DE DATOS</a:t>
            </a:r>
          </a:p>
        </p:txBody>
      </p:sp>
      <p:grpSp>
        <p:nvGrpSpPr>
          <p:cNvPr id="2054" name="Group 202">
            <a:extLst>
              <a:ext uri="{FF2B5EF4-FFF2-40B4-BE49-F238E27FC236}">
                <a16:creationId xmlns:a16="http://schemas.microsoft.com/office/drawing/2014/main" id="{26B5F537-3960-4E10-AE03-D496B4CD53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0060" y="480061"/>
            <a:ext cx="846286" cy="635405"/>
            <a:chOff x="5307830" y="325570"/>
            <a:chExt cx="1128382" cy="847206"/>
          </a:xfrm>
        </p:grpSpPr>
        <p:sp>
          <p:nvSpPr>
            <p:cNvPr id="204" name="Freeform 5">
              <a:extLst>
                <a:ext uri="{FF2B5EF4-FFF2-40B4-BE49-F238E27FC236}">
                  <a16:creationId xmlns:a16="http://schemas.microsoft.com/office/drawing/2014/main" id="{4F9A94D1-9FCD-4778-A663-68663B4D3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Freeform 5">
              <a:extLst>
                <a:ext uri="{FF2B5EF4-FFF2-40B4-BE49-F238E27FC236}">
                  <a16:creationId xmlns:a16="http://schemas.microsoft.com/office/drawing/2014/main" id="{BB080F40-90BD-4CAA-9447-8DC3FCD0F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7" name="Imagen7" descr="Texto&#10;&#10;Descripción generada automáticamente con confianza media">
            <a:extLst>
              <a:ext uri="{FF2B5EF4-FFF2-40B4-BE49-F238E27FC236}">
                <a16:creationId xmlns:a16="http://schemas.microsoft.com/office/drawing/2014/main" id="{6BEB905B-7BF6-46F4-BC04-28495397A7F9}"/>
              </a:ext>
            </a:extLst>
          </p:cNvPr>
          <p:cNvPicPr/>
          <p:nvPr/>
        </p:nvPicPr>
        <p:blipFill>
          <a:blip r:embed="rId3"/>
          <a:stretch>
            <a:fillRect/>
          </a:stretch>
        </p:blipFill>
        <p:spPr>
          <a:xfrm>
            <a:off x="6088711" y="1331561"/>
            <a:ext cx="2587192" cy="633861"/>
          </a:xfrm>
          <a:prstGeom prst="rect">
            <a:avLst/>
          </a:prstGeom>
        </p:spPr>
      </p:pic>
      <p:pic>
        <p:nvPicPr>
          <p:cNvPr id="2049" name="Imagen 2" descr="Texto&#10;&#10;Descripción generada automáticamente">
            <a:extLst>
              <a:ext uri="{FF2B5EF4-FFF2-40B4-BE49-F238E27FC236}">
                <a16:creationId xmlns:a16="http://schemas.microsoft.com/office/drawing/2014/main" id="{1BB9EF63-1328-496F-87C3-4DC0CC2F1B1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5341" y="2877740"/>
            <a:ext cx="2580562" cy="1265399"/>
          </a:xfrm>
          <a:prstGeom prst="rect">
            <a:avLst/>
          </a:prstGeom>
          <a:noFill/>
          <a:extLst>
            <a:ext uri="{909E8E84-426E-40DD-AFC4-6F175D3DCCD1}">
              <a14:hiddenFill xmlns:a14="http://schemas.microsoft.com/office/drawing/2010/main">
                <a:solidFill>
                  <a:srgbClr val="FFFFFF"/>
                </a:solidFill>
              </a14:hiddenFill>
            </a:ext>
          </a:extLst>
        </p:spPr>
      </p:pic>
      <p:pic>
        <p:nvPicPr>
          <p:cNvPr id="2050" name="0 Imagen" descr="abastos.jpg">
            <a:extLst>
              <a:ext uri="{FF2B5EF4-FFF2-40B4-BE49-F238E27FC236}">
                <a16:creationId xmlns:a16="http://schemas.microsoft.com/office/drawing/2014/main" id="{22DA3AC4-3351-495F-A815-27159DE80DA9}"/>
              </a:ext>
            </a:extLst>
          </p:cNvPr>
          <p:cNvPicPr>
            <a:picLocks noChangeAspect="1" noChangeArrowheads="1"/>
          </p:cNvPicPr>
          <p:nvPr/>
        </p:nvPicPr>
        <p:blipFill>
          <a:blip r:embed="rId5">
            <a:alphaModFix amt="92000"/>
            <a:extLst>
              <a:ext uri="{28A0092B-C50C-407E-A947-70E740481C1C}">
                <a14:useLocalDpi xmlns:a14="http://schemas.microsoft.com/office/drawing/2010/main" val="0"/>
              </a:ext>
            </a:extLst>
          </a:blip>
          <a:srcRect/>
          <a:stretch>
            <a:fillRect/>
          </a:stretch>
        </p:blipFill>
        <p:spPr bwMode="auto">
          <a:xfrm>
            <a:off x="382514" y="4192476"/>
            <a:ext cx="552450" cy="55245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7594" y="611207"/>
            <a:ext cx="5351620" cy="57221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dirty="0">
                <a:solidFill>
                  <a:schemeClr val="accent2">
                    <a:lumMod val="75000"/>
                  </a:schemeClr>
                </a:solidFill>
              </a:rPr>
              <a:t>Índice</a:t>
            </a:r>
            <a:endParaRPr dirty="0">
              <a:solidFill>
                <a:schemeClr val="accent2">
                  <a:lumMod val="75000"/>
                </a:schemeClr>
              </a:solidFill>
            </a:endParaRPr>
          </a:p>
        </p:txBody>
      </p:sp>
      <p:sp>
        <p:nvSpPr>
          <p:cNvPr id="103" name="Google Shape;103;p2"/>
          <p:cNvSpPr/>
          <p:nvPr/>
        </p:nvSpPr>
        <p:spPr>
          <a:xfrm>
            <a:off x="671401" y="706388"/>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556107"/>
            <a:ext cx="7236467" cy="3139281"/>
          </a:xfrm>
          <a:prstGeom prst="rect">
            <a:avLst/>
          </a:prstGeom>
          <a:noFill/>
          <a:ln>
            <a:noFill/>
          </a:ln>
        </p:spPr>
        <p:txBody>
          <a:bodyPr spcFirstLastPara="1" wrap="square" lIns="91425" tIns="45700" rIns="91425" bIns="45700" anchor="t" anchorCtr="0">
            <a:spAutoFit/>
          </a:bodyPr>
          <a:lstStyle/>
          <a:p>
            <a:pPr marL="342900" lvl="0" indent="-342900" algn="just">
              <a:buFont typeface="+mj-lt"/>
              <a:buAutoNum type="arabicPeriod"/>
            </a:pPr>
            <a:r>
              <a:rPr lang="es-ES" sz="1800" kern="50" dirty="0">
                <a:effectLst/>
                <a:latin typeface="Times New Roman" panose="02020603050405020304" pitchFamily="18" charset="0"/>
                <a:ea typeface="Arial Unicode MS"/>
              </a:rPr>
              <a:t>Introducción</a:t>
            </a:r>
          </a:p>
          <a:p>
            <a:pPr marL="342900" lvl="0" indent="-342900" algn="just">
              <a:buFont typeface="+mj-lt"/>
              <a:buAutoNum type="arabicPeriod"/>
            </a:pPr>
            <a:r>
              <a:rPr lang="es-ES" sz="1800" kern="50" dirty="0">
                <a:latin typeface="Times New Roman" panose="02020603050405020304" pitchFamily="18" charset="0"/>
                <a:ea typeface="Arial Unicode MS"/>
              </a:rPr>
              <a:t>Integración de datos</a:t>
            </a:r>
          </a:p>
          <a:p>
            <a:pPr marL="342900" lvl="0" indent="-342900" algn="just">
              <a:buFont typeface="+mj-lt"/>
              <a:buAutoNum type="arabicPeriod"/>
            </a:pPr>
            <a:r>
              <a:rPr lang="es-ES" sz="1800" kern="50" dirty="0">
                <a:latin typeface="Times New Roman" panose="02020603050405020304" pitchFamily="18" charset="0"/>
                <a:ea typeface="Arial Unicode MS"/>
              </a:rPr>
              <a:t>Preparación de datos</a:t>
            </a:r>
            <a:endParaRPr lang="es-ES" sz="1800" kern="50" dirty="0">
              <a:effectLst/>
              <a:latin typeface="Times New Roman" panose="02020603050405020304" pitchFamily="18" charset="0"/>
              <a:ea typeface="Arial Unicode MS"/>
            </a:endParaRP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Comprensión y vi</a:t>
            </a:r>
            <a:r>
              <a:rPr lang="es-ES" sz="1800" kern="50" dirty="0">
                <a:latin typeface="Times New Roman" panose="02020603050405020304" pitchFamily="18" charset="0"/>
                <a:ea typeface="Arial Unicode MS"/>
              </a:rPr>
              <a:t>sualización de los datos</a:t>
            </a:r>
            <a:endParaRPr lang="es-ES" sz="1800" kern="50" dirty="0">
              <a:effectLst/>
              <a:latin typeface="Times New Roman" panose="02020603050405020304" pitchFamily="18" charset="0"/>
              <a:ea typeface="Arial Unicode MS"/>
            </a:endParaRP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Limpieza de datos</a:t>
            </a:r>
          </a:p>
          <a:p>
            <a:pPr marL="572400" lvl="0" indent="-342900" algn="just">
              <a:buFont typeface="Arial" panose="020B0604020202020204" pitchFamily="34" charset="0"/>
              <a:buChar char="•"/>
            </a:pPr>
            <a:r>
              <a:rPr lang="es-ES" sz="1800" kern="50" dirty="0">
                <a:latin typeface="Times New Roman" panose="02020603050405020304" pitchFamily="18" charset="0"/>
                <a:ea typeface="Arial Unicode MS"/>
              </a:rPr>
              <a:t>Selección de datos</a:t>
            </a:r>
          </a:p>
          <a:p>
            <a:pPr marL="342900" lvl="0" indent="-342900" algn="just">
              <a:buFont typeface="+mj-lt"/>
              <a:buAutoNum type="arabicPeriod" startAt="4"/>
            </a:pPr>
            <a:r>
              <a:rPr lang="es-ES" sz="1800" kern="50" dirty="0">
                <a:effectLst/>
                <a:latin typeface="Times New Roman" panose="02020603050405020304" pitchFamily="18" charset="0"/>
                <a:ea typeface="Arial Unicode MS"/>
              </a:rPr>
              <a:t>Transformación</a:t>
            </a: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Discretización de datos</a:t>
            </a:r>
          </a:p>
          <a:p>
            <a:pPr marL="572400" lvl="0" indent="-342900" algn="just">
              <a:buFont typeface="Arial" panose="020B0604020202020204" pitchFamily="34" charset="0"/>
              <a:buChar char="•"/>
            </a:pPr>
            <a:r>
              <a:rPr lang="es-ES" sz="1800" kern="50" dirty="0">
                <a:latin typeface="Times New Roman" panose="02020603050405020304" pitchFamily="18" charset="0"/>
                <a:ea typeface="Arial Unicode MS"/>
              </a:rPr>
              <a:t>Normalización de datos</a:t>
            </a:r>
            <a:endParaRPr lang="es-ES" sz="1800" kern="50" dirty="0">
              <a:effectLst/>
              <a:latin typeface="Times New Roman" panose="02020603050405020304" pitchFamily="18" charset="0"/>
              <a:ea typeface="Arial Unicode MS"/>
            </a:endParaRP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Reducción de la dimensionalidad</a:t>
            </a:r>
          </a:p>
          <a:p>
            <a:pPr marL="342900" marR="0" lvl="0" indent="-342900" algn="just" defTabSz="914400" rtl="0" eaLnBrk="1" fontAlgn="auto" latinLnBrk="0" hangingPunct="1">
              <a:lnSpc>
                <a:spcPct val="100000"/>
              </a:lnSpc>
              <a:spcBef>
                <a:spcPts val="0"/>
              </a:spcBef>
              <a:spcAft>
                <a:spcPts val="0"/>
              </a:spcAft>
              <a:buClr>
                <a:srgbClr val="000000"/>
              </a:buClr>
              <a:buSzTx/>
              <a:buFont typeface="Symbol" panose="05050102010706020507" pitchFamily="18" charset="2"/>
              <a:buChar char=""/>
              <a:tabLst/>
              <a:defRPr/>
            </a:pPr>
            <a:endParaRPr kumimoji="0" lang="es-ES" sz="1800" b="0" i="0" u="none" strike="noStrike" kern="50" cap="none" spc="0" normalizeH="0" baseline="0" noProof="0" dirty="0">
              <a:ln>
                <a:noFill/>
              </a:ln>
              <a:solidFill>
                <a:srgbClr val="000000"/>
              </a:solidFill>
              <a:effectLst/>
              <a:uLnTx/>
              <a:uFillTx/>
              <a:latin typeface="Times New Roman" panose="02020603050405020304" pitchFamily="18" charset="0"/>
              <a:ea typeface="Arial Unicode MS"/>
              <a:cs typeface="Arial"/>
              <a:sym typeface="Arial"/>
            </a:endParaRPr>
          </a:p>
        </p:txBody>
      </p:sp>
    </p:spTree>
    <p:extLst>
      <p:ext uri="{BB962C8B-B14F-4D97-AF65-F5344CB8AC3E}">
        <p14:creationId xmlns:p14="http://schemas.microsoft.com/office/powerpoint/2010/main" val="50313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236133"/>
            <a:ext cx="7719066" cy="3693278"/>
          </a:xfrm>
          <a:prstGeom prst="rect">
            <a:avLst/>
          </a:prstGeom>
          <a:noFill/>
          <a:ln>
            <a:noFill/>
          </a:ln>
        </p:spPr>
        <p:txBody>
          <a:bodyPr spcFirstLastPara="1" wrap="square" lIns="91425" tIns="45700" rIns="91425" bIns="45700" anchor="t" anchorCtr="0">
            <a:spAutoFit/>
          </a:bodyPr>
          <a:lstStyle/>
          <a:p>
            <a:r>
              <a:rPr lang="es-ES" sz="1800" dirty="0">
                <a:solidFill>
                  <a:srgbClr val="5D5D5D"/>
                </a:solidFill>
                <a:latin typeface="Times New Roman" panose="02020603050405020304" pitchFamily="18" charset="0"/>
                <a:cs typeface="Times New Roman" panose="02020603050405020304" pitchFamily="18" charset="0"/>
              </a:rPr>
              <a:t>Casi nunca es posible estudiar a toda la población que te interesa, es por esto que se utilizan diversos tipos de muestreo a la hora de recopilar datos.</a:t>
            </a:r>
          </a:p>
          <a:p>
            <a:endParaRPr lang="es-ES" sz="1800" dirty="0">
              <a:solidFill>
                <a:srgbClr val="5D5D5D"/>
              </a:solidFill>
              <a:latin typeface="Times New Roman" panose="02020603050405020304" pitchFamily="18" charset="0"/>
              <a:cs typeface="Times New Roman" panose="02020603050405020304" pitchFamily="18" charset="0"/>
            </a:endParaRPr>
          </a:p>
          <a:p>
            <a:r>
              <a:rPr lang="es-ES" sz="1800" dirty="0">
                <a:solidFill>
                  <a:srgbClr val="5D5D5D"/>
                </a:solidFill>
                <a:latin typeface="Times New Roman" panose="02020603050405020304" pitchFamily="18" charset="0"/>
                <a:cs typeface="Times New Roman" panose="02020603050405020304" pitchFamily="18" charset="0"/>
              </a:rPr>
              <a:t>El proceso de muestreo y selección de datos es esencial para garantizar que los datos utilizados en proyectos de análisis de datos sean precisos y representativos.</a:t>
            </a:r>
          </a:p>
          <a:p>
            <a:endParaRPr lang="es-ES" sz="1800" b="0" i="0" u="none" strike="noStrike" dirty="0">
              <a:solidFill>
                <a:srgbClr val="5D5D5D"/>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1800" dirty="0">
                <a:solidFill>
                  <a:srgbClr val="5D5D5D"/>
                </a:solidFill>
                <a:latin typeface="Times New Roman" panose="02020603050405020304" pitchFamily="18" charset="0"/>
                <a:cs typeface="Times New Roman" panose="02020603050405020304" pitchFamily="18" charset="0"/>
              </a:rPr>
              <a:t>Identificar los datos a utilizar garantizando que los datos sean representativos y precisos.</a:t>
            </a:r>
          </a:p>
          <a:p>
            <a:pPr marL="285750" indent="-285750">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Determinar el tamaño de la muestra.</a:t>
            </a:r>
          </a:p>
          <a:p>
            <a:pPr marL="285750" indent="-285750">
              <a:buFont typeface="Arial" panose="020B0604020202020204" pitchFamily="34" charset="0"/>
              <a:buChar char="•"/>
            </a:pPr>
            <a:r>
              <a:rPr lang="es-ES" sz="1800" dirty="0">
                <a:solidFill>
                  <a:srgbClr val="5D5D5D"/>
                </a:solidFill>
                <a:latin typeface="Times New Roman" panose="02020603050405020304" pitchFamily="18" charset="0"/>
                <a:cs typeface="Times New Roman" panose="02020603050405020304" pitchFamily="18" charset="0"/>
              </a:rPr>
              <a:t>Selección de la muestra garantizando que la muestra sea representativa y los datos no estén sesgados.</a:t>
            </a:r>
          </a:p>
          <a:p>
            <a:pPr marL="285750" indent="-285750">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Validar la muestra.</a:t>
            </a:r>
          </a:p>
          <a:p>
            <a:pPr rtl="0">
              <a:spcBef>
                <a:spcPts val="0"/>
              </a:spcBef>
              <a:spcAft>
                <a:spcPts val="0"/>
              </a:spcAft>
            </a:pPr>
            <a:endParaRPr lang="es-ES" sz="1800" dirty="0">
              <a:solidFill>
                <a:srgbClr val="5D5D5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2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454178"/>
            <a:ext cx="7547566" cy="2400617"/>
          </a:xfrm>
          <a:prstGeom prst="rect">
            <a:avLst/>
          </a:prstGeom>
          <a:noFill/>
          <a:ln>
            <a:noFill/>
          </a:ln>
        </p:spPr>
        <p:txBody>
          <a:bodyPr spcFirstLastPara="1" wrap="square" lIns="91425" tIns="45700" rIns="91425" bIns="45700" anchor="t" anchorCtr="0">
            <a:spAutoFit/>
          </a:bodyPr>
          <a:lstStyle/>
          <a:p>
            <a:pPr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Tipos de muestreo horizontal:</a:t>
            </a:r>
            <a:endParaRPr lang="es-ES" sz="1800" b="0" dirty="0">
              <a:effectLst/>
              <a:latin typeface="Times New Roman" panose="02020603050405020304" pitchFamily="18" charset="0"/>
              <a:cs typeface="Times New Roman" panose="02020603050405020304" pitchFamily="18" charset="0"/>
            </a:endParaRPr>
          </a:p>
          <a:p>
            <a:pPr marL="457200"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indent="-285750"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Muestreo Aleatorio Simple</a:t>
            </a:r>
            <a:endParaRPr lang="es-ES" sz="1800" b="0" dirty="0">
              <a:effectLst/>
              <a:latin typeface="Times New Roman" panose="02020603050405020304" pitchFamily="18" charset="0"/>
              <a:cs typeface="Times New Roman" panose="02020603050405020304" pitchFamily="18" charset="0"/>
            </a:endParaRPr>
          </a:p>
          <a:p>
            <a:pPr marL="742950" indent="-285750"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Muestreo Aleatorio Estratificado</a:t>
            </a:r>
            <a:endParaRPr lang="es-ES" sz="1800" b="0" dirty="0">
              <a:effectLst/>
              <a:latin typeface="Times New Roman" panose="02020603050405020304" pitchFamily="18" charset="0"/>
              <a:cs typeface="Times New Roman" panose="02020603050405020304" pitchFamily="18" charset="0"/>
            </a:endParaRPr>
          </a:p>
          <a:p>
            <a:pPr marL="742950" indent="-285750"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Muestreo de Grupos</a:t>
            </a:r>
            <a:endParaRPr lang="es-ES" sz="1800" b="0" dirty="0">
              <a:effectLst/>
              <a:latin typeface="Times New Roman" panose="02020603050405020304" pitchFamily="18" charset="0"/>
              <a:cs typeface="Times New Roman" panose="02020603050405020304" pitchFamily="18" charset="0"/>
            </a:endParaRPr>
          </a:p>
          <a:p>
            <a:pPr marL="742950" indent="-285750"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Muestreo Exhaustivo</a:t>
            </a:r>
            <a:endParaRPr lang="es-ES" sz="1800" b="0" dirty="0">
              <a:effectLst/>
              <a:latin typeface="Times New Roman" panose="02020603050405020304" pitchFamily="18" charset="0"/>
              <a:cs typeface="Times New Roman" panose="02020603050405020304" pitchFamily="18" charset="0"/>
            </a:endParaRPr>
          </a:p>
          <a:p>
            <a:br>
              <a:rPr lang="es-ES" sz="2400" dirty="0"/>
            </a:b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4295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520995" y="1065499"/>
            <a:ext cx="8335926" cy="3416279"/>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Muestreo Aleatorio Simple:</a:t>
            </a:r>
          </a:p>
          <a:p>
            <a:pPr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Cualquier instancia tiene la misma probabilidad de ser extraída en la muestra.</a:t>
            </a:r>
          </a:p>
          <a:p>
            <a:pPr algn="just" rtl="0">
              <a:spcBef>
                <a:spcPts val="0"/>
              </a:spcBef>
              <a:spcAft>
                <a:spcPts val="0"/>
              </a:spcAft>
            </a:pPr>
            <a:endParaRPr lang="es-ES" sz="1800" b="1"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Muestreo Aleatorio Estratificado:</a:t>
            </a:r>
          </a:p>
          <a:p>
            <a:pPr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El objetivo de este muestreo es obtener una muestra balanceada con suficientes elementos de todos los estratos, o clases.</a:t>
            </a:r>
          </a:p>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Una versión simple es realizar un muestreo aleatorio simple sin reemplazamiento de cada estrato hasta obtener los n elementos de ese estrato.</a:t>
            </a:r>
          </a:p>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Si no hay suficientes elementos en un estrato podemos utilizar en  estos casos muestreo aleatorio simple con reemplazamiento (</a:t>
            </a:r>
            <a:r>
              <a:rPr lang="es-ES" sz="1800" b="0" i="0" u="none" strike="noStrike" dirty="0" err="1">
                <a:solidFill>
                  <a:srgbClr val="000000"/>
                </a:solidFill>
                <a:effectLst/>
                <a:latin typeface="Times New Roman" panose="02020603050405020304" pitchFamily="18" charset="0"/>
                <a:cs typeface="Times New Roman" panose="02020603050405020304" pitchFamily="18" charset="0"/>
              </a:rPr>
              <a:t>sobremuestreo</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501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520995" y="1065499"/>
            <a:ext cx="8335926" cy="3970277"/>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1" i="0" u="none" strike="noStrike" dirty="0">
                <a:solidFill>
                  <a:srgbClr val="5D5D5D"/>
                </a:solidFill>
                <a:effectLst/>
                <a:latin typeface="Times New Roman" panose="02020603050405020304" pitchFamily="18" charset="0"/>
                <a:cs typeface="Times New Roman" panose="02020603050405020304" pitchFamily="18" charset="0"/>
              </a:rPr>
              <a:t>Muestreo de Grupos:</a:t>
            </a: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El muestreo de grupos consiste en elegir sólo elementos de unos grupos.</a:t>
            </a: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Objetivo: Descartar ciertos grupos que, por diversas razones, pueden impedir la obtención de buenos modelos.</a:t>
            </a:r>
          </a:p>
          <a:p>
            <a:pPr algn="just" rtl="0">
              <a:spcBef>
                <a:spcPts val="0"/>
              </a:spcBef>
              <a:spcAft>
                <a:spcPts val="0"/>
              </a:spcAft>
            </a:pPr>
            <a:endParaRPr lang="es-ES" sz="1800" dirty="0">
              <a:solidFill>
                <a:srgbClr val="5D5D5D"/>
              </a:solidFill>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1" i="0" u="none" strike="noStrike" dirty="0">
                <a:solidFill>
                  <a:srgbClr val="5D5D5D"/>
                </a:solidFill>
                <a:effectLst/>
                <a:latin typeface="Times New Roman" panose="02020603050405020304" pitchFamily="18" charset="0"/>
                <a:cs typeface="Times New Roman" panose="02020603050405020304" pitchFamily="18" charset="0"/>
              </a:rPr>
              <a:t>Muestreo Exhaustivo:</a:t>
            </a: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Para los atributos numéricos (normalizados) se genera al azar un valor en el intervalo posible y se elige el más cercano.</a:t>
            </a: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Para los atributos nominales se genera al azar un valor entre los posibles.</a:t>
            </a: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Con esto obtenemos una instancia ficticia y buscamos la instancia real más similar a la ficticia. Se repite este proceso hasta tener n instancias.</a:t>
            </a: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Objetivo: Cubrir completamente el espacio de instancias.</a:t>
            </a:r>
          </a:p>
          <a:p>
            <a:pPr algn="just" rtl="0">
              <a:spcBef>
                <a:spcPts val="0"/>
              </a:spcBef>
              <a:spcAft>
                <a:spcPts val="0"/>
              </a:spcAft>
            </a:pPr>
            <a:endParaRPr lang="es-ES" sz="1800" dirty="0">
              <a:solidFill>
                <a:srgbClr val="5D5D5D"/>
              </a:solidFill>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Podemos hacer combinaciones con las técnicas de muestreo</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540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065499"/>
            <a:ext cx="7824013" cy="3785611"/>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1" i="0" u="none" strike="noStrike" dirty="0">
                <a:solidFill>
                  <a:srgbClr val="5D5D5D"/>
                </a:solidFill>
                <a:effectLst/>
                <a:latin typeface="Times New Roman" panose="02020603050405020304" pitchFamily="18" charset="0"/>
                <a:cs typeface="Times New Roman" panose="02020603050405020304" pitchFamily="18" charset="0"/>
              </a:rPr>
              <a:t>¿Con cuantos datos es preferible trabajar?</a:t>
            </a:r>
          </a:p>
          <a:p>
            <a:pPr algn="just" rtl="0">
              <a:spcBef>
                <a:spcPts val="0"/>
              </a:spcBef>
              <a:spcAft>
                <a:spcPts val="0"/>
              </a:spcAft>
            </a:pPr>
            <a:endParaRPr lang="es-ES" sz="1800" b="1" dirty="0">
              <a:solidFill>
                <a:srgbClr val="5D5D5D"/>
              </a:solidFill>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Depende de:</a:t>
            </a:r>
          </a:p>
          <a:p>
            <a:pPr algn="just" rtl="0">
              <a:spcBef>
                <a:spcPts val="0"/>
              </a:spcBef>
              <a:spcAft>
                <a:spcPts val="0"/>
              </a:spcAft>
            </a:pPr>
            <a:endParaRPr lang="es-ES" sz="1800" b="0" i="0" u="none" strike="noStrike" dirty="0">
              <a:solidFill>
                <a:srgbClr val="5D5D5D"/>
              </a:solidFill>
              <a:effectLst/>
              <a:latin typeface="Times New Roman" panose="02020603050405020304" pitchFamily="18" charset="0"/>
              <a:cs typeface="Times New Roman" panose="02020603050405020304" pitchFamily="18" charset="0"/>
            </a:endParaRPr>
          </a:p>
          <a:p>
            <a:pPr marL="285750" indent="-285750" algn="just" rtl="0">
              <a:spcBef>
                <a:spcPts val="0"/>
              </a:spcBef>
              <a:spcAft>
                <a:spcPts val="0"/>
              </a:spcAft>
              <a:buFont typeface="Arial" panose="020B0604020202020204" pitchFamily="34" charset="0"/>
              <a:buChar char="•"/>
            </a:pPr>
            <a:r>
              <a:rPr lang="es-ES" sz="1800" dirty="0">
                <a:solidFill>
                  <a:srgbClr val="5D5D5D"/>
                </a:solidFill>
                <a:latin typeface="Times New Roman" panose="02020603050405020304" pitchFamily="18" charset="0"/>
                <a:cs typeface="Times New Roman" panose="02020603050405020304" pitchFamily="18" charset="0"/>
              </a:rPr>
              <a:t>E</a:t>
            </a:r>
            <a:r>
              <a:rPr lang="es-ES" sz="1800" b="0" i="0" u="none" strike="noStrike" dirty="0">
                <a:solidFill>
                  <a:srgbClr val="5D5D5D"/>
                </a:solidFill>
                <a:effectLst/>
                <a:latin typeface="Times New Roman" panose="02020603050405020304" pitchFamily="18" charset="0"/>
                <a:cs typeface="Times New Roman" panose="02020603050405020304" pitchFamily="18" charset="0"/>
              </a:rPr>
              <a:t>l número de atributos y valores que tomen estos (“grados de libertad” )</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El método de aprendizaje y de su expresividad (por ejemplo una regresión lineal requiere muchos menos ejemplos que una red neuronal)</a:t>
            </a:r>
          </a:p>
          <a:p>
            <a:pPr algn="just" rtl="0">
              <a:spcBef>
                <a:spcPts val="0"/>
              </a:spcBef>
              <a:spcAft>
                <a:spcPts val="0"/>
              </a:spcAft>
            </a:pPr>
            <a:endParaRPr lang="es-ES" sz="1800" dirty="0">
              <a:solidFill>
                <a:srgbClr val="5D5D5D"/>
              </a:solidFill>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Se utiliza una estrategia incremental, en el que se va haciendo la muestra cada vez más grande (y diferente si es posible) hasta que se vea que los resultados no varían significativamente entre un modelo y otro.</a:t>
            </a:r>
            <a:endParaRPr lang="es-ES" sz="1800" b="0" dirty="0">
              <a:effectLst/>
              <a:latin typeface="Times New Roman" panose="02020603050405020304" pitchFamily="18" charset="0"/>
              <a:cs typeface="Times New Roman" panose="02020603050405020304" pitchFamily="18" charset="0"/>
            </a:endParaRPr>
          </a:p>
          <a:p>
            <a:br>
              <a:rPr lang="es-ES" sz="2400" dirty="0"/>
            </a:b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9222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características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502027" y="922081"/>
            <a:ext cx="8139945" cy="3970277"/>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1" i="0" u="none" strike="noStrike" dirty="0">
                <a:solidFill>
                  <a:srgbClr val="5D5D5D"/>
                </a:solidFill>
                <a:effectLst/>
                <a:latin typeface="Times New Roman" panose="02020603050405020304" pitchFamily="18" charset="0"/>
                <a:cs typeface="Times New Roman" panose="02020603050405020304" pitchFamily="18" charset="0"/>
              </a:rPr>
              <a:t>Objetivos</a:t>
            </a:r>
            <a:r>
              <a:rPr lang="es-ES" sz="1800" b="0" i="0" u="none" strike="noStrike" dirty="0">
                <a:solidFill>
                  <a:srgbClr val="5D5D5D"/>
                </a:solidFill>
                <a:effectLst/>
                <a:latin typeface="Times New Roman" panose="02020603050405020304" pitchFamily="18" charset="0"/>
                <a:cs typeface="Times New Roman" panose="02020603050405020304" pitchFamily="18" charset="0"/>
              </a:rPr>
              <a:t>:</a:t>
            </a:r>
          </a:p>
          <a:p>
            <a:pPr algn="just" rtl="0">
              <a:spcBef>
                <a:spcPts val="0"/>
              </a:spcBef>
              <a:spcAft>
                <a:spcPts val="0"/>
              </a:spcAft>
            </a:pPr>
            <a:endParaRPr lang="es-ES" sz="1800" b="0" i="0" u="none" strike="noStrike" dirty="0">
              <a:solidFill>
                <a:srgbClr val="5D5D5D"/>
              </a:solidFill>
              <a:effectLst/>
              <a:latin typeface="Times New Roman" panose="02020603050405020304" pitchFamily="18" charset="0"/>
              <a:cs typeface="Times New Roman" panose="02020603050405020304" pitchFamily="18" charset="0"/>
            </a:endParaRPr>
          </a:p>
          <a:p>
            <a:pPr marL="285750" indent="-285750" algn="just" rtl="0">
              <a:spcBef>
                <a:spcPts val="0"/>
              </a:spcBef>
              <a:spcAft>
                <a:spcPts val="0"/>
              </a:spcAft>
              <a:buFont typeface="Arial" panose="020B0604020202020204" pitchFamily="34" charset="0"/>
              <a:buChar char="•"/>
            </a:pPr>
            <a:r>
              <a:rPr lang="es-ES" sz="1800" b="1" i="0" u="none" strike="noStrike" dirty="0">
                <a:solidFill>
                  <a:srgbClr val="5D5D5D"/>
                </a:solidFill>
                <a:effectLst/>
                <a:latin typeface="Times New Roman" panose="02020603050405020304" pitchFamily="18" charset="0"/>
                <a:cs typeface="Times New Roman" panose="02020603050405020304" pitchFamily="18" charset="0"/>
              </a:rPr>
              <a:t>Muchas técnicas de minería de datos pueden perderse con muchos atributos, especialmente si estos atributos no disponen de un número suficiente de ejemplos</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Reducir el tamaño de los datos</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Hacer una buena selección puede mejorar la calidad del modelo</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Permite expresar el modelo resultante en función de menos variables</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Representar mejor los datos visualmente</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Muchos datos erróneos o faltantes</a:t>
            </a:r>
          </a:p>
          <a:p>
            <a:pPr algn="just" rtl="0">
              <a:spcBef>
                <a:spcPts val="0"/>
              </a:spcBef>
              <a:spcAft>
                <a:spcPts val="0"/>
              </a:spcAft>
            </a:pPr>
            <a:endParaRPr lang="es-ES" sz="1800" b="0" i="0" u="none" strike="noStrike" dirty="0">
              <a:solidFill>
                <a:srgbClr val="5D5D5D"/>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Reglas generales:</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Eliminación de cualquier atributo que pueda ser clave candidata de una tabla.</a:t>
            </a:r>
          </a:p>
          <a:p>
            <a:pPr marL="285750" indent="-285750" algn="just" rtl="0">
              <a:spcBef>
                <a:spcPts val="0"/>
              </a:spcBef>
              <a:spcAft>
                <a:spcPts val="0"/>
              </a:spcAft>
              <a:buFont typeface="Arial" panose="020B0604020202020204" pitchFamily="34" charset="0"/>
              <a:buChar char="•"/>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Eliminación de atributos dependientes</a:t>
            </a:r>
          </a:p>
        </p:txBody>
      </p:sp>
    </p:spTree>
    <p:extLst>
      <p:ext uri="{BB962C8B-B14F-4D97-AF65-F5344CB8AC3E}">
        <p14:creationId xmlns:p14="http://schemas.microsoft.com/office/powerpoint/2010/main" val="113202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3.3.- Selección de características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247629"/>
            <a:ext cx="7812199" cy="3395761"/>
          </a:xfrm>
          <a:prstGeom prst="rect">
            <a:avLst/>
          </a:prstGeom>
          <a:noFill/>
          <a:ln>
            <a:noFill/>
          </a:ln>
        </p:spPr>
        <p:txBody>
          <a:bodyPr spcFirstLastPara="1" wrap="square" lIns="91425" tIns="45700" rIns="91425" bIns="45700" anchor="t" anchorCtr="0">
            <a:spAutoFit/>
          </a:bodyPr>
          <a:lstStyle/>
          <a:p>
            <a:pPr algn="just" rtl="0" fontAlgn="base">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Existen dos tipos generales de métodos para seleccionar características:</a:t>
            </a:r>
          </a:p>
          <a:p>
            <a:pPr algn="just" rtl="0" fontAlgn="base">
              <a:spcBef>
                <a:spcPts val="0"/>
              </a:spcBef>
              <a:spcAft>
                <a:spcPts val="0"/>
              </a:spcAft>
            </a:pPr>
            <a:endParaRPr lang="es-ES" sz="1800" b="1" i="0" u="none" strike="noStrike" dirty="0">
              <a:solidFill>
                <a:srgbClr val="000000"/>
              </a:solidFill>
              <a:effectLst/>
              <a:latin typeface="Times New Roman" panose="02020603050405020304" pitchFamily="18" charset="0"/>
              <a:cs typeface="Times New Roman" panose="02020603050405020304" pitchFamily="18" charset="0"/>
            </a:endParaRPr>
          </a:p>
          <a:p>
            <a:pPr marL="457200" algn="just" fontAlgn="base">
              <a:spcBef>
                <a:spcPts val="500"/>
              </a:spcBef>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Métodos de filtro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o métodos previos: se filtran los atributos irrelevantes antes de cualquier proceso de minería de datos</a:t>
            </a:r>
          </a:p>
          <a:p>
            <a:pPr marL="457200" algn="just" fontAlgn="base">
              <a:spcBef>
                <a:spcPts val="500"/>
              </a:spcBef>
            </a:pPr>
            <a:endParaRPr lang="es-ES" sz="1800" b="1" i="0" u="none" strike="noStrike" dirty="0">
              <a:solidFill>
                <a:srgbClr val="000000"/>
              </a:solidFill>
              <a:effectLst/>
              <a:latin typeface="Times New Roman" panose="02020603050405020304" pitchFamily="18" charset="0"/>
              <a:cs typeface="Times New Roman" panose="02020603050405020304" pitchFamily="18" charset="0"/>
            </a:endParaRPr>
          </a:p>
          <a:p>
            <a:pPr marL="457200" algn="just" fontAlgn="base">
              <a:spcBef>
                <a:spcPts val="500"/>
              </a:spcBef>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Métodos basados en modelo o métodos de envolvente (</a:t>
            </a:r>
            <a:r>
              <a:rPr lang="es-ES" sz="1800" b="1" i="1" u="none" strike="noStrike" dirty="0" err="1">
                <a:solidFill>
                  <a:srgbClr val="000000"/>
                </a:solidFill>
                <a:effectLst/>
                <a:latin typeface="Times New Roman" panose="02020603050405020304" pitchFamily="18" charset="0"/>
                <a:cs typeface="Times New Roman" panose="02020603050405020304" pitchFamily="18" charset="0"/>
              </a:rPr>
              <a:t>wrapper</a:t>
            </a:r>
            <a:r>
              <a:rPr lang="es-ES" sz="1800" b="1" i="1" u="none" strike="noStrike" dirty="0">
                <a:solidFill>
                  <a:srgbClr val="000000"/>
                </a:solidFill>
                <a:effectLst/>
                <a:latin typeface="Times New Roman" panose="02020603050405020304" pitchFamily="18" charset="0"/>
                <a:cs typeface="Times New Roman" panose="02020603050405020304" pitchFamily="18" charset="0"/>
              </a:rPr>
              <a:t>):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la bondad de la selección de atributos se evalúa respecto a la calidad de un modelo de extraído a partir de los datos (utilizando, lógicamente, algún buen método de validación).</a:t>
            </a:r>
          </a:p>
          <a:p>
            <a:pPr marL="457200" lvl="1" algn="just" rtl="0" fontAlgn="base">
              <a:spcBef>
                <a:spcPts val="50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   </a:t>
            </a:r>
            <a:br>
              <a:rPr lang="es-ES" sz="2400" dirty="0"/>
            </a:b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8098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Métodos de filtro</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 name="Imagen 1">
            <a:extLst>
              <a:ext uri="{FF2B5EF4-FFF2-40B4-BE49-F238E27FC236}">
                <a16:creationId xmlns:a16="http://schemas.microsoft.com/office/drawing/2014/main" id="{B3D793FD-80C7-4B2B-9DFA-06DD295D7B51}"/>
              </a:ext>
            </a:extLst>
          </p:cNvPr>
          <p:cNvPicPr>
            <a:picLocks noChangeAspect="1"/>
          </p:cNvPicPr>
          <p:nvPr/>
        </p:nvPicPr>
        <p:blipFill>
          <a:blip r:embed="rId3"/>
          <a:stretch>
            <a:fillRect/>
          </a:stretch>
        </p:blipFill>
        <p:spPr>
          <a:xfrm>
            <a:off x="1195441" y="966087"/>
            <a:ext cx="6434667" cy="1226550"/>
          </a:xfrm>
          <a:prstGeom prst="rect">
            <a:avLst/>
          </a:prstGeom>
        </p:spPr>
      </p:pic>
      <p:pic>
        <p:nvPicPr>
          <p:cNvPr id="2050" name="Picture 2" descr="Selección-de-Características-2">
            <a:extLst>
              <a:ext uri="{FF2B5EF4-FFF2-40B4-BE49-F238E27FC236}">
                <a16:creationId xmlns:a16="http://schemas.microsoft.com/office/drawing/2014/main" id="{D53C7E85-EE8F-467C-8497-69D6085184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766" y="2718150"/>
            <a:ext cx="6104467" cy="1592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136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4"/>
            <a:ext cx="6356826"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Métodos de filtro</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CuadroTexto 3">
            <a:extLst>
              <a:ext uri="{FF2B5EF4-FFF2-40B4-BE49-F238E27FC236}">
                <a16:creationId xmlns:a16="http://schemas.microsoft.com/office/drawing/2014/main" id="{ABDD1DC9-8620-41EF-9357-700CA740F113}"/>
              </a:ext>
            </a:extLst>
          </p:cNvPr>
          <p:cNvSpPr txBox="1"/>
          <p:nvPr/>
        </p:nvSpPr>
        <p:spPr>
          <a:xfrm>
            <a:off x="482600" y="822426"/>
            <a:ext cx="8178800" cy="4247317"/>
          </a:xfrm>
          <a:prstGeom prst="rect">
            <a:avLst/>
          </a:prstGeom>
          <a:noFill/>
        </p:spPr>
        <p:txBody>
          <a:bodyPr wrap="square" rtlCol="0">
            <a:spAutoFit/>
          </a:bodyPr>
          <a:lstStyle/>
          <a:p>
            <a:r>
              <a:rPr lang="es-ES" sz="1800" b="1" dirty="0">
                <a:latin typeface="Times New Roman" panose="02020603050405020304" pitchFamily="18" charset="0"/>
                <a:cs typeface="Times New Roman" panose="02020603050405020304" pitchFamily="18" charset="0"/>
              </a:rPr>
              <a:t>Correlación de Pearson</a:t>
            </a:r>
            <a:r>
              <a:rPr lang="es-ES" sz="1800" dirty="0">
                <a:latin typeface="Times New Roman" panose="02020603050405020304" pitchFamily="18" charset="0"/>
                <a:cs typeface="Times New Roman" panose="02020603050405020304" pitchFamily="18" charset="0"/>
              </a:rPr>
              <a:t>: se usa como una medida para cuantificar la dependencia lineal entre dos variables continuas X e Y, su valor varía de -1 a +1.</a:t>
            </a:r>
          </a:p>
          <a:p>
            <a:endParaRPr lang="es-ES" sz="1800" dirty="0">
              <a:latin typeface="Times New Roman" panose="02020603050405020304" pitchFamily="18" charset="0"/>
              <a:cs typeface="Times New Roman" panose="02020603050405020304" pitchFamily="18" charset="0"/>
            </a:endParaRPr>
          </a:p>
          <a:p>
            <a:r>
              <a:rPr lang="es-ES" sz="1800" b="1" dirty="0">
                <a:latin typeface="Times New Roman" panose="02020603050405020304" pitchFamily="18" charset="0"/>
                <a:cs typeface="Times New Roman" panose="02020603050405020304" pitchFamily="18" charset="0"/>
              </a:rPr>
              <a:t>LDA</a:t>
            </a:r>
            <a:r>
              <a:rPr lang="es-ES" sz="1800" dirty="0">
                <a:latin typeface="Times New Roman" panose="02020603050405020304" pitchFamily="18" charset="0"/>
                <a:cs typeface="Times New Roman" panose="02020603050405020304" pitchFamily="18" charset="0"/>
              </a:rPr>
              <a:t>: el análisis discriminante lineal se usa para encontrar una combinación lineal de características que caracteriza o separa dos o más clases, o niveles, de una variable categórica.</a:t>
            </a:r>
          </a:p>
          <a:p>
            <a:endParaRPr lang="es-ES" sz="1800" dirty="0">
              <a:latin typeface="Times New Roman" panose="02020603050405020304" pitchFamily="18" charset="0"/>
              <a:cs typeface="Times New Roman" panose="02020603050405020304" pitchFamily="18" charset="0"/>
            </a:endParaRPr>
          </a:p>
          <a:p>
            <a:r>
              <a:rPr lang="es-ES" sz="1800" b="1" dirty="0">
                <a:latin typeface="Times New Roman" panose="02020603050405020304" pitchFamily="18" charset="0"/>
                <a:cs typeface="Times New Roman" panose="02020603050405020304" pitchFamily="18" charset="0"/>
              </a:rPr>
              <a:t>ANOVA</a:t>
            </a:r>
            <a:r>
              <a:rPr lang="es-ES" sz="1800" dirty="0">
                <a:latin typeface="Times New Roman" panose="02020603050405020304" pitchFamily="18" charset="0"/>
                <a:cs typeface="Times New Roman" panose="02020603050405020304" pitchFamily="18" charset="0"/>
              </a:rPr>
              <a:t>: significa análisis de la varianza y es similar a LDA, excepto por el hecho de que opera mediante una o más funciones independientes categóricas y una función dependiente continua. Proporciona una prueba estadística de si las medias de varios grupos son iguales o no.</a:t>
            </a:r>
          </a:p>
          <a:p>
            <a:endParaRPr lang="es-ES" sz="1800" dirty="0">
              <a:latin typeface="Times New Roman" panose="02020603050405020304" pitchFamily="18" charset="0"/>
              <a:cs typeface="Times New Roman" panose="02020603050405020304" pitchFamily="18" charset="0"/>
            </a:endParaRPr>
          </a:p>
          <a:p>
            <a:r>
              <a:rPr lang="es-ES" sz="1800" b="1" dirty="0">
                <a:latin typeface="Times New Roman" panose="02020603050405020304" pitchFamily="18" charset="0"/>
                <a:cs typeface="Times New Roman" panose="02020603050405020304" pitchFamily="18" charset="0"/>
              </a:rPr>
              <a:t>Chi-cuadrado</a:t>
            </a:r>
            <a:r>
              <a:rPr lang="es-ES" sz="1800" dirty="0">
                <a:latin typeface="Times New Roman" panose="02020603050405020304" pitchFamily="18" charset="0"/>
                <a:cs typeface="Times New Roman" panose="02020603050405020304" pitchFamily="18" charset="0"/>
              </a:rPr>
              <a:t>: es una prueba estadística que se aplica a los grupos de características categóricas para evaluar la probabilidad de correlación o asociación entre ellos utilizando su distribución de frecuencia. </a:t>
            </a:r>
          </a:p>
        </p:txBody>
      </p:sp>
    </p:spTree>
    <p:extLst>
      <p:ext uri="{BB962C8B-B14F-4D97-AF65-F5344CB8AC3E}">
        <p14:creationId xmlns:p14="http://schemas.microsoft.com/office/powerpoint/2010/main" val="2068400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4"/>
            <a:ext cx="6356826"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Métodos de envolvente</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 name="Imagen 2">
            <a:extLst>
              <a:ext uri="{FF2B5EF4-FFF2-40B4-BE49-F238E27FC236}">
                <a16:creationId xmlns:a16="http://schemas.microsoft.com/office/drawing/2014/main" id="{585CF69F-3FD3-4163-ACFC-3D455036A5EE}"/>
              </a:ext>
            </a:extLst>
          </p:cNvPr>
          <p:cNvPicPr>
            <a:picLocks noChangeAspect="1"/>
          </p:cNvPicPr>
          <p:nvPr/>
        </p:nvPicPr>
        <p:blipFill>
          <a:blip r:embed="rId3"/>
          <a:stretch>
            <a:fillRect/>
          </a:stretch>
        </p:blipFill>
        <p:spPr>
          <a:xfrm>
            <a:off x="1195442" y="1041399"/>
            <a:ext cx="6312175" cy="2032001"/>
          </a:xfrm>
          <a:prstGeom prst="rect">
            <a:avLst/>
          </a:prstGeom>
        </p:spPr>
      </p:pic>
    </p:spTree>
    <p:extLst>
      <p:ext uri="{BB962C8B-B14F-4D97-AF65-F5344CB8AC3E}">
        <p14:creationId xmlns:p14="http://schemas.microsoft.com/office/powerpoint/2010/main" val="3924735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4"/>
            <a:ext cx="6356826"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Métodos de envolvente. Ejemplos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 name="CuadroTexto 1">
            <a:extLst>
              <a:ext uri="{FF2B5EF4-FFF2-40B4-BE49-F238E27FC236}">
                <a16:creationId xmlns:a16="http://schemas.microsoft.com/office/drawing/2014/main" id="{7A87781D-050C-4212-BA31-85067ECD30BC}"/>
              </a:ext>
            </a:extLst>
          </p:cNvPr>
          <p:cNvSpPr txBox="1"/>
          <p:nvPr/>
        </p:nvSpPr>
        <p:spPr>
          <a:xfrm>
            <a:off x="436033" y="822426"/>
            <a:ext cx="8271934" cy="4247317"/>
          </a:xfrm>
          <a:prstGeom prst="rect">
            <a:avLst/>
          </a:prstGeom>
          <a:noFill/>
        </p:spPr>
        <p:txBody>
          <a:bodyPr wrap="square" rtlCol="0">
            <a:spAutoFit/>
          </a:bodyPr>
          <a:lstStyle/>
          <a:p>
            <a:r>
              <a:rPr lang="es-ES" sz="1800" b="1" dirty="0">
                <a:latin typeface="Times New Roman" panose="02020603050405020304" pitchFamily="18" charset="0"/>
                <a:cs typeface="Times New Roman" panose="02020603050405020304" pitchFamily="18" charset="0"/>
              </a:rPr>
              <a:t>Forward </a:t>
            </a:r>
            <a:r>
              <a:rPr lang="es-ES" sz="1800" b="1" dirty="0" err="1">
                <a:latin typeface="Times New Roman" panose="02020603050405020304" pitchFamily="18" charset="0"/>
                <a:cs typeface="Times New Roman" panose="02020603050405020304" pitchFamily="18" charset="0"/>
              </a:rPr>
              <a:t>Selection</a:t>
            </a:r>
            <a:r>
              <a:rPr lang="es-ES" sz="1800" dirty="0">
                <a:latin typeface="Times New Roman" panose="02020603050405020304" pitchFamily="18" charset="0"/>
                <a:cs typeface="Times New Roman" panose="02020603050405020304" pitchFamily="18" charset="0"/>
              </a:rPr>
              <a:t>: es un método iterativo en el que comenzamos sin tener ninguna característica en el modelo. En cada iteración, seguimos agregando la función que mejor mejora nuestro modelo hasta que la adición de una nueva variable no mejore el rendimiento del modelo.</a:t>
            </a:r>
          </a:p>
          <a:p>
            <a:endParaRPr lang="es-ES" sz="1800" dirty="0">
              <a:latin typeface="Times New Roman" panose="02020603050405020304" pitchFamily="18" charset="0"/>
              <a:cs typeface="Times New Roman" panose="02020603050405020304" pitchFamily="18" charset="0"/>
            </a:endParaRPr>
          </a:p>
          <a:p>
            <a:r>
              <a:rPr lang="es-ES" sz="1800" b="1" dirty="0" err="1">
                <a:latin typeface="Times New Roman" panose="02020603050405020304" pitchFamily="18" charset="0"/>
                <a:cs typeface="Times New Roman" panose="02020603050405020304" pitchFamily="18" charset="0"/>
              </a:rPr>
              <a:t>Backward</a:t>
            </a:r>
            <a:r>
              <a:rPr lang="es-ES" sz="1800" b="1" dirty="0">
                <a:latin typeface="Times New Roman" panose="02020603050405020304" pitchFamily="18" charset="0"/>
                <a:cs typeface="Times New Roman" panose="02020603050405020304" pitchFamily="18" charset="0"/>
              </a:rPr>
              <a:t> </a:t>
            </a:r>
            <a:r>
              <a:rPr lang="es-ES" sz="1800" b="1" dirty="0" err="1">
                <a:latin typeface="Times New Roman" panose="02020603050405020304" pitchFamily="18" charset="0"/>
                <a:cs typeface="Times New Roman" panose="02020603050405020304" pitchFamily="18" charset="0"/>
              </a:rPr>
              <a:t>Selection</a:t>
            </a:r>
            <a:r>
              <a:rPr lang="es-ES" sz="1800" dirty="0">
                <a:latin typeface="Times New Roman" panose="02020603050405020304" pitchFamily="18" charset="0"/>
                <a:cs typeface="Times New Roman" panose="02020603050405020304" pitchFamily="18" charset="0"/>
              </a:rPr>
              <a:t>: comenzamos con todas las características y eliminamos la característica menos significativa en cada iteración, lo que mejora el rendimiento del modelo. Repetimos esto hasta que no se observe ninguna mejora en la eliminación de características. </a:t>
            </a:r>
          </a:p>
          <a:p>
            <a:endParaRPr lang="es-ES" sz="1800" dirty="0">
              <a:latin typeface="Times New Roman" panose="02020603050405020304" pitchFamily="18" charset="0"/>
              <a:cs typeface="Times New Roman" panose="02020603050405020304" pitchFamily="18" charset="0"/>
            </a:endParaRPr>
          </a:p>
          <a:p>
            <a:r>
              <a:rPr lang="es-ES" sz="1800" b="1" dirty="0" err="1">
                <a:latin typeface="Times New Roman" panose="02020603050405020304" pitchFamily="18" charset="0"/>
                <a:cs typeface="Times New Roman" panose="02020603050405020304" pitchFamily="18" charset="0"/>
              </a:rPr>
              <a:t>Recursive</a:t>
            </a:r>
            <a:r>
              <a:rPr lang="es-ES" sz="1800" b="1" dirty="0">
                <a:latin typeface="Times New Roman" panose="02020603050405020304" pitchFamily="18" charset="0"/>
                <a:cs typeface="Times New Roman" panose="02020603050405020304" pitchFamily="18" charset="0"/>
              </a:rPr>
              <a:t> </a:t>
            </a:r>
            <a:r>
              <a:rPr lang="es-ES" sz="1800" b="1" dirty="0" err="1">
                <a:latin typeface="Times New Roman" panose="02020603050405020304" pitchFamily="18" charset="0"/>
                <a:cs typeface="Times New Roman" panose="02020603050405020304" pitchFamily="18" charset="0"/>
              </a:rPr>
              <a:t>Feature</a:t>
            </a:r>
            <a:r>
              <a:rPr lang="es-ES" sz="1800" b="1" dirty="0">
                <a:latin typeface="Times New Roman" panose="02020603050405020304" pitchFamily="18" charset="0"/>
                <a:cs typeface="Times New Roman" panose="02020603050405020304" pitchFamily="18" charset="0"/>
              </a:rPr>
              <a:t> </a:t>
            </a:r>
            <a:r>
              <a:rPr lang="es-ES" sz="1800" b="1" dirty="0" err="1">
                <a:latin typeface="Times New Roman" panose="02020603050405020304" pitchFamily="18" charset="0"/>
                <a:cs typeface="Times New Roman" panose="02020603050405020304" pitchFamily="18" charset="0"/>
              </a:rPr>
              <a:t>Elimination</a:t>
            </a:r>
            <a:r>
              <a:rPr lang="es-ES" sz="1800" dirty="0">
                <a:latin typeface="Times New Roman" panose="02020603050405020304" pitchFamily="18" charset="0"/>
                <a:cs typeface="Times New Roman" panose="02020603050405020304" pitchFamily="18" charset="0"/>
              </a:rPr>
              <a:t>: es un algoritmo de optimización que busca encontrar el subconjunto de funciones con mejor rendimiento. Crea repetidamente modelos y deja de lado la mejor o la peor característica de rendimiento en cada iteración. Construye el siguiente modelo con las características de la izquierda hasta que se agotan todas las características, luego clasifica las características según el orden de su eliminación.</a:t>
            </a:r>
          </a:p>
        </p:txBody>
      </p:sp>
    </p:spTree>
    <p:extLst>
      <p:ext uri="{BB962C8B-B14F-4D97-AF65-F5344CB8AC3E}">
        <p14:creationId xmlns:p14="http://schemas.microsoft.com/office/powerpoint/2010/main" val="3933270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4"/>
            <a:ext cx="6356826"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Métodos integrados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 name="CuadroTexto 1">
            <a:extLst>
              <a:ext uri="{FF2B5EF4-FFF2-40B4-BE49-F238E27FC236}">
                <a16:creationId xmlns:a16="http://schemas.microsoft.com/office/drawing/2014/main" id="{7A87781D-050C-4212-BA31-85067ECD30BC}"/>
              </a:ext>
            </a:extLst>
          </p:cNvPr>
          <p:cNvSpPr txBox="1"/>
          <p:nvPr/>
        </p:nvSpPr>
        <p:spPr>
          <a:xfrm>
            <a:off x="671401" y="1120981"/>
            <a:ext cx="7786799" cy="2308324"/>
          </a:xfrm>
          <a:prstGeom prst="rect">
            <a:avLst/>
          </a:prstGeom>
          <a:noFill/>
        </p:spPr>
        <p:txBody>
          <a:bodyPr wrap="square" rtlCol="0">
            <a:spAutoFit/>
          </a:bodyPr>
          <a:lstStyle/>
          <a:p>
            <a:pPr fontAlgn="base"/>
            <a:r>
              <a:rPr lang="es-ES" sz="1800" dirty="0">
                <a:latin typeface="Times New Roman" panose="02020603050405020304" pitchFamily="18" charset="0"/>
                <a:cs typeface="Times New Roman" panose="02020603050405020304" pitchFamily="18" charset="0"/>
              </a:rPr>
              <a:t>Combina las cualidades de los métodos de filtro y envoltura. Se implementa mediante algoritmos que tienes sus propios métodos de selección de características incorporados. </a:t>
            </a:r>
          </a:p>
          <a:p>
            <a:pPr fontAlgn="base"/>
            <a:endParaRPr lang="es-ES" sz="1800" dirty="0">
              <a:latin typeface="Times New Roman" panose="02020603050405020304" pitchFamily="18" charset="0"/>
              <a:cs typeface="Times New Roman" panose="02020603050405020304" pitchFamily="18" charset="0"/>
            </a:endParaRPr>
          </a:p>
          <a:p>
            <a:pPr fontAlgn="base"/>
            <a:r>
              <a:rPr lang="es-ES" sz="1800" dirty="0">
                <a:latin typeface="Times New Roman" panose="02020603050405020304" pitchFamily="18" charset="0"/>
                <a:cs typeface="Times New Roman" panose="02020603050405020304" pitchFamily="18" charset="0"/>
              </a:rPr>
              <a:t>Algunos de los ejemplos más populares de estos métodos son la regresión LASSO y RIDGE, que tienen funciones de penalización incorporadas para reducir el sobreajuste.</a:t>
            </a:r>
          </a:p>
          <a:p>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032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420"/>
        <p:cNvGrpSpPr/>
        <p:nvPr/>
      </p:nvGrpSpPr>
      <p:grpSpPr>
        <a:xfrm>
          <a:off x="0" y="0"/>
          <a:ext cx="0" cy="0"/>
          <a:chOff x="0" y="0"/>
          <a:chExt cx="0" cy="0"/>
        </a:xfrm>
      </p:grpSpPr>
      <p:sp>
        <p:nvSpPr>
          <p:cNvPr id="421" name="Google Shape;421;p96"/>
          <p:cNvSpPr txBox="1"/>
          <p:nvPr/>
        </p:nvSpPr>
        <p:spPr>
          <a:xfrm>
            <a:off x="1793630" y="2364001"/>
            <a:ext cx="55566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45250"/>
              </a:lnSpc>
              <a:spcBef>
                <a:spcPts val="0"/>
              </a:spcBef>
              <a:spcAft>
                <a:spcPts val="0"/>
              </a:spcAft>
              <a:buNone/>
            </a:pPr>
            <a:r>
              <a:rPr lang="es-ES" sz="8000" dirty="0">
                <a:solidFill>
                  <a:schemeClr val="tx1"/>
                </a:solidFill>
                <a:latin typeface="Arial"/>
                <a:ea typeface="Arial"/>
                <a:cs typeface="Arial"/>
                <a:sym typeface="Arial"/>
              </a:rPr>
              <a:t>Gracias</a:t>
            </a:r>
            <a:endParaRPr dirty="0">
              <a:solidFill>
                <a:schemeClr val="tx1"/>
              </a:solidFill>
            </a:endParaRPr>
          </a:p>
        </p:txBody>
      </p:sp>
      <p:sp>
        <p:nvSpPr>
          <p:cNvPr id="4" name="CuadroTexto 3">
            <a:extLst>
              <a:ext uri="{FF2B5EF4-FFF2-40B4-BE49-F238E27FC236}">
                <a16:creationId xmlns:a16="http://schemas.microsoft.com/office/drawing/2014/main" id="{A492DCC2-832C-47DE-911E-1DF92139660F}"/>
              </a:ext>
            </a:extLst>
          </p:cNvPr>
          <p:cNvSpPr txBox="1"/>
          <p:nvPr/>
        </p:nvSpPr>
        <p:spPr>
          <a:xfrm>
            <a:off x="2286000" y="2419191"/>
            <a:ext cx="4572000" cy="307777"/>
          </a:xfrm>
          <a:prstGeom prst="rect">
            <a:avLst/>
          </a:prstGeom>
          <a:noFill/>
        </p:spPr>
        <p:txBody>
          <a:bodyPr wrap="square">
            <a:spAutoFit/>
          </a:bodyPr>
          <a:lstStyle/>
          <a:p>
            <a:r>
              <a:rPr lang="es-ES" dirty="0"/>
              <a:t> </a:t>
            </a:r>
          </a:p>
        </p:txBody>
      </p:sp>
      <p:sp>
        <p:nvSpPr>
          <p:cNvPr id="6" name="CuadroTexto 5">
            <a:extLst>
              <a:ext uri="{FF2B5EF4-FFF2-40B4-BE49-F238E27FC236}">
                <a16:creationId xmlns:a16="http://schemas.microsoft.com/office/drawing/2014/main" id="{FA71E54D-0AE3-478A-AD9C-34A4BF1C76D9}"/>
              </a:ext>
            </a:extLst>
          </p:cNvPr>
          <p:cNvSpPr txBox="1"/>
          <p:nvPr/>
        </p:nvSpPr>
        <p:spPr>
          <a:xfrm>
            <a:off x="2286000" y="2419191"/>
            <a:ext cx="4572000" cy="307777"/>
          </a:xfrm>
          <a:prstGeom prst="rect">
            <a:avLst/>
          </a:prstGeom>
          <a:noFill/>
        </p:spPr>
        <p:txBody>
          <a:bodyPr wrap="square">
            <a:spAutoFit/>
          </a:bodyPr>
          <a:lstStyle/>
          <a:p>
            <a:r>
              <a:rPr lang="es-ES" b="0" dirty="0">
                <a:effectLst/>
              </a:rPr>
              <a:t> </a:t>
            </a:r>
            <a:endParaRPr lang="es-ES" dirty="0"/>
          </a:p>
        </p:txBody>
      </p:sp>
    </p:spTree>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11412</TotalTime>
  <Words>1040</Words>
  <Application>Microsoft Office PowerPoint</Application>
  <PresentationFormat>Presentación en pantalla (16:9)</PresentationFormat>
  <Paragraphs>104</Paragraphs>
  <Slides>15</Slides>
  <Notes>15</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15</vt:i4>
      </vt:variant>
    </vt:vector>
  </HeadingPairs>
  <TitlesOfParts>
    <vt:vector size="22" baseType="lpstr">
      <vt:lpstr>Arial</vt:lpstr>
      <vt:lpstr>Arial Unicode MS</vt:lpstr>
      <vt:lpstr>Calibri</vt:lpstr>
      <vt:lpstr>Symbol</vt:lpstr>
      <vt:lpstr>Times New Roman</vt:lpstr>
      <vt:lpstr>Tema de Office</vt:lpstr>
      <vt:lpstr>1_Tema de Office</vt:lpstr>
      <vt:lpstr>   CURSO ESPECIALIZACIÓN IA Y BIG DATA  MÓDULO: SISTEMAS DE APRENDIZAJE AUTOMÁTICO  U2: PREPARACIÓN DE DATOS</vt:lpstr>
      <vt:lpstr>Índice</vt:lpstr>
      <vt:lpstr>3.3.- Selección de datos</vt:lpstr>
      <vt:lpstr>3.3.- Selección de datos</vt:lpstr>
      <vt:lpstr>3.3.- Selección de datos</vt:lpstr>
      <vt:lpstr>3.3.- Selección de datos</vt:lpstr>
      <vt:lpstr>3.3.- Selección de datos</vt:lpstr>
      <vt:lpstr>3.3.- Selección de características</vt:lpstr>
      <vt:lpstr>3.3.- Selección de características</vt:lpstr>
      <vt:lpstr>Métodos de filtro</vt:lpstr>
      <vt:lpstr>Métodos de filtro</vt:lpstr>
      <vt:lpstr>Métodos de envolvente</vt:lpstr>
      <vt:lpstr>Métodos de envolvente. Ejemplos</vt:lpstr>
      <vt:lpstr>Métodos integrados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al Análisis Predictivo  Autor: Rafael Pérez Dasí</dc:title>
  <dc:creator>Usuario de Microsoft Office</dc:creator>
  <cp:lastModifiedBy>OLIVA MIGOTTO, EMANUELA ANA</cp:lastModifiedBy>
  <cp:revision>37</cp:revision>
  <dcterms:created xsi:type="dcterms:W3CDTF">2017-03-10T13:15:33Z</dcterms:created>
  <dcterms:modified xsi:type="dcterms:W3CDTF">2023-10-30T09:41:05Z</dcterms:modified>
</cp:coreProperties>
</file>
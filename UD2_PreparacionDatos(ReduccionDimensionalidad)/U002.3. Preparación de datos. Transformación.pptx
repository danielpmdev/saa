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3" r:id="rId2"/>
    <p:sldMasterId id="2147483676" r:id="rId3"/>
  </p:sldMasterIdLst>
  <p:notesMasterIdLst>
    <p:notesMasterId r:id="rId21"/>
  </p:notesMasterIdLst>
  <p:sldIdLst>
    <p:sldId id="294" r:id="rId4"/>
    <p:sldId id="327" r:id="rId5"/>
    <p:sldId id="259" r:id="rId6"/>
    <p:sldId id="353" r:id="rId7"/>
    <p:sldId id="354" r:id="rId8"/>
    <p:sldId id="355" r:id="rId9"/>
    <p:sldId id="356" r:id="rId10"/>
    <p:sldId id="357" r:id="rId11"/>
    <p:sldId id="358" r:id="rId12"/>
    <p:sldId id="359" r:id="rId13"/>
    <p:sldId id="360" r:id="rId14"/>
    <p:sldId id="361" r:id="rId15"/>
    <p:sldId id="362" r:id="rId16"/>
    <p:sldId id="363" r:id="rId17"/>
    <p:sldId id="364" r:id="rId18"/>
    <p:sldId id="365" r:id="rId19"/>
    <p:sldId id="293" r:id="rId2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8" roundtripDataSignature="AMtx7mg2SAHP/sgd5BQlYktJoj3fDWeW5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782D91D-28F5-4622-BDE7-FCF2C8A00C1C}">
  <a:tblStyle styleId="{8782D91D-28F5-4622-BDE7-FCF2C8A00C1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FF7"/>
          </a:solidFill>
        </a:fill>
      </a:tcStyle>
    </a:wholeTbl>
    <a:band1H>
      <a:tcTxStyle/>
      <a:tcStyle>
        <a:tcBdr/>
        <a:fill>
          <a:solidFill>
            <a:srgbClr val="D0DEEF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EEF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318" y="96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59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8" Type="http://customschemas.google.com/relationships/presentationmetadata" Target="meta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61" Type="http://schemas.openxmlformats.org/officeDocument/2006/relationships/theme" Target="theme/theme1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60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0486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36498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169670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99467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6790307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31812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7371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217570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06465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8652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02167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930281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7071158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254875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98" descr=" Portada_109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98"/>
          <p:cNvSpPr txBox="1">
            <a:spLocks noGrp="1"/>
          </p:cNvSpPr>
          <p:nvPr>
            <p:ph type="ctrTitle"/>
          </p:nvPr>
        </p:nvSpPr>
        <p:spPr>
          <a:xfrm>
            <a:off x="685800" y="1714500"/>
            <a:ext cx="57277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98"/>
          <p:cNvSpPr txBox="1">
            <a:spLocks noGrp="1"/>
          </p:cNvSpPr>
          <p:nvPr>
            <p:ph type="dt" idx="10"/>
          </p:nvPr>
        </p:nvSpPr>
        <p:spPr>
          <a:xfrm>
            <a:off x="6280150" y="4434648"/>
            <a:ext cx="24955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seño personalizado">
  <p:cSld name="Diseño personalizado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01"/>
          <p:cNvSpPr txBox="1">
            <a:spLocks noGrp="1"/>
          </p:cNvSpPr>
          <p:nvPr>
            <p:ph type="title"/>
          </p:nvPr>
        </p:nvSpPr>
        <p:spPr>
          <a:xfrm>
            <a:off x="628651" y="612586"/>
            <a:ext cx="4257675" cy="887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1"/>
          <p:cNvSpPr txBox="1">
            <a:spLocks noGrp="1"/>
          </p:cNvSpPr>
          <p:nvPr>
            <p:ph type="sldNum" idx="12"/>
          </p:nvPr>
        </p:nvSpPr>
        <p:spPr>
          <a:xfrm>
            <a:off x="522288" y="4570589"/>
            <a:ext cx="2049462" cy="2650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2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2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102"/>
          <p:cNvSpPr txBox="1">
            <a:spLocks noGrp="1"/>
          </p:cNvSpPr>
          <p:nvPr>
            <p:ph type="title"/>
          </p:nvPr>
        </p:nvSpPr>
        <p:spPr>
          <a:xfrm>
            <a:off x="628649" y="611572"/>
            <a:ext cx="4303223" cy="60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2"/>
          <p:cNvSpPr txBox="1">
            <a:spLocks noGrp="1"/>
          </p:cNvSpPr>
          <p:nvPr>
            <p:ph type="body" idx="1"/>
          </p:nvPr>
        </p:nvSpPr>
        <p:spPr>
          <a:xfrm>
            <a:off x="628650" y="1146768"/>
            <a:ext cx="3886200" cy="32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2"/>
          <p:cNvSpPr txBox="1">
            <a:spLocks noGrp="1"/>
          </p:cNvSpPr>
          <p:nvPr>
            <p:ph type="body" idx="2"/>
          </p:nvPr>
        </p:nvSpPr>
        <p:spPr>
          <a:xfrm>
            <a:off x="4629150" y="1146768"/>
            <a:ext cx="3886200" cy="32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sldNum" idx="12"/>
          </p:nvPr>
        </p:nvSpPr>
        <p:spPr>
          <a:xfrm>
            <a:off x="49686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36" name="Google Shape;36;p102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 blanco" type="blank">
  <p:cSld name="BLANK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3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4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4"/>
          <p:cNvSpPr txBox="1">
            <a:spLocks noGrp="1"/>
          </p:cNvSpPr>
          <p:nvPr>
            <p:ph type="body" idx="1"/>
          </p:nvPr>
        </p:nvSpPr>
        <p:spPr>
          <a:xfrm>
            <a:off x="5106988" y="204725"/>
            <a:ext cx="1835150" cy="26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4"/>
          <p:cNvSpPr txBox="1">
            <a:spLocks noGrp="1"/>
          </p:cNvSpPr>
          <p:nvPr>
            <p:ph type="body" idx="2"/>
          </p:nvPr>
        </p:nvSpPr>
        <p:spPr>
          <a:xfrm>
            <a:off x="7094538" y="204725"/>
            <a:ext cx="1835150" cy="26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04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OBJEC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5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5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6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06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106"/>
          <p:cNvSpPr txBox="1">
            <a:spLocks noGrp="1"/>
          </p:cNvSpPr>
          <p:nvPr>
            <p:ph type="title"/>
          </p:nvPr>
        </p:nvSpPr>
        <p:spPr>
          <a:xfrm>
            <a:off x="591660" y="597766"/>
            <a:ext cx="4352542" cy="794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6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3" name="Google Shape;53;p106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07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07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07"/>
          <p:cNvSpPr txBox="1">
            <a:spLocks noGrp="1"/>
          </p:cNvSpPr>
          <p:nvPr>
            <p:ph type="sldNum" idx="12"/>
          </p:nvPr>
        </p:nvSpPr>
        <p:spPr>
          <a:xfrm>
            <a:off x="48453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8" name="Google Shape;58;p107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08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08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" name="Google Shape;62;p108"/>
          <p:cNvSpPr txBox="1">
            <a:spLocks noGrp="1"/>
          </p:cNvSpPr>
          <p:nvPr>
            <p:ph type="title"/>
          </p:nvPr>
        </p:nvSpPr>
        <p:spPr>
          <a:xfrm>
            <a:off x="629841" y="599245"/>
            <a:ext cx="4302032" cy="628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8"/>
          <p:cNvSpPr txBox="1">
            <a:spLocks noGrp="1"/>
          </p:cNvSpPr>
          <p:nvPr>
            <p:ph type="body" idx="1"/>
          </p:nvPr>
        </p:nvSpPr>
        <p:spPr>
          <a:xfrm>
            <a:off x="629842" y="1159100"/>
            <a:ext cx="3868340" cy="6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08"/>
          <p:cNvSpPr txBox="1">
            <a:spLocks noGrp="1"/>
          </p:cNvSpPr>
          <p:nvPr>
            <p:ph type="body" idx="2"/>
          </p:nvPr>
        </p:nvSpPr>
        <p:spPr>
          <a:xfrm>
            <a:off x="629842" y="1849626"/>
            <a:ext cx="3868340" cy="257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8"/>
          <p:cNvSpPr txBox="1">
            <a:spLocks noGrp="1"/>
          </p:cNvSpPr>
          <p:nvPr>
            <p:ph type="body" idx="3"/>
          </p:nvPr>
        </p:nvSpPr>
        <p:spPr>
          <a:xfrm>
            <a:off x="4629151" y="1159100"/>
            <a:ext cx="3887391" cy="6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08"/>
          <p:cNvSpPr txBox="1">
            <a:spLocks noGrp="1"/>
          </p:cNvSpPr>
          <p:nvPr>
            <p:ph type="body" idx="4"/>
          </p:nvPr>
        </p:nvSpPr>
        <p:spPr>
          <a:xfrm>
            <a:off x="4629151" y="1849626"/>
            <a:ext cx="3887391" cy="257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8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8" name="Google Shape;68;p108"/>
          <p:cNvSpPr txBox="1">
            <a:spLocks noGrp="1"/>
          </p:cNvSpPr>
          <p:nvPr>
            <p:ph type="body" idx="5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9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09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109"/>
          <p:cNvSpPr txBox="1">
            <a:spLocks noGrp="1"/>
          </p:cNvSpPr>
          <p:nvPr>
            <p:ph type="title"/>
          </p:nvPr>
        </p:nvSpPr>
        <p:spPr>
          <a:xfrm>
            <a:off x="629841" y="600714"/>
            <a:ext cx="2949178" cy="97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9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109"/>
          <p:cNvSpPr txBox="1">
            <a:spLocks noGrp="1"/>
          </p:cNvSpPr>
          <p:nvPr>
            <p:ph type="body" idx="2"/>
          </p:nvPr>
        </p:nvSpPr>
        <p:spPr>
          <a:xfrm>
            <a:off x="629841" y="1578348"/>
            <a:ext cx="2949178" cy="282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9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76" name="Google Shape;76;p109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10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10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110"/>
          <p:cNvSpPr txBox="1">
            <a:spLocks noGrp="1"/>
          </p:cNvSpPr>
          <p:nvPr>
            <p:ph type="title"/>
          </p:nvPr>
        </p:nvSpPr>
        <p:spPr>
          <a:xfrm>
            <a:off x="617511" y="599244"/>
            <a:ext cx="2949178" cy="115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0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10"/>
          <p:cNvSpPr txBox="1">
            <a:spLocks noGrp="1"/>
          </p:cNvSpPr>
          <p:nvPr>
            <p:ph type="body" idx="1"/>
          </p:nvPr>
        </p:nvSpPr>
        <p:spPr>
          <a:xfrm>
            <a:off x="629841" y="1812633"/>
            <a:ext cx="2949178" cy="258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10"/>
          <p:cNvSpPr txBox="1">
            <a:spLocks noGrp="1"/>
          </p:cNvSpPr>
          <p:nvPr>
            <p:ph type="sldNum" idx="12"/>
          </p:nvPr>
        </p:nvSpPr>
        <p:spPr>
          <a:xfrm>
            <a:off x="49686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4" name="Google Shape;84;p110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>
  <p:cSld name="Título y texto vertical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1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11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11"/>
          <p:cNvSpPr txBox="1">
            <a:spLocks noGrp="1"/>
          </p:cNvSpPr>
          <p:nvPr>
            <p:ph type="title"/>
          </p:nvPr>
        </p:nvSpPr>
        <p:spPr>
          <a:xfrm>
            <a:off x="628650" y="613047"/>
            <a:ext cx="4315552" cy="104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1"/>
          <p:cNvSpPr txBox="1">
            <a:spLocks noGrp="1"/>
          </p:cNvSpPr>
          <p:nvPr>
            <p:ph type="body" idx="1"/>
          </p:nvPr>
        </p:nvSpPr>
        <p:spPr>
          <a:xfrm rot="5400000">
            <a:off x="3154205" y="-946707"/>
            <a:ext cx="2835589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1"/>
          <p:cNvSpPr txBox="1">
            <a:spLocks noGrp="1"/>
          </p:cNvSpPr>
          <p:nvPr>
            <p:ph type="sldNum" idx="12"/>
          </p:nvPr>
        </p:nvSpPr>
        <p:spPr>
          <a:xfrm>
            <a:off x="52152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91" name="Google Shape;91;p111"/>
          <p:cNvSpPr txBox="1">
            <a:spLocks noGrp="1"/>
          </p:cNvSpPr>
          <p:nvPr>
            <p:ph type="body" idx="2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72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2"/>
          <p:cNvSpPr txBox="1">
            <a:spLocks noGrp="1"/>
          </p:cNvSpPr>
          <p:nvPr>
            <p:ph type="sldNum" idx="12"/>
          </p:nvPr>
        </p:nvSpPr>
        <p:spPr>
          <a:xfrm>
            <a:off x="52152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23" name="Google Shape;23;p72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72"/>
          <p:cNvSpPr txBox="1">
            <a:spLocks noGrp="1"/>
          </p:cNvSpPr>
          <p:nvPr>
            <p:ph type="title"/>
          </p:nvPr>
        </p:nvSpPr>
        <p:spPr>
          <a:xfrm>
            <a:off x="628649" y="613046"/>
            <a:ext cx="4266235" cy="89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2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894284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99"/>
          <p:cNvSpPr txBox="1">
            <a:spLocks noGrp="1"/>
          </p:cNvSpPr>
          <p:nvPr>
            <p:ph type="title"/>
          </p:nvPr>
        </p:nvSpPr>
        <p:spPr>
          <a:xfrm>
            <a:off x="1195441" y="516026"/>
            <a:ext cx="535162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Arial"/>
              <a:buNone/>
              <a:defRPr sz="4400"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187947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102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" name="Google Shape;31;p102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2" name="Google Shape;32;p102"/>
          <p:cNvSpPr txBox="1">
            <a:spLocks noGrp="1"/>
          </p:cNvSpPr>
          <p:nvPr>
            <p:ph type="title"/>
          </p:nvPr>
        </p:nvSpPr>
        <p:spPr>
          <a:xfrm>
            <a:off x="628649" y="611572"/>
            <a:ext cx="4303223" cy="60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02"/>
          <p:cNvSpPr txBox="1">
            <a:spLocks noGrp="1"/>
          </p:cNvSpPr>
          <p:nvPr>
            <p:ph type="body" idx="1"/>
          </p:nvPr>
        </p:nvSpPr>
        <p:spPr>
          <a:xfrm>
            <a:off x="628650" y="1146768"/>
            <a:ext cx="3886200" cy="32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02"/>
          <p:cNvSpPr txBox="1">
            <a:spLocks noGrp="1"/>
          </p:cNvSpPr>
          <p:nvPr>
            <p:ph type="body" idx="2"/>
          </p:nvPr>
        </p:nvSpPr>
        <p:spPr>
          <a:xfrm>
            <a:off x="4629150" y="1146768"/>
            <a:ext cx="3886200" cy="32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02"/>
          <p:cNvSpPr txBox="1">
            <a:spLocks noGrp="1"/>
          </p:cNvSpPr>
          <p:nvPr>
            <p:ph type="sldNum" idx="12"/>
          </p:nvPr>
        </p:nvSpPr>
        <p:spPr>
          <a:xfrm>
            <a:off x="49686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36" name="Google Shape;36;p102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719324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En blanco" type="blank">
  <p:cSld name="1_En blanco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3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1830999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Dos objetos" type="twoObj">
  <p:cSld name="1_Dos objeto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4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04"/>
          <p:cNvSpPr txBox="1">
            <a:spLocks noGrp="1"/>
          </p:cNvSpPr>
          <p:nvPr>
            <p:ph type="body" idx="1"/>
          </p:nvPr>
        </p:nvSpPr>
        <p:spPr>
          <a:xfrm>
            <a:off x="5106988" y="204725"/>
            <a:ext cx="1835150" cy="26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04"/>
          <p:cNvSpPr txBox="1">
            <a:spLocks noGrp="1"/>
          </p:cNvSpPr>
          <p:nvPr>
            <p:ph type="body" idx="2"/>
          </p:nvPr>
        </p:nvSpPr>
        <p:spPr>
          <a:xfrm>
            <a:off x="7094538" y="204725"/>
            <a:ext cx="1835150" cy="263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04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62413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1_Título y objetos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5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0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105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48839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106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106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106"/>
          <p:cNvSpPr txBox="1">
            <a:spLocks noGrp="1"/>
          </p:cNvSpPr>
          <p:nvPr>
            <p:ph type="title"/>
          </p:nvPr>
        </p:nvSpPr>
        <p:spPr>
          <a:xfrm>
            <a:off x="591660" y="597766"/>
            <a:ext cx="4352542" cy="794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06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3" name="Google Shape;53;p106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342898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07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107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107"/>
          <p:cNvSpPr txBox="1">
            <a:spLocks noGrp="1"/>
          </p:cNvSpPr>
          <p:nvPr>
            <p:ph type="sldNum" idx="12"/>
          </p:nvPr>
        </p:nvSpPr>
        <p:spPr>
          <a:xfrm>
            <a:off x="48453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8" name="Google Shape;58;p107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502432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08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108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" name="Google Shape;62;p108"/>
          <p:cNvSpPr txBox="1">
            <a:spLocks noGrp="1"/>
          </p:cNvSpPr>
          <p:nvPr>
            <p:ph type="title"/>
          </p:nvPr>
        </p:nvSpPr>
        <p:spPr>
          <a:xfrm>
            <a:off x="629841" y="599245"/>
            <a:ext cx="4302032" cy="628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8"/>
          <p:cNvSpPr txBox="1">
            <a:spLocks noGrp="1"/>
          </p:cNvSpPr>
          <p:nvPr>
            <p:ph type="body" idx="1"/>
          </p:nvPr>
        </p:nvSpPr>
        <p:spPr>
          <a:xfrm>
            <a:off x="629842" y="1159100"/>
            <a:ext cx="3868340" cy="6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4" name="Google Shape;64;p108"/>
          <p:cNvSpPr txBox="1">
            <a:spLocks noGrp="1"/>
          </p:cNvSpPr>
          <p:nvPr>
            <p:ph type="body" idx="2"/>
          </p:nvPr>
        </p:nvSpPr>
        <p:spPr>
          <a:xfrm>
            <a:off x="629842" y="1849626"/>
            <a:ext cx="3868340" cy="257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08"/>
          <p:cNvSpPr txBox="1">
            <a:spLocks noGrp="1"/>
          </p:cNvSpPr>
          <p:nvPr>
            <p:ph type="body" idx="3"/>
          </p:nvPr>
        </p:nvSpPr>
        <p:spPr>
          <a:xfrm>
            <a:off x="4629151" y="1159100"/>
            <a:ext cx="3887391" cy="6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6" name="Google Shape;66;p108"/>
          <p:cNvSpPr txBox="1">
            <a:spLocks noGrp="1"/>
          </p:cNvSpPr>
          <p:nvPr>
            <p:ph type="body" idx="4"/>
          </p:nvPr>
        </p:nvSpPr>
        <p:spPr>
          <a:xfrm>
            <a:off x="4629151" y="1849626"/>
            <a:ext cx="3887391" cy="257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7" name="Google Shape;67;p108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8" name="Google Shape;68;p108"/>
          <p:cNvSpPr txBox="1">
            <a:spLocks noGrp="1"/>
          </p:cNvSpPr>
          <p:nvPr>
            <p:ph type="body" idx="5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8573885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09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1" name="Google Shape;71;p109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2" name="Google Shape;72;p109"/>
          <p:cNvSpPr txBox="1">
            <a:spLocks noGrp="1"/>
          </p:cNvSpPr>
          <p:nvPr>
            <p:ph type="title"/>
          </p:nvPr>
        </p:nvSpPr>
        <p:spPr>
          <a:xfrm>
            <a:off x="629841" y="600714"/>
            <a:ext cx="2949178" cy="97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9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4" name="Google Shape;74;p109"/>
          <p:cNvSpPr txBox="1">
            <a:spLocks noGrp="1"/>
          </p:cNvSpPr>
          <p:nvPr>
            <p:ph type="body" idx="2"/>
          </p:nvPr>
        </p:nvSpPr>
        <p:spPr>
          <a:xfrm>
            <a:off x="629841" y="1578348"/>
            <a:ext cx="2949178" cy="282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5" name="Google Shape;75;p109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76" name="Google Shape;76;p109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372333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10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9" name="Google Shape;79;p110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0" name="Google Shape;80;p110"/>
          <p:cNvSpPr txBox="1">
            <a:spLocks noGrp="1"/>
          </p:cNvSpPr>
          <p:nvPr>
            <p:ph type="title"/>
          </p:nvPr>
        </p:nvSpPr>
        <p:spPr>
          <a:xfrm>
            <a:off x="617511" y="599244"/>
            <a:ext cx="2949178" cy="115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10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82" name="Google Shape;82;p110"/>
          <p:cNvSpPr txBox="1">
            <a:spLocks noGrp="1"/>
          </p:cNvSpPr>
          <p:nvPr>
            <p:ph type="body" idx="1"/>
          </p:nvPr>
        </p:nvSpPr>
        <p:spPr>
          <a:xfrm>
            <a:off x="629841" y="1812633"/>
            <a:ext cx="2949178" cy="258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3" name="Google Shape;83;p110"/>
          <p:cNvSpPr txBox="1">
            <a:spLocks noGrp="1"/>
          </p:cNvSpPr>
          <p:nvPr>
            <p:ph type="sldNum" idx="12"/>
          </p:nvPr>
        </p:nvSpPr>
        <p:spPr>
          <a:xfrm>
            <a:off x="49686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4" name="Google Shape;84;p110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858030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>
  <p:cSld name="Título y texto vertical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11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7" name="Google Shape;87;p111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8" name="Google Shape;88;p111"/>
          <p:cNvSpPr txBox="1">
            <a:spLocks noGrp="1"/>
          </p:cNvSpPr>
          <p:nvPr>
            <p:ph type="title"/>
          </p:nvPr>
        </p:nvSpPr>
        <p:spPr>
          <a:xfrm>
            <a:off x="628650" y="613047"/>
            <a:ext cx="4315552" cy="104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11"/>
          <p:cNvSpPr txBox="1">
            <a:spLocks noGrp="1"/>
          </p:cNvSpPr>
          <p:nvPr>
            <p:ph type="body" idx="1"/>
          </p:nvPr>
        </p:nvSpPr>
        <p:spPr>
          <a:xfrm rot="5400000">
            <a:off x="3154205" y="-946707"/>
            <a:ext cx="2835589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0" name="Google Shape;90;p111"/>
          <p:cNvSpPr txBox="1">
            <a:spLocks noGrp="1"/>
          </p:cNvSpPr>
          <p:nvPr>
            <p:ph type="sldNum" idx="12"/>
          </p:nvPr>
        </p:nvSpPr>
        <p:spPr>
          <a:xfrm>
            <a:off x="52152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91" name="Google Shape;91;p111"/>
          <p:cNvSpPr txBox="1">
            <a:spLocks noGrp="1"/>
          </p:cNvSpPr>
          <p:nvPr>
            <p:ph type="body" idx="2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8888809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>
  <p:cSld name="Diapositiva de título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Google Shape;15;p70" descr=" Portada_1090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2223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70"/>
          <p:cNvSpPr txBox="1">
            <a:spLocks noGrp="1"/>
          </p:cNvSpPr>
          <p:nvPr>
            <p:ph type="ctrTitle"/>
          </p:nvPr>
        </p:nvSpPr>
        <p:spPr>
          <a:xfrm>
            <a:off x="685800" y="1714500"/>
            <a:ext cx="5727700" cy="15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70"/>
          <p:cNvSpPr txBox="1">
            <a:spLocks noGrp="1"/>
          </p:cNvSpPr>
          <p:nvPr>
            <p:ph type="dt" idx="10"/>
          </p:nvPr>
        </p:nvSpPr>
        <p:spPr>
          <a:xfrm>
            <a:off x="6280150" y="4434648"/>
            <a:ext cx="249555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015971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>
  <p:cSld name="Encabezado de sección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71"/>
          <p:cNvSpPr txBox="1">
            <a:spLocks noGrp="1"/>
          </p:cNvSpPr>
          <p:nvPr>
            <p:ph type="title"/>
          </p:nvPr>
        </p:nvSpPr>
        <p:spPr>
          <a:xfrm>
            <a:off x="1195441" y="516026"/>
            <a:ext cx="535162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Arial"/>
              <a:buNone/>
              <a:defRPr sz="4400">
                <a:solidFill>
                  <a:srgbClr val="D9D9D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1566972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>
  <p:cSld name="Título y objeto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72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2"/>
          <p:cNvSpPr txBox="1">
            <a:spLocks noGrp="1"/>
          </p:cNvSpPr>
          <p:nvPr>
            <p:ph type="sldNum" idx="12"/>
          </p:nvPr>
        </p:nvSpPr>
        <p:spPr>
          <a:xfrm>
            <a:off x="52152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cxnSp>
        <p:nvCxnSpPr>
          <p:cNvPr id="23" name="Google Shape;23;p72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" name="Google Shape;24;p72"/>
          <p:cNvSpPr txBox="1">
            <a:spLocks noGrp="1"/>
          </p:cNvSpPr>
          <p:nvPr>
            <p:ph type="title"/>
          </p:nvPr>
        </p:nvSpPr>
        <p:spPr>
          <a:xfrm>
            <a:off x="628649" y="613046"/>
            <a:ext cx="4266235" cy="895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2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672076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ítulo y objetos" type="obj">
  <p:cSld name="1_Título y objeto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3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73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l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0951401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>
  <p:cSld name="Dos objeto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74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2" name="Google Shape;32;p74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33" name="Google Shape;33;p74"/>
          <p:cNvSpPr txBox="1">
            <a:spLocks noGrp="1"/>
          </p:cNvSpPr>
          <p:nvPr>
            <p:ph type="title"/>
          </p:nvPr>
        </p:nvSpPr>
        <p:spPr>
          <a:xfrm>
            <a:off x="628649" y="611572"/>
            <a:ext cx="4303223" cy="604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4"/>
          <p:cNvSpPr txBox="1">
            <a:spLocks noGrp="1"/>
          </p:cNvSpPr>
          <p:nvPr>
            <p:ph type="body" idx="1"/>
          </p:nvPr>
        </p:nvSpPr>
        <p:spPr>
          <a:xfrm>
            <a:off x="628650" y="1146768"/>
            <a:ext cx="3886200" cy="32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74"/>
          <p:cNvSpPr txBox="1">
            <a:spLocks noGrp="1"/>
          </p:cNvSpPr>
          <p:nvPr>
            <p:ph type="body" idx="2"/>
          </p:nvPr>
        </p:nvSpPr>
        <p:spPr>
          <a:xfrm>
            <a:off x="4629150" y="1146768"/>
            <a:ext cx="3886200" cy="32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" name="Google Shape;36;p74"/>
          <p:cNvSpPr txBox="1">
            <a:spLocks noGrp="1"/>
          </p:cNvSpPr>
          <p:nvPr>
            <p:ph type="sldNum" idx="12"/>
          </p:nvPr>
        </p:nvSpPr>
        <p:spPr>
          <a:xfrm>
            <a:off x="49686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37" name="Google Shape;37;p74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8267511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>
  <p:cSld name="Comparació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75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" name="Google Shape;40;p75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41" name="Google Shape;41;p75"/>
          <p:cNvSpPr txBox="1">
            <a:spLocks noGrp="1"/>
          </p:cNvSpPr>
          <p:nvPr>
            <p:ph type="title"/>
          </p:nvPr>
        </p:nvSpPr>
        <p:spPr>
          <a:xfrm>
            <a:off x="629841" y="599245"/>
            <a:ext cx="4302032" cy="628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5"/>
          <p:cNvSpPr txBox="1">
            <a:spLocks noGrp="1"/>
          </p:cNvSpPr>
          <p:nvPr>
            <p:ph type="body" idx="1"/>
          </p:nvPr>
        </p:nvSpPr>
        <p:spPr>
          <a:xfrm>
            <a:off x="629842" y="1159100"/>
            <a:ext cx="3868340" cy="6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5"/>
          <p:cNvSpPr txBox="1">
            <a:spLocks noGrp="1"/>
          </p:cNvSpPr>
          <p:nvPr>
            <p:ph type="body" idx="2"/>
          </p:nvPr>
        </p:nvSpPr>
        <p:spPr>
          <a:xfrm>
            <a:off x="629842" y="1849626"/>
            <a:ext cx="3868340" cy="25771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75"/>
          <p:cNvSpPr txBox="1">
            <a:spLocks noGrp="1"/>
          </p:cNvSpPr>
          <p:nvPr>
            <p:ph type="body" idx="3"/>
          </p:nvPr>
        </p:nvSpPr>
        <p:spPr>
          <a:xfrm>
            <a:off x="4629151" y="1159100"/>
            <a:ext cx="3887391" cy="69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 b="1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5"/>
          <p:cNvSpPr txBox="1">
            <a:spLocks noGrp="1"/>
          </p:cNvSpPr>
          <p:nvPr>
            <p:ph type="body" idx="4"/>
          </p:nvPr>
        </p:nvSpPr>
        <p:spPr>
          <a:xfrm>
            <a:off x="4629151" y="1849626"/>
            <a:ext cx="3887391" cy="2577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75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47" name="Google Shape;47;p75"/>
          <p:cNvSpPr txBox="1">
            <a:spLocks noGrp="1"/>
          </p:cNvSpPr>
          <p:nvPr>
            <p:ph type="body" idx="5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6201634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>
  <p:cSld name="Solo el título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76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0" name="Google Shape;50;p76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1" name="Google Shape;51;p76"/>
          <p:cNvSpPr txBox="1">
            <a:spLocks noGrp="1"/>
          </p:cNvSpPr>
          <p:nvPr>
            <p:ph type="title"/>
          </p:nvPr>
        </p:nvSpPr>
        <p:spPr>
          <a:xfrm>
            <a:off x="591660" y="597766"/>
            <a:ext cx="4352542" cy="7948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6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3" name="Google Shape;53;p76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8391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>
  <p:cSld name="En blanco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77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6" name="Google Shape;56;p77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57" name="Google Shape;57;p77"/>
          <p:cNvSpPr txBox="1">
            <a:spLocks noGrp="1"/>
          </p:cNvSpPr>
          <p:nvPr>
            <p:ph type="sldNum" idx="12"/>
          </p:nvPr>
        </p:nvSpPr>
        <p:spPr>
          <a:xfrm>
            <a:off x="48453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58" name="Google Shape;58;p77"/>
          <p:cNvSpPr txBox="1">
            <a:spLocks noGrp="1"/>
          </p:cNvSpPr>
          <p:nvPr>
            <p:ph type="body" idx="1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896618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>
  <p:cSld name="Contenido con título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78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1" name="Google Shape;61;p78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62" name="Google Shape;62;p78"/>
          <p:cNvSpPr txBox="1">
            <a:spLocks noGrp="1"/>
          </p:cNvSpPr>
          <p:nvPr>
            <p:ph type="title"/>
          </p:nvPr>
        </p:nvSpPr>
        <p:spPr>
          <a:xfrm>
            <a:off x="629841" y="600714"/>
            <a:ext cx="2949178" cy="974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78"/>
          <p:cNvSpPr txBox="1">
            <a:spLocks noGrp="1"/>
          </p:cNvSpPr>
          <p:nvPr>
            <p:ph type="body" idx="1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78"/>
          <p:cNvSpPr txBox="1">
            <a:spLocks noGrp="1"/>
          </p:cNvSpPr>
          <p:nvPr>
            <p:ph type="body" idx="2"/>
          </p:nvPr>
        </p:nvSpPr>
        <p:spPr>
          <a:xfrm>
            <a:off x="629841" y="1578348"/>
            <a:ext cx="2949178" cy="28233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 b="1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78"/>
          <p:cNvSpPr txBox="1">
            <a:spLocks noGrp="1"/>
          </p:cNvSpPr>
          <p:nvPr>
            <p:ph type="sldNum" idx="12"/>
          </p:nvPr>
        </p:nvSpPr>
        <p:spPr>
          <a:xfrm>
            <a:off x="48453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66" name="Google Shape;66;p78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8039158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>
  <p:cSld name="Imagen con título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79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79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0" name="Google Shape;70;p79"/>
          <p:cNvSpPr txBox="1">
            <a:spLocks noGrp="1"/>
          </p:cNvSpPr>
          <p:nvPr>
            <p:ph type="title"/>
          </p:nvPr>
        </p:nvSpPr>
        <p:spPr>
          <a:xfrm>
            <a:off x="617511" y="599244"/>
            <a:ext cx="2949178" cy="1159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79"/>
          <p:cNvSpPr>
            <a:spLocks noGrp="1"/>
          </p:cNvSpPr>
          <p:nvPr>
            <p:ph type="pic" idx="2"/>
          </p:nvPr>
        </p:nvSpPr>
        <p:spPr>
          <a:xfrm>
            <a:off x="3887391" y="740570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79"/>
          <p:cNvSpPr txBox="1">
            <a:spLocks noGrp="1"/>
          </p:cNvSpPr>
          <p:nvPr>
            <p:ph type="body" idx="1"/>
          </p:nvPr>
        </p:nvSpPr>
        <p:spPr>
          <a:xfrm>
            <a:off x="629841" y="1812633"/>
            <a:ext cx="2949178" cy="2589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None/>
              <a:defRPr sz="1400">
                <a:solidFill>
                  <a:srgbClr val="5D5D5D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3" name="Google Shape;73;p79"/>
          <p:cNvSpPr txBox="1">
            <a:spLocks noGrp="1"/>
          </p:cNvSpPr>
          <p:nvPr>
            <p:ph type="sldNum" idx="12"/>
          </p:nvPr>
        </p:nvSpPr>
        <p:spPr>
          <a:xfrm>
            <a:off x="496860" y="4559239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74" name="Google Shape;74;p79"/>
          <p:cNvSpPr txBox="1">
            <a:spLocks noGrp="1"/>
          </p:cNvSpPr>
          <p:nvPr>
            <p:ph type="body" idx="3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681788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>
  <p:cSld name="Título y texto vertical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80" descr="Barra_Gris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340608" y="4533368"/>
            <a:ext cx="8598410" cy="41148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80"/>
          <p:cNvCxnSpPr/>
          <p:nvPr/>
        </p:nvCxnSpPr>
        <p:spPr>
          <a:xfrm rot="10800000" flipH="1">
            <a:off x="283583" y="517896"/>
            <a:ext cx="8482821" cy="12332"/>
          </a:xfrm>
          <a:prstGeom prst="straightConnector1">
            <a:avLst/>
          </a:prstGeom>
          <a:noFill/>
          <a:ln w="9525" cap="flat" cmpd="sng">
            <a:solidFill>
              <a:srgbClr val="A5A5A5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8" name="Google Shape;78;p80"/>
          <p:cNvSpPr txBox="1">
            <a:spLocks noGrp="1"/>
          </p:cNvSpPr>
          <p:nvPr>
            <p:ph type="title"/>
          </p:nvPr>
        </p:nvSpPr>
        <p:spPr>
          <a:xfrm>
            <a:off x="628650" y="613047"/>
            <a:ext cx="4315552" cy="1048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D5D5D"/>
              </a:buClr>
              <a:buSzPts val="1400"/>
              <a:buFont typeface="Arial"/>
              <a:buNone/>
              <a:defRPr sz="1400" b="0" i="0">
                <a:solidFill>
                  <a:srgbClr val="5D5D5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0"/>
          <p:cNvSpPr txBox="1">
            <a:spLocks noGrp="1"/>
          </p:cNvSpPr>
          <p:nvPr>
            <p:ph type="body" idx="1"/>
          </p:nvPr>
        </p:nvSpPr>
        <p:spPr>
          <a:xfrm rot="5400000">
            <a:off x="3154205" y="-946707"/>
            <a:ext cx="2835589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5D5D5D"/>
              </a:buClr>
              <a:buSzPts val="1400"/>
              <a:buChar char="•"/>
              <a:defRPr sz="1400" b="1">
                <a:solidFill>
                  <a:srgbClr val="5D5D5D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80"/>
          <p:cNvSpPr txBox="1">
            <a:spLocks noGrp="1"/>
          </p:cNvSpPr>
          <p:nvPr>
            <p:ph type="sldNum" idx="12"/>
          </p:nvPr>
        </p:nvSpPr>
        <p:spPr>
          <a:xfrm>
            <a:off x="52152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>
              <a:spcBef>
                <a:spcPts val="0"/>
              </a:spcBef>
              <a:buNone/>
              <a:defRPr/>
            </a:lvl1pPr>
            <a:lvl2pPr marL="0" lvl="1" indent="0" algn="l">
              <a:spcBef>
                <a:spcPts val="0"/>
              </a:spcBef>
              <a:buNone/>
              <a:defRPr/>
            </a:lvl2pPr>
            <a:lvl3pPr marL="0" lvl="2" indent="0" algn="l">
              <a:spcBef>
                <a:spcPts val="0"/>
              </a:spcBef>
              <a:buNone/>
              <a:defRPr/>
            </a:lvl3pPr>
            <a:lvl4pPr marL="0" lvl="3" indent="0" algn="l">
              <a:spcBef>
                <a:spcPts val="0"/>
              </a:spcBef>
              <a:buNone/>
              <a:defRPr/>
            </a:lvl4pPr>
            <a:lvl5pPr marL="0" lvl="4" indent="0" algn="l">
              <a:spcBef>
                <a:spcPts val="0"/>
              </a:spcBef>
              <a:buNone/>
              <a:defRPr/>
            </a:lvl5pPr>
            <a:lvl6pPr marL="0" lvl="5" indent="0" algn="l">
              <a:spcBef>
                <a:spcPts val="0"/>
              </a:spcBef>
              <a:buNone/>
              <a:defRPr/>
            </a:lvl6pPr>
            <a:lvl7pPr marL="0" lvl="6" indent="0" algn="l">
              <a:spcBef>
                <a:spcPts val="0"/>
              </a:spcBef>
              <a:buNone/>
              <a:defRPr/>
            </a:lvl7pPr>
            <a:lvl8pPr marL="0" lvl="7" indent="0" algn="l">
              <a:spcBef>
                <a:spcPts val="0"/>
              </a:spcBef>
              <a:buNone/>
              <a:defRPr/>
            </a:lvl8pPr>
            <a:lvl9pPr marL="0" lvl="8" indent="0" algn="l">
              <a:spcBef>
                <a:spcPts val="0"/>
              </a:spcBef>
              <a:buNone/>
              <a:defRPr/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81" name="Google Shape;81;p80"/>
          <p:cNvSpPr txBox="1">
            <a:spLocks noGrp="1"/>
          </p:cNvSpPr>
          <p:nvPr>
            <p:ph type="body" idx="2"/>
          </p:nvPr>
        </p:nvSpPr>
        <p:spPr>
          <a:xfrm>
            <a:off x="5107801" y="204654"/>
            <a:ext cx="3831218" cy="2718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E05729"/>
              </a:buClr>
              <a:buSzPts val="1800"/>
              <a:buNone/>
              <a:defRPr sz="1800" b="1">
                <a:solidFill>
                  <a:srgbClr val="E05729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59619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7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7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3" name="Google Shape;13;p97"/>
          <p:cNvSpPr txBox="1">
            <a:spLocks noGrp="1"/>
          </p:cNvSpPr>
          <p:nvPr>
            <p:ph type="dt" idx="10"/>
          </p:nvPr>
        </p:nvSpPr>
        <p:spPr>
          <a:xfrm>
            <a:off x="6381750" y="4629944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88" r:id="rId13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7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7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3" name="Google Shape;13;p97"/>
          <p:cNvSpPr txBox="1">
            <a:spLocks noGrp="1"/>
          </p:cNvSpPr>
          <p:nvPr>
            <p:ph type="dt" idx="10"/>
          </p:nvPr>
        </p:nvSpPr>
        <p:spPr>
          <a:xfrm>
            <a:off x="6381750" y="4629944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s-ES"/>
              <a:t>18.03.21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23732293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9"/>
          <p:cNvSpPr txBox="1">
            <a:spLocks noGrp="1"/>
          </p:cNvSpPr>
          <p:nvPr>
            <p:ph type="title"/>
          </p:nvPr>
        </p:nvSpPr>
        <p:spPr>
          <a:xfrm>
            <a:off x="628650" y="273845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69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69"/>
          <p:cNvSpPr txBox="1">
            <a:spLocks noGrp="1"/>
          </p:cNvSpPr>
          <p:nvPr>
            <p:ph type="sldNum" idx="12"/>
          </p:nvPr>
        </p:nvSpPr>
        <p:spPr>
          <a:xfrm>
            <a:off x="546180" y="4571570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  <p:sp>
        <p:nvSpPr>
          <p:cNvPr id="13" name="Google Shape;13;p69"/>
          <p:cNvSpPr txBox="1">
            <a:spLocks noGrp="1"/>
          </p:cNvSpPr>
          <p:nvPr>
            <p:ph type="dt" idx="10"/>
          </p:nvPr>
        </p:nvSpPr>
        <p:spPr>
          <a:xfrm>
            <a:off x="6381750" y="4629944"/>
            <a:ext cx="2133600" cy="2746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3634219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2" name="Rectangle 198">
            <a:extLst>
              <a:ext uri="{FF2B5EF4-FFF2-40B4-BE49-F238E27FC236}">
                <a16:creationId xmlns:a16="http://schemas.microsoft.com/office/drawing/2014/main" id="{16F9E488-0718-4E1E-9D12-26779F6062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2053" name="Freeform: Shape 200">
            <a:extLst>
              <a:ext uri="{FF2B5EF4-FFF2-40B4-BE49-F238E27FC236}">
                <a16:creationId xmlns:a16="http://schemas.microsoft.com/office/drawing/2014/main" id="{09BE6F6B-19BD-443C-8FB0-FA45F13F9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654628" cy="5143156"/>
          </a:xfrm>
          <a:custGeom>
            <a:avLst/>
            <a:gdLst>
              <a:gd name="connsiteX0" fmla="*/ 0 w 7539505"/>
              <a:gd name="connsiteY0" fmla="*/ 0 h 6857542"/>
              <a:gd name="connsiteX1" fmla="*/ 6392832 w 7539505"/>
              <a:gd name="connsiteY1" fmla="*/ 0 h 6857542"/>
              <a:gd name="connsiteX2" fmla="*/ 6405479 w 7539505"/>
              <a:gd name="connsiteY2" fmla="*/ 31774 h 6857542"/>
              <a:gd name="connsiteX3" fmla="*/ 7460487 w 7539505"/>
              <a:gd name="connsiteY3" fmla="*/ 2682457 h 6857542"/>
              <a:gd name="connsiteX4" fmla="*/ 7460487 w 7539505"/>
              <a:gd name="connsiteY4" fmla="*/ 3752208 h 6857542"/>
              <a:gd name="connsiteX5" fmla="*/ 6302983 w 7539505"/>
              <a:gd name="connsiteY5" fmla="*/ 6660411 h 6857542"/>
              <a:gd name="connsiteX6" fmla="*/ 6224521 w 7539505"/>
              <a:gd name="connsiteY6" fmla="*/ 6857542 h 6857542"/>
              <a:gd name="connsiteX7" fmla="*/ 0 w 7539505"/>
              <a:gd name="connsiteY7" fmla="*/ 6857542 h 68575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39505" h="6857542">
                <a:moveTo>
                  <a:pt x="0" y="0"/>
                </a:moveTo>
                <a:lnTo>
                  <a:pt x="6392832" y="0"/>
                </a:lnTo>
                <a:lnTo>
                  <a:pt x="6405479" y="31774"/>
                </a:lnTo>
                <a:cubicBezTo>
                  <a:pt x="7460487" y="2682457"/>
                  <a:pt x="7460487" y="2682457"/>
                  <a:pt x="7460487" y="2682457"/>
                </a:cubicBezTo>
                <a:cubicBezTo>
                  <a:pt x="7565845" y="2988100"/>
                  <a:pt x="7565845" y="3446565"/>
                  <a:pt x="7460487" y="3752208"/>
                </a:cubicBezTo>
                <a:cubicBezTo>
                  <a:pt x="6976500" y="4968215"/>
                  <a:pt x="6598385" y="5918220"/>
                  <a:pt x="6302983" y="6660411"/>
                </a:cubicBezTo>
                <a:lnTo>
                  <a:pt x="6224521" y="6857542"/>
                </a:lnTo>
                <a:lnTo>
                  <a:pt x="0" y="6857542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  <a:sym typeface="Arial"/>
            </a:endParaRPr>
          </a:p>
        </p:txBody>
      </p:sp>
      <p:sp>
        <p:nvSpPr>
          <p:cNvPr id="96" name="Google Shape;96;p1"/>
          <p:cNvSpPr txBox="1">
            <a:spLocks noGrp="1"/>
          </p:cNvSpPr>
          <p:nvPr>
            <p:ph type="title"/>
          </p:nvPr>
        </p:nvSpPr>
        <p:spPr>
          <a:xfrm>
            <a:off x="565744" y="893794"/>
            <a:ext cx="4180109" cy="2762729"/>
          </a:xfrm>
        </p:spPr>
        <p:txBody>
          <a:bodyPr spcFirstLastPara="1" vert="horz" lIns="91440" tIns="45720" rIns="91440" bIns="45720" rtlCol="0" anchor="b" anchorCtr="0">
            <a:normAutofit fontScale="90000"/>
          </a:bodyPr>
          <a:lstStyle/>
          <a:p>
            <a:pPr marL="0" lvl="0" indent="0" algn="r">
              <a:spcBef>
                <a:spcPct val="0"/>
              </a:spcBef>
              <a:spcAft>
                <a:spcPts val="0"/>
              </a:spcAft>
              <a:buClr>
                <a:schemeClr val="lt1"/>
              </a:buClr>
              <a:buSzPct val="100000"/>
            </a:pP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CURSO ESPECIALIZACIÓN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IA Y BIG DATA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MÓDULO: SISTEMAS DE APRENDIZAJE AUTOMÁTICO</a:t>
            </a: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b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r>
              <a:rPr lang="en-US" sz="2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U2: PREPARACIÓN DE DATOS. TRANSFORMACIONES.</a:t>
            </a:r>
          </a:p>
        </p:txBody>
      </p:sp>
      <p:grpSp>
        <p:nvGrpSpPr>
          <p:cNvPr id="2054" name="Group 202">
            <a:extLst>
              <a:ext uri="{FF2B5EF4-FFF2-40B4-BE49-F238E27FC236}">
                <a16:creationId xmlns:a16="http://schemas.microsoft.com/office/drawing/2014/main" id="{26B5F537-3960-4E10-AE03-D496B4CD5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0060" y="480061"/>
            <a:ext cx="846286" cy="635405"/>
            <a:chOff x="5307830" y="325570"/>
            <a:chExt cx="1128382" cy="847206"/>
          </a:xfrm>
        </p:grpSpPr>
        <p:sp>
          <p:nvSpPr>
            <p:cNvPr id="204" name="Freeform 5">
              <a:extLst>
                <a:ext uri="{FF2B5EF4-FFF2-40B4-BE49-F238E27FC236}">
                  <a16:creationId xmlns:a16="http://schemas.microsoft.com/office/drawing/2014/main" id="{4F9A94D1-9FCD-4778-A663-68663B4D3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307830" y="577396"/>
              <a:ext cx="675351" cy="595380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  <p:sp>
          <p:nvSpPr>
            <p:cNvPr id="205" name="Freeform 5">
              <a:extLst>
                <a:ext uri="{FF2B5EF4-FFF2-40B4-BE49-F238E27FC236}">
                  <a16:creationId xmlns:a16="http://schemas.microsoft.com/office/drawing/2014/main" id="{BB080F40-90BD-4CAA-9447-8DC3FCD0F2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5720" y="325570"/>
              <a:ext cx="550492" cy="485306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endParaRPr>
            </a:p>
          </p:txBody>
        </p:sp>
      </p:grpSp>
      <p:pic>
        <p:nvPicPr>
          <p:cNvPr id="7" name="Imagen7" descr="Texto&#10;&#10;Descripción generada automáticamente con confianza media">
            <a:extLst>
              <a:ext uri="{FF2B5EF4-FFF2-40B4-BE49-F238E27FC236}">
                <a16:creationId xmlns:a16="http://schemas.microsoft.com/office/drawing/2014/main" id="{6BEB905B-7BF6-46F4-BC04-28495397A7F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6088711" y="1331561"/>
            <a:ext cx="2587192" cy="633861"/>
          </a:xfrm>
          <a:prstGeom prst="rect">
            <a:avLst/>
          </a:prstGeom>
        </p:spPr>
      </p:pic>
      <p:pic>
        <p:nvPicPr>
          <p:cNvPr id="2049" name="Imagen 2" descr="Texto&#10;&#10;Descripción generada automáticamente">
            <a:extLst>
              <a:ext uri="{FF2B5EF4-FFF2-40B4-BE49-F238E27FC236}">
                <a16:creationId xmlns:a16="http://schemas.microsoft.com/office/drawing/2014/main" id="{1BB9EF63-1328-496F-87C3-4DC0CC2F1B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341" y="2877740"/>
            <a:ext cx="2580562" cy="12653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0 Imagen" descr="abastos.jpg">
            <a:extLst>
              <a:ext uri="{FF2B5EF4-FFF2-40B4-BE49-F238E27FC236}">
                <a16:creationId xmlns:a16="http://schemas.microsoft.com/office/drawing/2014/main" id="{22DA3AC4-3351-495F-A815-27159DE80D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alphaModFix amt="9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514" y="4192476"/>
            <a:ext cx="552450" cy="552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197594" y="611207"/>
            <a:ext cx="5351620" cy="572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Arial"/>
              <a:buNone/>
            </a:pPr>
            <a:r>
              <a:rPr lang="es-ES" dirty="0">
                <a:solidFill>
                  <a:schemeClr val="accent2">
                    <a:lumMod val="75000"/>
                  </a:schemeClr>
                </a:solidFill>
              </a:rPr>
              <a:t>Índice</a:t>
            </a:r>
            <a:endParaRPr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71401" y="706388"/>
            <a:ext cx="438058" cy="381852"/>
          </a:xfrm>
          <a:prstGeom prst="chevron">
            <a:avLst>
              <a:gd name="adj" fmla="val 50000"/>
            </a:avLst>
          </a:prstGeom>
          <a:solidFill>
            <a:srgbClr val="E85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71401" y="1556107"/>
            <a:ext cx="7855911" cy="341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lvl="0" indent="-342900" algn="just">
              <a:buFont typeface="+mj-lt"/>
              <a:buAutoNum type="arabicPeriod"/>
            </a:pPr>
            <a:r>
              <a:rPr lang="es-ES" sz="1800" kern="50" dirty="0">
                <a:effectLst/>
                <a:latin typeface="Times New Roman" panose="02020603050405020304" pitchFamily="18" charset="0"/>
                <a:ea typeface="Arial Unicode MS"/>
              </a:rPr>
              <a:t>Introducción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sz="1800" kern="50" dirty="0">
                <a:latin typeface="Times New Roman" panose="02020603050405020304" pitchFamily="18" charset="0"/>
                <a:ea typeface="Arial Unicode MS"/>
              </a:rPr>
              <a:t>Integración de datos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s-ES" sz="1800" kern="50" dirty="0">
                <a:latin typeface="Times New Roman" panose="02020603050405020304" pitchFamily="18" charset="0"/>
                <a:ea typeface="Arial Unicode MS"/>
              </a:rPr>
              <a:t>Preparación de datos</a:t>
            </a:r>
            <a:endParaRPr lang="es-ES" sz="1800" kern="50" dirty="0">
              <a:effectLst/>
              <a:latin typeface="Times New Roman" panose="02020603050405020304" pitchFamily="18" charset="0"/>
              <a:ea typeface="Arial Unicode MS"/>
            </a:endParaRP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effectLst/>
                <a:latin typeface="Times New Roman" panose="02020603050405020304" pitchFamily="18" charset="0"/>
                <a:ea typeface="Arial Unicode MS"/>
              </a:rPr>
              <a:t>Comprensión de los datos</a:t>
            </a: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latin typeface="Times New Roman" panose="02020603050405020304" pitchFamily="18" charset="0"/>
                <a:ea typeface="Arial Unicode MS"/>
              </a:rPr>
              <a:t>Visualización de los datos</a:t>
            </a:r>
            <a:endParaRPr lang="es-ES" sz="1800" kern="50" dirty="0">
              <a:effectLst/>
              <a:latin typeface="Times New Roman" panose="02020603050405020304" pitchFamily="18" charset="0"/>
              <a:ea typeface="Arial Unicode MS"/>
            </a:endParaRP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effectLst/>
                <a:latin typeface="Times New Roman" panose="02020603050405020304" pitchFamily="18" charset="0"/>
                <a:ea typeface="Arial Unicode MS"/>
              </a:rPr>
              <a:t>Limpieza de datos</a:t>
            </a: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latin typeface="Times New Roman" panose="02020603050405020304" pitchFamily="18" charset="0"/>
                <a:ea typeface="Arial Unicode MS"/>
              </a:rPr>
              <a:t>Selección de datos</a:t>
            </a:r>
          </a:p>
          <a:p>
            <a:pPr marL="342900" lvl="0" indent="-342900" algn="just">
              <a:buFont typeface="+mj-lt"/>
              <a:buAutoNum type="arabicPeriod" startAt="4"/>
            </a:pPr>
            <a:r>
              <a:rPr lang="es-ES" sz="1800" kern="50" dirty="0">
                <a:effectLst/>
                <a:latin typeface="Times New Roman" panose="02020603050405020304" pitchFamily="18" charset="0"/>
                <a:ea typeface="Arial Unicode MS"/>
              </a:rPr>
              <a:t>Transformación</a:t>
            </a: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effectLst/>
                <a:latin typeface="Times New Roman" panose="02020603050405020304" pitchFamily="18" charset="0"/>
                <a:ea typeface="Arial Unicode MS"/>
              </a:rPr>
              <a:t>Discretización de datos</a:t>
            </a: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latin typeface="Times New Roman" panose="02020603050405020304" pitchFamily="18" charset="0"/>
                <a:ea typeface="Arial Unicode MS"/>
              </a:rPr>
              <a:t>Normalización de datos</a:t>
            </a:r>
            <a:endParaRPr lang="es-ES" sz="1800" kern="50" dirty="0">
              <a:effectLst/>
              <a:latin typeface="Times New Roman" panose="02020603050405020304" pitchFamily="18" charset="0"/>
              <a:ea typeface="Arial Unicode MS"/>
            </a:endParaRPr>
          </a:p>
          <a:p>
            <a:pPr marL="572400" lvl="0" indent="-342900" algn="just">
              <a:buFont typeface="Arial" panose="020B0604020202020204" pitchFamily="34" charset="0"/>
              <a:buChar char="•"/>
            </a:pPr>
            <a:r>
              <a:rPr lang="es-ES" sz="1800" kern="50" dirty="0">
                <a:effectLst/>
                <a:latin typeface="Times New Roman" panose="02020603050405020304" pitchFamily="18" charset="0"/>
                <a:ea typeface="Arial Unicode MS"/>
              </a:rPr>
              <a:t>Reducción de la dimensionalidad</a:t>
            </a:r>
          </a:p>
          <a:p>
            <a:pPr marL="342900" marR="0" lvl="0" indent="-34290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Symbol" panose="05050102010706020507" pitchFamily="18" charset="2"/>
              <a:buChar char=""/>
              <a:tabLst/>
              <a:defRPr/>
            </a:pPr>
            <a:endParaRPr kumimoji="0" lang="es-ES" sz="1800" b="0" i="0" u="none" strike="noStrike" kern="5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Arial Unicode MS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031384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6" name="Google Shape;106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17746" y="1008519"/>
            <a:ext cx="6534726" cy="3126461"/>
          </a:xfrm>
          <a:prstGeom prst="rect">
            <a:avLst/>
          </a:prstGeom>
          <a:gradFill>
            <a:gsLst>
              <a:gs pos="0">
                <a:srgbClr val="2E5980"/>
              </a:gs>
              <a:gs pos="50000">
                <a:srgbClr val="4481B9"/>
              </a:gs>
              <a:gs pos="100000">
                <a:srgbClr val="519BDE"/>
              </a:gs>
            </a:gsLst>
            <a:lin ang="2700000" scaled="0"/>
          </a:gradFill>
          <a:ln>
            <a:noFill/>
          </a:ln>
        </p:spPr>
      </p:pic>
      <p:sp>
        <p:nvSpPr>
          <p:cNvPr id="107" name="Google Shape;107;p4"/>
          <p:cNvSpPr/>
          <p:nvPr/>
        </p:nvSpPr>
        <p:spPr>
          <a:xfrm>
            <a:off x="1317746" y="1748121"/>
            <a:ext cx="2808312" cy="1890210"/>
          </a:xfrm>
          <a:prstGeom prst="ellipse">
            <a:avLst/>
          </a:prstGeom>
          <a:noFill/>
          <a:ln w="762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35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 txBox="1">
            <a:spLocks noGrp="1"/>
          </p:cNvSpPr>
          <p:nvPr>
            <p:ph type="title"/>
          </p:nvPr>
        </p:nvSpPr>
        <p:spPr>
          <a:xfrm>
            <a:off x="1317746" y="396943"/>
            <a:ext cx="2901714" cy="4748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</a:pPr>
            <a:r>
              <a:rPr lang="es-ES" sz="2800" b="1" dirty="0">
                <a:solidFill>
                  <a:srgbClr val="E05729"/>
                </a:solidFill>
                <a:latin typeface="Arial"/>
                <a:ea typeface="Arial"/>
                <a:cs typeface="Arial"/>
                <a:sym typeface="Arial"/>
              </a:rPr>
              <a:t>1.- Introducción</a:t>
            </a:r>
            <a:endParaRPr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0211CED6-220F-8FEB-E0F3-5B67EA4213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026" y="442330"/>
            <a:ext cx="438950" cy="38408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195441" y="440574"/>
            <a:ext cx="7948559" cy="52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Arial"/>
              <a:buNone/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</a:rPr>
              <a:t>4.- Transformación de datos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71401" y="440574"/>
            <a:ext cx="438058" cy="381852"/>
          </a:xfrm>
          <a:prstGeom prst="chevron">
            <a:avLst>
              <a:gd name="adj" fmla="val 50000"/>
            </a:avLst>
          </a:prstGeom>
          <a:solidFill>
            <a:srgbClr val="E85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02027" y="1173223"/>
            <a:ext cx="8139945" cy="39702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Engloba cualquier proceso que modifique la forma de los datos.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dirty="0">
              <a:solidFill>
                <a:srgbClr val="5D5D5D"/>
              </a:solidFill>
              <a:latin typeface="Arial" panose="020B060402020202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Técnicas que transforman un conjunto de atributos en otros. Tipos: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dirty="0">
              <a:solidFill>
                <a:srgbClr val="5D5D5D"/>
              </a:solidFill>
              <a:latin typeface="Arial" panose="020B0604020202020204" pitchFamily="34" charset="0"/>
            </a:endParaRPr>
          </a:p>
          <a:p>
            <a:pPr marL="285750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Generan  nuevos atributos</a:t>
            </a:r>
          </a:p>
          <a:p>
            <a:pPr marL="285750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Cambian el tipo o el rango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dirty="0">
              <a:solidFill>
                <a:srgbClr val="5D5D5D"/>
              </a:solidFill>
              <a:latin typeface="Arial" panose="020B060402020202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En muchas ocasiones las operaciones de transformación y reducción de datos marcan el éxito o fracaso del proceso.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dirty="0">
              <a:solidFill>
                <a:srgbClr val="5D5D5D"/>
              </a:solidFill>
              <a:latin typeface="Arial" panose="020B0604020202020204" pitchFamily="34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Como resultado de esta selección y limpieza se obtiene la </a:t>
            </a:r>
            <a:r>
              <a:rPr lang="es-ES" sz="1800" b="1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vista </a:t>
            </a:r>
            <a:r>
              <a:rPr lang="es-ES" sz="1800" b="1" i="0" u="none" strike="noStrike" dirty="0" err="1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minable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, donde están las diversas fuentes integradas, limpias y los atributos relevantes seleccionados.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4525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195441" y="440574"/>
            <a:ext cx="7948559" cy="52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Arial"/>
              <a:buNone/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</a:rPr>
              <a:t>4.- Transformación de datos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71401" y="440574"/>
            <a:ext cx="438058" cy="381852"/>
          </a:xfrm>
          <a:prstGeom prst="chevron">
            <a:avLst>
              <a:gd name="adj" fmla="val 50000"/>
            </a:avLst>
          </a:prstGeom>
          <a:solidFill>
            <a:srgbClr val="E85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502027" y="1045632"/>
            <a:ext cx="8139945" cy="42472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Arial" panose="020B0604020202020204" pitchFamily="34" charset="0"/>
              </a:rPr>
              <a:t>Consideraciones: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 atributos deben estar en el tipo más adecuado para los algoritmos que se utilizarán.  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muchas ocasiones es conveniente la conversión de tipos para acomodarlos al tipo de algoritmo que utilizamos según las necesidades.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 pretende preparar la información para poder procesarse por los algoritmos de minería de datos, y reducir la cantidad de información a tratar en la fase de minería de datos. 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 necesario comprender como trabajan los algoritmos de minería de datos que se utilizan para saber cómo preparar los datos.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23030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 txBox="1">
            <a:spLocks noGrp="1"/>
          </p:cNvSpPr>
          <p:nvPr>
            <p:ph type="title"/>
          </p:nvPr>
        </p:nvSpPr>
        <p:spPr>
          <a:xfrm>
            <a:off x="1195441" y="440574"/>
            <a:ext cx="7948559" cy="5255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4400"/>
              <a:buFont typeface="Arial"/>
              <a:buNone/>
            </a:pPr>
            <a:r>
              <a:rPr lang="es-ES" sz="2400" dirty="0">
                <a:solidFill>
                  <a:schemeClr val="accent2">
                    <a:lumMod val="75000"/>
                  </a:schemeClr>
                </a:solidFill>
              </a:rPr>
              <a:t>4.- Transformación de datos</a:t>
            </a:r>
            <a:endParaRPr sz="2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03" name="Google Shape;103;p2"/>
          <p:cNvSpPr/>
          <p:nvPr/>
        </p:nvSpPr>
        <p:spPr>
          <a:xfrm>
            <a:off x="671401" y="440574"/>
            <a:ext cx="438058" cy="381852"/>
          </a:xfrm>
          <a:prstGeom prst="chevron">
            <a:avLst>
              <a:gd name="adj" fmla="val 50000"/>
            </a:avLst>
          </a:prstGeom>
          <a:solidFill>
            <a:srgbClr val="E8561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693414" y="1534729"/>
            <a:ext cx="7663778" cy="2862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r>
              <a:rPr lang="es-ES" sz="1800" b="1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Tipos de transformaciones: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Transformaciones globales: p.ej. filas por columnas.</a:t>
            </a:r>
          </a:p>
          <a:p>
            <a:pPr algn="just" rtl="0" fontAlgn="base">
              <a:spcBef>
                <a:spcPts val="0"/>
              </a:spcBef>
              <a:spcAft>
                <a:spcPts val="0"/>
              </a:spcAft>
            </a:pPr>
            <a:endParaRPr lang="es-E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 rtl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Creación o modificación de atributos:</a:t>
            </a:r>
          </a:p>
          <a:p>
            <a:pPr marL="572400" lvl="1" indent="-285750" algn="just" fontAlgn="base">
              <a:buFont typeface="Arial" panose="020B0604020202020204" pitchFamily="34" charset="0"/>
              <a:buChar char="•"/>
            </a:pPr>
            <a:endParaRPr lang="es-E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2400" lvl="1" indent="-285750" algn="just" fontAlgn="base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Discretización y </a:t>
            </a:r>
            <a:r>
              <a:rPr lang="es-E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Numerización</a:t>
            </a: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2400" lvl="1" indent="-285750" algn="just" fontAlgn="base">
              <a:buFont typeface="Arial" panose="020B0604020202020204" pitchFamily="34" charset="0"/>
              <a:buChar char="•"/>
            </a:pPr>
            <a:r>
              <a:rPr lang="es-E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</a:t>
            </a:r>
          </a:p>
          <a:p>
            <a:pPr marL="572400" lvl="1" indent="-285750" algn="just" fontAlgn="base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Creación de características</a:t>
            </a:r>
          </a:p>
          <a:p>
            <a:pPr marL="572400" lvl="1" indent="-285750" algn="just" fontAlgn="base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Reducción de dimensionalidad</a:t>
            </a:r>
            <a:endParaRPr lang="es-E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033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046601" y="213286"/>
            <a:ext cx="5927075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4.1.- Intercambio de dimensiones 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308472" y="738250"/>
            <a:ext cx="839485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1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Intercambio de Dimensiones 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(filas por columnas):</a:t>
            </a:r>
          </a:p>
          <a:p>
            <a:pPr algn="just"/>
            <a:endParaRPr lang="es-ES" sz="18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0" i="0" u="none" strike="noStrike" dirty="0" err="1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</a:t>
            </a:r>
            <a:r>
              <a:rPr lang="es-ES" sz="16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Una tabla de cestas de la compra, donde cada atributo indica si el producto se ha comprado o no.</a:t>
            </a:r>
          </a:p>
          <a:p>
            <a:pPr algn="just"/>
            <a:endParaRPr lang="es-ES" sz="16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Objetivo: Ver si dos productos se compran conjuntamente (técnica: reglas de asociación). </a:t>
            </a:r>
          </a:p>
          <a:p>
            <a:pPr algn="just"/>
            <a:endParaRPr lang="es-ES" sz="16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6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Si se intercambian filas por columnas sólo es necesario combinar dos filas para saber si hay asociación.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F50C03BF-E596-4BE3-9D8A-A91B90C136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0023" y="2808486"/>
            <a:ext cx="5819486" cy="2112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27C6BF2-90AB-387B-4B03-1071A0EAC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480" y="232708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509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266940" y="314855"/>
            <a:ext cx="5279594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4.2.- Discretización de datos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818707" y="921565"/>
            <a:ext cx="7506586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Proceso mediante el cual los valores de una variable continua se incluyen en contenedores, intervalos o grupos, con el objetivo de que haya un número limitado de estados posibles. Los contenedores se tratarán entonces como si fueran categorías.</a:t>
            </a:r>
          </a:p>
          <a:p>
            <a:pPr algn="just"/>
            <a:endParaRPr lang="es-ES" sz="180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 debe realizar cuando: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 error en la medida puede ser grande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 umbrales significativos (</a:t>
            </a:r>
            <a:r>
              <a:rPr lang="es-ES" sz="1800" dirty="0" err="1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p.e</a:t>
            </a: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notas (diferencia entre 4.9 y 5) o rangos de edad (menor o mayor de edad))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ciertas zonas el rango de valores es más importante  que en otras (interpretación no lineal)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Aplicar ciertas técnicas de análisis predictivo que sólo soportan atributos nominales (</a:t>
            </a:r>
            <a:r>
              <a:rPr lang="es-ES" sz="1800" dirty="0" err="1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p.e</a:t>
            </a: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reglas de asociación)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E4E3889-B539-CA8B-8A7E-A003C5D4EB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232" y="314855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4124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098169" y="122815"/>
            <a:ext cx="5257561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4.3.- </a:t>
            </a:r>
            <a:r>
              <a:rPr lang="es-ES" sz="2800" b="1" dirty="0" err="1">
                <a:solidFill>
                  <a:srgbClr val="E05729"/>
                </a:solidFill>
              </a:rPr>
              <a:t>Numerización</a:t>
            </a:r>
            <a:r>
              <a:rPr lang="es-ES" sz="2800" b="1" dirty="0">
                <a:solidFill>
                  <a:srgbClr val="E05729"/>
                </a:solidFill>
              </a:rPr>
              <a:t> de datos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59219" y="506896"/>
            <a:ext cx="7846828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Proceso inverso a la discretización. Convierte un atributo nominal en numérico.</a:t>
            </a:r>
            <a:b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s-ES" sz="1800" b="0" i="0" u="none" strike="noStrike" dirty="0">
              <a:solidFill>
                <a:srgbClr val="5D5D5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Objetivo: Cuando se quieren aplicar ciertas técnicas de MD que sólo soportan atributos numéricos (</a:t>
            </a:r>
            <a:r>
              <a:rPr lang="es-ES" sz="1800" b="0" i="0" u="none" strike="noStrike" dirty="0" err="1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p.e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Regresión, métodos basados en distancias).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ipos: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0" i="0" u="none" strike="noStrike" dirty="0" err="1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Numerización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s-ES" sz="1800" b="1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a n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”: Si una variable nominal x tiene posibles valores creamos n variables numéricas, con valores 0 o 1 dependiendo de si la variable nominal toma ese valor o no.</a:t>
            </a:r>
          </a:p>
          <a:p>
            <a:pPr marL="284400"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EJEMPLO: Convertir el campo “tarjeta” que contiene los valores: { “VISA”, “4B”, “</a:t>
            </a:r>
            <a:r>
              <a:rPr lang="es-ES" sz="1800" b="0" i="0" u="none" strike="noStrike" dirty="0" err="1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Amer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”, “Maestro” } en cuatro atributos binarios.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0" i="0" u="none" strike="noStrike" dirty="0" err="1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Numerización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s-ES" sz="1800" b="1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 a 1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”: Se aplica si existe un cierto orden o magnitud en los valores del atributo nominal.</a:t>
            </a:r>
          </a:p>
          <a:p>
            <a:pPr marL="284400"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EJEMPLOS: Si tenemos categorías del estilo {niño, joven, adulto, anciano} podemos crear un único atributo y numerar los valores de 1 a 4. Podemos transformar los estudios de una persona en un nivel de estudios.</a:t>
            </a:r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02535C8-6FBE-01A9-2648-7E4218A5F8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852" y="122815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796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211854" y="358609"/>
            <a:ext cx="5174575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4.4.- Normalización de datos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903767" y="1448365"/>
            <a:ext cx="7378996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 en modificar los datos para lograr que estén en una escala de valores equivalentes que simplifique la comparación entre ellos.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 útil para varios métodos de minería de datos que tienden a quedar sesgados por la influencia de los atributos con valores más altos, distorsionando de esta forma el resultado final.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C2C5104-F404-052F-7EEA-A8103C41B2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740" y="401509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744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244906" y="342900"/>
            <a:ext cx="5213493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4.4.- Normalización de datos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48586" y="1032867"/>
            <a:ext cx="7846828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Algunos métodos son: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 por el máximo: Se dividen los valores de un atributo por el valor máximo de dicho atributo, con la que el rango de valores se queda entre [0,1]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 por la diferencia. Compensa el efecto de la distancia del valor que tratamos con respecto al máximo de los valores observados.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Normalización basada en la desviación estándar. Basada en la desviación estándar.</a:t>
            </a: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BA975B48-6012-3A1E-4767-C4D0658352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5535" y="385800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331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189820" y="314669"/>
            <a:ext cx="4935509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4.5.- Creación de atributos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48586" y="1032867"/>
            <a:ext cx="78468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 otras ocasiones añadir atributos nuevos puede mejorar el proceso de aprendizaje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06FF2112-7131-4501-9FDD-A7AB61ECAC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708" y="1590674"/>
            <a:ext cx="3959520" cy="2256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C686A21B-0788-4E5A-B560-D17EF0F39B94}"/>
              </a:ext>
            </a:extLst>
          </p:cNvPr>
          <p:cNvSpPr txBox="1"/>
          <p:nvPr/>
        </p:nvSpPr>
        <p:spPr>
          <a:xfrm>
            <a:off x="848926" y="3944679"/>
            <a:ext cx="76464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regresión lineal no se aproxima a la solución.</a:t>
            </a:r>
          </a:p>
          <a:p>
            <a:b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Añadiendo un nuevo atributo z=meses^2 se obtiene un buen modelo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A44BDF7-A644-728C-C53E-11D0EBB5FF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586" y="357569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9239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079652" y="315609"/>
            <a:ext cx="4891441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4.5.- Creación de atributos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48586" y="1032867"/>
            <a:ext cx="78468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El conocimiento del dominio es el factor que más determina la creación de buenos atributos derivados. Se recomienda no poner varias combinaciones similares de los mismos atributos.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32515F81-59E4-480A-B1E8-01FDBAC77F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898208"/>
              </p:ext>
            </p:extLst>
          </p:nvPr>
        </p:nvGraphicFramePr>
        <p:xfrm>
          <a:off x="1529599" y="2020639"/>
          <a:ext cx="6210300" cy="2743200"/>
        </p:xfrm>
        <a:graphic>
          <a:graphicData uri="http://schemas.openxmlformats.org/drawingml/2006/table">
            <a:tbl>
              <a:tblPr/>
              <a:tblGrid>
                <a:gridCol w="2486025">
                  <a:extLst>
                    <a:ext uri="{9D8B030D-6E8A-4147-A177-3AD203B41FA5}">
                      <a16:colId xmlns:a16="http://schemas.microsoft.com/office/drawing/2014/main" val="596336727"/>
                    </a:ext>
                  </a:extLst>
                </a:gridCol>
                <a:gridCol w="3724275">
                  <a:extLst>
                    <a:ext uri="{9D8B030D-6E8A-4147-A177-3AD203B41FA5}">
                      <a16:colId xmlns:a16="http://schemas.microsoft.com/office/drawing/2014/main" val="40479101"/>
                    </a:ext>
                  </a:extLst>
                </a:gridCol>
              </a:tblGrid>
              <a:tr h="27622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Atributos derivado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Fórmula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B9B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0050691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BR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IMC (índice de masa corporal)</a:t>
                      </a:r>
                      <a:endParaRPr lang="pt-BR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peso/Altura</a:t>
                      </a:r>
                      <a:r>
                        <a:rPr lang="es-ES" sz="1400" b="0" i="0" u="none" strike="noStrike" baseline="300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9338198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Diferencia primera mamografía y menopausia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Edad 1ª mamografía - Edad menopausia 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4227408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Hombre familiar 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Casado, varón e “hijos&gt;0”</a:t>
                      </a:r>
                      <a:endParaRPr lang="es-ES" dirty="0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152552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Densidad 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Población / Área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8275789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Retardo compra 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Fecha compra – Fecha campaña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7319285"/>
                  </a:ext>
                </a:extLst>
              </a:tr>
              <a:tr h="276225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Beneficios netos 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Ingresos – Gastos – Impuestos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F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07661592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Síntomas SARS </a:t>
                      </a:r>
                      <a:endParaRPr lang="es-ES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s-E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3-de-5 (fiebre alta, vómitos, tos, diarrea, dolor de cabeza)</a:t>
                      </a:r>
                      <a:endParaRPr lang="es-ES" dirty="0">
                        <a:effectLst/>
                      </a:endParaRPr>
                    </a:p>
                  </a:txBody>
                  <a:tcPr marL="66675" marR="66675" marT="38100" marB="38100">
                    <a:lnL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697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E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481799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C2CE7DE2-4ED2-4BB9-8836-50351C8F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599" y="202143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6FC2BC3-EF87-5DAC-DC89-A43033D53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91" y="350612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32647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031042" y="439575"/>
            <a:ext cx="6878357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4.6.- Reducción de la dimensionalidad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48586" y="1032867"/>
            <a:ext cx="784682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veces el método de construcción del modelo elegido en Data </a:t>
            </a:r>
            <a:r>
              <a:rPr lang="es-ES" sz="1800" b="0" i="0" u="none" strike="noStrike" dirty="0" err="1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Mining</a:t>
            </a:r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 puede tratar la cantidad de datos de que disponemos o, simplemente, el tiempo requerido para ello no es el adecuado.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 estos casos: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Reducción del número de atributos a considerar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Reducción del número de casos a tratar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CE7DE2-4ED2-4BB9-8836-50351C8F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599" y="202143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00B5DC0-BC40-5431-7B11-43111EEC71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092" y="439575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966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1222871" y="353776"/>
            <a:ext cx="7076661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4.6.- Reducción del número de atributos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48586" y="1032867"/>
            <a:ext cx="784682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5D5D5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Consiste en encontrar un subconjunto de los atributos originales que permita obtener modelos de la misma calidad que los que se obtendrían utilizando todos los atributos.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Existen dos grandes grupos:</a:t>
            </a:r>
          </a:p>
          <a:p>
            <a:pPr algn="just"/>
            <a:endParaRPr lang="es-ES" sz="1800" dirty="0">
              <a:solidFill>
                <a:srgbClr val="5D5D5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 de selección de atributos. Básicamente consiste en encontrar métricas que indiquen que tributos se pueden ignorar en la creación del modelo sin sufrir una considerable pérdida de información.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Fusión y creación de nuevos atributos. El método de análisis de componentes principales (Principal </a:t>
            </a:r>
            <a:r>
              <a:rPr lang="es-ES" sz="1800" dirty="0" err="1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Component</a:t>
            </a: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sz="1800" dirty="0" err="1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  <a:r>
              <a:rPr lang="es-ES" sz="1800" dirty="0">
                <a:solidFill>
                  <a:srgbClr val="5D5D5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PCA) es uno de los métodos más conocidos.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CE7DE2-4ED2-4BB9-8836-50351C8F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599" y="202143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DDABB31-0FE9-94B1-9203-160394CBE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586" y="396676"/>
            <a:ext cx="438950" cy="38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12233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/>
        </p:nvSpPr>
        <p:spPr>
          <a:xfrm>
            <a:off x="238539" y="303644"/>
            <a:ext cx="8666922" cy="46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E05729"/>
              </a:buClr>
              <a:buSzPts val="2800"/>
              <a:buFont typeface="Arial"/>
              <a:buNone/>
              <a:tabLst/>
              <a:defRPr/>
            </a:pPr>
            <a:r>
              <a:rPr lang="es-ES" sz="2800" b="1" dirty="0">
                <a:solidFill>
                  <a:srgbClr val="E05729"/>
                </a:solidFill>
              </a:rPr>
              <a:t>PCA</a:t>
            </a:r>
            <a:endParaRPr kumimoji="0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6D6A9F55-D412-4BD2-AFBD-D749213C988A}"/>
              </a:ext>
            </a:extLst>
          </p:cNvPr>
          <p:cNvSpPr txBox="1"/>
          <p:nvPr/>
        </p:nvSpPr>
        <p:spPr>
          <a:xfrm>
            <a:off x="648586" y="900664"/>
            <a:ext cx="784682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Análisis de Componentes Principales</a:t>
            </a:r>
          </a:p>
          <a:p>
            <a:pPr algn="just"/>
            <a:endParaRPr lang="es-ES" sz="1800" b="0" i="0" u="none" strike="noStrike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PCA transforma los m atributos originales en otro conjunto de atributos p donde  p &lt; m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Este proceso se puede ver geométricamente como un cambio de ejes en la representación (proyección)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Los nuevos atributos se generan de tal manera que son independientes entre sí y, además, los primeros tienen más relevancia (más contenido de información) que los últimos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Propósito: Transformar una matriz X de m variables en otra matriz Y de p variables virtuales que no tienen correlación entre ellas ordenadas de mayor a menor varianza. Dicho de otro modo, reducir la dimensionalidad de un </a:t>
            </a:r>
            <a:r>
              <a:rPr lang="es-ES" sz="1800" b="0" i="0" u="none" strike="noStrike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encontrando un conjunto de variables más pequeña que el original que mantenga casi toda la información de los datos originales.</a:t>
            </a:r>
            <a:endParaRPr lang="es-E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2CE7DE2-4ED2-4BB9-8836-50351C8FF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9599" y="2021433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19528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96"/>
          <p:cNvSpPr txBox="1"/>
          <p:nvPr/>
        </p:nvSpPr>
        <p:spPr>
          <a:xfrm>
            <a:off x="1793630" y="2364001"/>
            <a:ext cx="5556600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452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0" dirty="0">
                <a:solidFill>
                  <a:schemeClr val="tx1"/>
                </a:solidFill>
                <a:latin typeface="Arial"/>
                <a:ea typeface="Arial"/>
                <a:cs typeface="Arial"/>
                <a:sym typeface="Arial"/>
              </a:rPr>
              <a:t>Gracias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492DCC2-832C-47DE-911E-1DF92139660F}"/>
              </a:ext>
            </a:extLst>
          </p:cNvPr>
          <p:cNvSpPr txBox="1"/>
          <p:nvPr/>
        </p:nvSpPr>
        <p:spPr>
          <a:xfrm>
            <a:off x="2286000" y="24191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 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A71E54D-0AE3-478A-AD9C-34A4BF1C76D9}"/>
              </a:ext>
            </a:extLst>
          </p:cNvPr>
          <p:cNvSpPr txBox="1"/>
          <p:nvPr/>
        </p:nvSpPr>
        <p:spPr>
          <a:xfrm>
            <a:off x="2286000" y="2419191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0" dirty="0">
                <a:effectLst/>
              </a:rPr>
              <a:t> </a:t>
            </a:r>
            <a:endParaRPr lang="es-E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11363</TotalTime>
  <Words>1249</Words>
  <Application>Microsoft Office PowerPoint</Application>
  <PresentationFormat>Presentación en pantalla (16:9)</PresentationFormat>
  <Paragraphs>130</Paragraphs>
  <Slides>17</Slides>
  <Notes>17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3</vt:i4>
      </vt:variant>
      <vt:variant>
        <vt:lpstr>Títulos de diapositiva</vt:lpstr>
      </vt:variant>
      <vt:variant>
        <vt:i4>17</vt:i4>
      </vt:variant>
    </vt:vector>
  </HeadingPairs>
  <TitlesOfParts>
    <vt:vector size="25" baseType="lpstr">
      <vt:lpstr>Arial</vt:lpstr>
      <vt:lpstr>Arial Unicode MS</vt:lpstr>
      <vt:lpstr>Calibri</vt:lpstr>
      <vt:lpstr>Symbol</vt:lpstr>
      <vt:lpstr>Times New Roman</vt:lpstr>
      <vt:lpstr>Tema de Office</vt:lpstr>
      <vt:lpstr>1_Tema de Office</vt:lpstr>
      <vt:lpstr>2_Tema de Office</vt:lpstr>
      <vt:lpstr>   CURSO ESPECIALIZACIÓN IA Y BIG DATA  MÓDULO: SISTEMAS DE APRENDIZAJE AUTOMÁTICO  U2: PREPARACIÓN DE DATOS. TRANSFORMACIONES.</vt:lpstr>
      <vt:lpstr>Índice</vt:lpstr>
      <vt:lpstr>1.- Introducción</vt:lpstr>
      <vt:lpstr>4.- Transformación de datos</vt:lpstr>
      <vt:lpstr>4.- Transformación de datos</vt:lpstr>
      <vt:lpstr>4.- Transformación de datos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Introducción al Análisis Predictivo  Autor: Rafael Pérez Dasí</dc:title>
  <dc:creator>Usuario de Microsoft Office</dc:creator>
  <cp:lastModifiedBy>OLIVA MIGOTTO, EMANUELA ANA</cp:lastModifiedBy>
  <cp:revision>29</cp:revision>
  <dcterms:created xsi:type="dcterms:W3CDTF">2017-03-10T13:15:33Z</dcterms:created>
  <dcterms:modified xsi:type="dcterms:W3CDTF">2023-11-20T09:11:17Z</dcterms:modified>
</cp:coreProperties>
</file>
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Lst>
  <p:sldSz cy="5143500" cx="9144000"/>
  <p:notesSz cx="6858000" cy="9144000"/>
  <p:embeddedFontLst>
    <p:embeddedFont>
      <p:font typeface="Raleway"/>
      <p:regular r:id="rId70"/>
      <p:bold r:id="rId71"/>
      <p:italic r:id="rId72"/>
      <p:boldItalic r:id="rId73"/>
    </p:embeddedFont>
    <p:embeddedFont>
      <p:font typeface="Lato"/>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aleway-boldItalic.fntdata"/><Relationship Id="rId72" Type="http://schemas.openxmlformats.org/officeDocument/2006/relationships/font" Target="fonts/Raleway-italic.fntdata"/><Relationship Id="rId31" Type="http://schemas.openxmlformats.org/officeDocument/2006/relationships/slide" Target="slides/slide26.xml"/><Relationship Id="rId75" Type="http://schemas.openxmlformats.org/officeDocument/2006/relationships/font" Target="fonts/Lato-bold.fntdata"/><Relationship Id="rId30" Type="http://schemas.openxmlformats.org/officeDocument/2006/relationships/slide" Target="slides/slide25.xml"/><Relationship Id="rId74" Type="http://schemas.openxmlformats.org/officeDocument/2006/relationships/font" Target="fonts/Lato-regular.fntdata"/><Relationship Id="rId33" Type="http://schemas.openxmlformats.org/officeDocument/2006/relationships/slide" Target="slides/slide28.xml"/><Relationship Id="rId77" Type="http://schemas.openxmlformats.org/officeDocument/2006/relationships/font" Target="fonts/Lato-boldItalic.fntdata"/><Relationship Id="rId32" Type="http://schemas.openxmlformats.org/officeDocument/2006/relationships/slide" Target="slides/slide27.xml"/><Relationship Id="rId76" Type="http://schemas.openxmlformats.org/officeDocument/2006/relationships/font" Target="fonts/Lato-italic.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aleway-bold.fntdata"/><Relationship Id="rId70" Type="http://schemas.openxmlformats.org/officeDocument/2006/relationships/font" Target="fonts/Raleway-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00929e3eb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00929e3eb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5c7e0324b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5c7e0324b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fa7a5af31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fa7a5af31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fa7a5af31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fa7a5af31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fa7a5af31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fa7a5af31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fa7a5af31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fa7a5af31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fa7a5af31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fa7a5af31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fa7a5af31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fa7a5af31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fa7a5af31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fa7a5af31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fa7a5af31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fa7a5af31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fa7a5af31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fa7a5af31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fa7a5af31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fa7a5af31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fa7a5af31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fa7a5af31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fa7a5af31f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fa7a5af31f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fa7a5af31f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fa7a5af31f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fa7a5af31f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fa7a5af31f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fa7a5af31f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fa7a5af31f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fa7a5af31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fa7a5af31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fa7a5af31f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fa7a5af31f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fa7a5af31f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fa7a5af31f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fa7a5af31f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fa7a5af31f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fa7a5af31f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fa7a5af31f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fa7a5af31f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fa7a5af31f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fa7a5af31f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fa7a5af31f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fa7a5af31f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fa7a5af31f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fa7a5af31f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fa7a5af31f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fa7a5af31f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fa7a5af31f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fa7a5af31f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fa7a5af31f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fa7a5af31f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fa7a5af31f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facfba0d7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facfba0d7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facfba0d7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facfba0d7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facfba0d7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facfba0d7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facfba0d7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facfba0d7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facfba0d7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facfba0d7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facfba0d7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facfba0d7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facfba0d7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facfba0d7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facfba0d7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facfba0d7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facfba0d7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facfba0d7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facfba0d7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facfba0d7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facfba0d7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facfba0d7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facfba0d70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facfba0d70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facfba0d7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facfba0d7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facfba0d7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facfba0d7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facfba0d70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facfba0d70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facfba0d7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facfba0d7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facfba0d7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facfba0d7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facfba0d7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facfba0d7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facfba0d7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facfba0d7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facfba0d70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facfba0d70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facfba0d70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facfba0d70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facfba0d7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facfba0d7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facfba0d70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facfba0d70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facfba0d70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facfba0d70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facfba0d70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facfba0d70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facfba0d70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facfba0d70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facfba0d70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facfba0d70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facfba0d70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facfba0d70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facfba0d70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facfba0d70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facfba0d70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facfba0d70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facfba0d70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facfba0d70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facfba0d70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facfba0d70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facfba0d70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facfba0d70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facfba0d70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facfba0d70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6" name="Google Shape;16;p2"/>
          <p:cNvSpPr txBox="1"/>
          <p:nvPr/>
        </p:nvSpPr>
        <p:spPr>
          <a:xfrm>
            <a:off x="830400" y="4304700"/>
            <a:ext cx="7978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Lato"/>
                <a:ea typeface="Lato"/>
                <a:cs typeface="Lato"/>
                <a:sym typeface="Lato"/>
              </a:rPr>
              <a:t>IES Abastos									  CE Inteligencia Artificial y Big Data</a:t>
            </a:r>
            <a:endParaRPr>
              <a:latin typeface="Lato"/>
              <a:ea typeface="Lato"/>
              <a:cs typeface="Lato"/>
              <a:sym typeface="Lato"/>
            </a:endParaRPr>
          </a:p>
          <a:p>
            <a:pPr indent="0" lvl="0" marL="0" rtl="0" algn="r">
              <a:spcBef>
                <a:spcPts val="0"/>
              </a:spcBef>
              <a:spcAft>
                <a:spcPts val="0"/>
              </a:spcAft>
              <a:buNone/>
            </a:pPr>
            <a:r>
              <a:rPr lang="es">
                <a:latin typeface="Lato"/>
                <a:ea typeface="Lato"/>
                <a:cs typeface="Lato"/>
                <a:sym typeface="Lato"/>
              </a:rPr>
              <a:t>                                                                                         </a:t>
            </a:r>
            <a:r>
              <a:rPr lang="es">
                <a:latin typeface="Lato"/>
                <a:ea typeface="Lato"/>
                <a:cs typeface="Lato"/>
                <a:sym typeface="Lato"/>
              </a:rPr>
              <a:t>Sistemas de Aprendizaje Automático.</a:t>
            </a:r>
            <a:endParaRPr>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31" name="Google Shape;31;p4"/>
          <p:cNvSpPr txBox="1"/>
          <p:nvPr/>
        </p:nvSpPr>
        <p:spPr>
          <a:xfrm>
            <a:off x="729450" y="4631825"/>
            <a:ext cx="7978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latin typeface="Lato"/>
                <a:ea typeface="Lato"/>
                <a:cs typeface="Lato"/>
                <a:sym typeface="Lato"/>
              </a:rPr>
              <a:t>     </a:t>
            </a:r>
            <a:r>
              <a:rPr lang="es" sz="1000">
                <a:latin typeface="Lato"/>
                <a:ea typeface="Lato"/>
                <a:cs typeface="Lato"/>
                <a:sym typeface="Lato"/>
              </a:rPr>
              <a:t>IES Abastos			  		  		    CE Inteligencia Artificial y Big Data/</a:t>
            </a:r>
            <a:r>
              <a:rPr lang="es" sz="1000">
                <a:latin typeface="Lato"/>
                <a:ea typeface="Lato"/>
                <a:cs typeface="Lato"/>
                <a:sym typeface="Lato"/>
              </a:rPr>
              <a:t>Sistemas de Aprendizaje Automático.</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 name="Google Shape;34;p5"/>
          <p:cNvGrpSpPr/>
          <p:nvPr/>
        </p:nvGrpSpPr>
        <p:grpSpPr>
          <a:xfrm>
            <a:off x="830392" y="1191256"/>
            <a:ext cx="745763" cy="45826"/>
            <a:chOff x="4580561" y="2589004"/>
            <a:chExt cx="1064464" cy="25200"/>
          </a:xfrm>
        </p:grpSpPr>
        <p:sp>
          <p:nvSpPr>
            <p:cNvPr id="35" name="Google Shape;35;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8" name="Google Shape;38;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0" name="Google Shape;40;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 name="Google Shape;43;p6"/>
          <p:cNvGrpSpPr/>
          <p:nvPr/>
        </p:nvGrpSpPr>
        <p:grpSpPr>
          <a:xfrm>
            <a:off x="830392" y="1191256"/>
            <a:ext cx="745763" cy="45826"/>
            <a:chOff x="4580561" y="2589004"/>
            <a:chExt cx="1064464" cy="25200"/>
          </a:xfrm>
        </p:grpSpPr>
        <p:sp>
          <p:nvSpPr>
            <p:cNvPr id="44" name="Google Shape;44;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7" name="Google Shape;47;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 name="Google Shape;50;p7"/>
          <p:cNvGrpSpPr/>
          <p:nvPr/>
        </p:nvGrpSpPr>
        <p:grpSpPr>
          <a:xfrm>
            <a:off x="830392" y="1191256"/>
            <a:ext cx="745763" cy="45826"/>
            <a:chOff x="4580561" y="2589004"/>
            <a:chExt cx="1064464" cy="25200"/>
          </a:xfrm>
        </p:grpSpPr>
        <p:sp>
          <p:nvSpPr>
            <p:cNvPr id="51" name="Google Shape;51;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4" name="Google Shape;54;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6" name="Shape 56"/>
        <p:cNvGrpSpPr/>
        <p:nvPr/>
      </p:nvGrpSpPr>
      <p:grpSpPr>
        <a:xfrm>
          <a:off x="0" y="0"/>
          <a:ext cx="0" cy="0"/>
          <a:chOff x="0" y="0"/>
          <a:chExt cx="0" cy="0"/>
        </a:xfrm>
      </p:grpSpPr>
      <p:grpSp>
        <p:nvGrpSpPr>
          <p:cNvPr id="57" name="Google Shape;57;p8"/>
          <p:cNvGrpSpPr/>
          <p:nvPr/>
        </p:nvGrpSpPr>
        <p:grpSpPr>
          <a:xfrm>
            <a:off x="830392" y="4169130"/>
            <a:ext cx="745763" cy="45826"/>
            <a:chOff x="4580561" y="2589004"/>
            <a:chExt cx="1064464" cy="25200"/>
          </a:xfrm>
        </p:grpSpPr>
        <p:sp>
          <p:nvSpPr>
            <p:cNvPr id="58" name="Google Shape;58;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1" name="Google Shape;61;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 name="Shape 62"/>
        <p:cNvGrpSpPr/>
        <p:nvPr/>
      </p:nvGrpSpPr>
      <p:grpSpPr>
        <a:xfrm>
          <a:off x="0" y="0"/>
          <a:ext cx="0" cy="0"/>
          <a:chOff x="0" y="0"/>
          <a:chExt cx="0" cy="0"/>
        </a:xfrm>
      </p:grpSpPr>
      <p:sp>
        <p:nvSpPr>
          <p:cNvPr id="63" name="Google Shape;63;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 name="Google Shape;64;p9"/>
          <p:cNvGrpSpPr/>
          <p:nvPr/>
        </p:nvGrpSpPr>
        <p:grpSpPr>
          <a:xfrm>
            <a:off x="830392" y="1191256"/>
            <a:ext cx="745763" cy="45826"/>
            <a:chOff x="4580561" y="2589004"/>
            <a:chExt cx="1064464" cy="25200"/>
          </a:xfrm>
        </p:grpSpPr>
        <p:sp>
          <p:nvSpPr>
            <p:cNvPr id="65" name="Google Shape;65;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 name="Google Shape;67;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8" name="Google Shape;68;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9" name="Google Shape;69;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0" name="Google Shape;70;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3" name="Google Shape;73;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4" name="Shape 74"/>
        <p:cNvGrpSpPr/>
        <p:nvPr/>
      </p:nvGrpSpPr>
      <p:grpSpPr>
        <a:xfrm>
          <a:off x="0" y="0"/>
          <a:ext cx="0" cy="0"/>
          <a:chOff x="0" y="0"/>
          <a:chExt cx="0" cy="0"/>
        </a:xfrm>
      </p:grpSpPr>
      <p:grpSp>
        <p:nvGrpSpPr>
          <p:cNvPr id="75" name="Google Shape;75;p11"/>
          <p:cNvGrpSpPr/>
          <p:nvPr/>
        </p:nvGrpSpPr>
        <p:grpSpPr>
          <a:xfrm>
            <a:off x="830392" y="4169130"/>
            <a:ext cx="745763" cy="45826"/>
            <a:chOff x="4580561" y="2589004"/>
            <a:chExt cx="1064464" cy="25200"/>
          </a:xfrm>
        </p:grpSpPr>
        <p:sp>
          <p:nvSpPr>
            <p:cNvPr id="76" name="Google Shape;76;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9" name="Google Shape;79;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80" name="Google Shape;80;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 name="Shape 81"/>
        <p:cNvGrpSpPr/>
        <p:nvPr/>
      </p:nvGrpSpPr>
      <p:grpSpPr>
        <a:xfrm>
          <a:off x="0" y="0"/>
          <a:ext cx="0" cy="0"/>
          <a:chOff x="0" y="0"/>
          <a:chExt cx="0" cy="0"/>
        </a:xfrm>
      </p:grpSpPr>
      <p:sp>
        <p:nvSpPr>
          <p:cNvPr id="82" name="Google Shape;82;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www.deeplearning.ai/ai-notes/initialization/"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0.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s://keras.io/api/optimizer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UT5. Entrenamiento redes neuronales.</a:t>
            </a:r>
            <a:endParaRPr sz="4650"/>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687150" y="599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Bloques de la unidad:</a:t>
            </a:r>
            <a:endParaRPr/>
          </a:p>
        </p:txBody>
      </p:sp>
      <p:sp>
        <p:nvSpPr>
          <p:cNvPr id="93" name="Google Shape;93;p14"/>
          <p:cNvSpPr txBox="1"/>
          <p:nvPr>
            <p:ph idx="1" type="body"/>
          </p:nvPr>
        </p:nvSpPr>
        <p:spPr>
          <a:xfrm>
            <a:off x="780200" y="1297375"/>
            <a:ext cx="7688700" cy="3236400"/>
          </a:xfrm>
          <a:prstGeom prst="rect">
            <a:avLst/>
          </a:prstGeom>
        </p:spPr>
        <p:txBody>
          <a:bodyPr anchorCtr="0" anchor="t" bIns="91425" lIns="91425" spcFirstLastPara="1" rIns="91425" wrap="square" tIns="91425">
            <a:normAutofit fontScale="77500" lnSpcReduction="20000"/>
          </a:bodyPr>
          <a:lstStyle/>
          <a:p>
            <a:pPr indent="-331946" lvl="0" marL="457200" rtl="0" algn="l">
              <a:spcBef>
                <a:spcPts val="0"/>
              </a:spcBef>
              <a:spcAft>
                <a:spcPts val="0"/>
              </a:spcAft>
              <a:buSzPct val="100000"/>
              <a:buAutoNum type="arabicPeriod"/>
            </a:pPr>
            <a:r>
              <a:rPr lang="es" sz="2100"/>
              <a:t>Funciones de coste.</a:t>
            </a:r>
            <a:endParaRPr sz="2100"/>
          </a:p>
          <a:p>
            <a:pPr indent="-331946" lvl="0" marL="457200" rtl="0" algn="l">
              <a:spcBef>
                <a:spcPts val="0"/>
              </a:spcBef>
              <a:spcAft>
                <a:spcPts val="0"/>
              </a:spcAft>
              <a:buSzPct val="100000"/>
              <a:buAutoNum type="arabicPeriod"/>
            </a:pPr>
            <a:r>
              <a:rPr lang="es" sz="2100"/>
              <a:t>Entrenamiento con gradient descent.</a:t>
            </a:r>
            <a:endParaRPr sz="2100"/>
          </a:p>
          <a:p>
            <a:pPr indent="-331946" lvl="0" marL="457200" rtl="0" algn="l">
              <a:spcBef>
                <a:spcPts val="0"/>
              </a:spcBef>
              <a:spcAft>
                <a:spcPts val="0"/>
              </a:spcAft>
              <a:buSzPct val="100000"/>
              <a:buAutoNum type="arabicPeriod"/>
            </a:pPr>
            <a:r>
              <a:rPr lang="es" sz="2100"/>
              <a:t>Stochastic Gradient Descent (SGD).</a:t>
            </a:r>
            <a:endParaRPr sz="2100"/>
          </a:p>
          <a:p>
            <a:pPr indent="-331946" lvl="0" marL="457200" rtl="0" algn="l">
              <a:spcBef>
                <a:spcPts val="0"/>
              </a:spcBef>
              <a:spcAft>
                <a:spcPts val="0"/>
              </a:spcAft>
              <a:buSzPct val="100000"/>
              <a:buAutoNum type="arabicPeriod"/>
            </a:pPr>
            <a:r>
              <a:rPr lang="es" sz="2100"/>
              <a:t>Laboratorio 1.</a:t>
            </a:r>
            <a:endParaRPr sz="2100"/>
          </a:p>
          <a:p>
            <a:pPr indent="-331946" lvl="0" marL="457200" rtl="0" algn="l">
              <a:spcBef>
                <a:spcPts val="0"/>
              </a:spcBef>
              <a:spcAft>
                <a:spcPts val="0"/>
              </a:spcAft>
              <a:buSzPct val="100000"/>
              <a:buAutoNum type="arabicPeriod"/>
            </a:pPr>
            <a:r>
              <a:rPr lang="es" sz="2100"/>
              <a:t>Backpropagation.</a:t>
            </a:r>
            <a:endParaRPr sz="2100"/>
          </a:p>
          <a:p>
            <a:pPr indent="-331946" lvl="0" marL="457200" rtl="0" algn="l">
              <a:spcBef>
                <a:spcPts val="0"/>
              </a:spcBef>
              <a:spcAft>
                <a:spcPts val="0"/>
              </a:spcAft>
              <a:buSzPct val="100000"/>
              <a:buAutoNum type="arabicPeriod"/>
            </a:pPr>
            <a:r>
              <a:rPr lang="es" sz="2100"/>
              <a:t>Ejercicios regla cadena.</a:t>
            </a:r>
            <a:endParaRPr sz="2100"/>
          </a:p>
          <a:p>
            <a:pPr indent="-331946" lvl="0" marL="457200" rtl="0" algn="l">
              <a:spcBef>
                <a:spcPts val="0"/>
              </a:spcBef>
              <a:spcAft>
                <a:spcPts val="0"/>
              </a:spcAft>
              <a:buSzPct val="100000"/>
              <a:buAutoNum type="arabicPeriod"/>
            </a:pPr>
            <a:r>
              <a:rPr b="1" lang="es" sz="2100"/>
              <a:t>Unidades de activación.</a:t>
            </a:r>
            <a:endParaRPr b="1" sz="2100"/>
          </a:p>
          <a:p>
            <a:pPr indent="-331946" lvl="0" marL="457200" rtl="0" algn="l">
              <a:spcBef>
                <a:spcPts val="0"/>
              </a:spcBef>
              <a:spcAft>
                <a:spcPts val="0"/>
              </a:spcAft>
              <a:buSzPct val="100000"/>
              <a:buAutoNum type="arabicPeriod"/>
            </a:pPr>
            <a:r>
              <a:rPr b="1" lang="es" sz="2100"/>
              <a:t>Inicialización de parámetros.</a:t>
            </a:r>
            <a:endParaRPr b="1" sz="2100"/>
          </a:p>
          <a:p>
            <a:pPr indent="-331946" lvl="0" marL="457200" rtl="0" algn="l">
              <a:spcBef>
                <a:spcPts val="0"/>
              </a:spcBef>
              <a:spcAft>
                <a:spcPts val="0"/>
              </a:spcAft>
              <a:buSzPct val="100000"/>
              <a:buAutoNum type="arabicPeriod"/>
            </a:pPr>
            <a:r>
              <a:rPr b="1" lang="es" sz="2100"/>
              <a:t>Batch normalization.</a:t>
            </a:r>
            <a:endParaRPr b="1" sz="2100"/>
          </a:p>
          <a:p>
            <a:pPr indent="-331946" lvl="0" marL="457200" rtl="0" algn="l">
              <a:spcBef>
                <a:spcPts val="0"/>
              </a:spcBef>
              <a:spcAft>
                <a:spcPts val="0"/>
              </a:spcAft>
              <a:buSzPct val="100000"/>
              <a:buAutoNum type="arabicPeriod"/>
            </a:pPr>
            <a:r>
              <a:rPr b="1" lang="es" sz="2100"/>
              <a:t>Optimización avanzada.</a:t>
            </a:r>
            <a:endParaRPr b="1" sz="2100"/>
          </a:p>
          <a:p>
            <a:pPr indent="-331946" lvl="0" marL="457200" rtl="0" algn="l">
              <a:spcBef>
                <a:spcPts val="0"/>
              </a:spcBef>
              <a:spcAft>
                <a:spcPts val="0"/>
              </a:spcAft>
              <a:buSzPct val="100000"/>
              <a:buAutoNum type="arabicPeriod"/>
            </a:pPr>
            <a:r>
              <a:rPr b="1" lang="es" sz="2100"/>
              <a:t>Regularización.</a:t>
            </a:r>
            <a:endParaRPr b="1" sz="2100"/>
          </a:p>
          <a:p>
            <a:pPr indent="-331946" lvl="0" marL="457200" rtl="0" algn="l">
              <a:spcBef>
                <a:spcPts val="0"/>
              </a:spcBef>
              <a:spcAft>
                <a:spcPts val="0"/>
              </a:spcAft>
              <a:buSzPct val="100000"/>
              <a:buAutoNum type="arabicPeriod"/>
            </a:pPr>
            <a:r>
              <a:rPr b="1" lang="es" sz="2100"/>
              <a:t>Laboratorio 2.</a:t>
            </a:r>
            <a:endParaRPr b="1"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0" name="Google Shape;100;p15"/>
          <p:cNvSpPr txBox="1"/>
          <p:nvPr/>
        </p:nvSpPr>
        <p:spPr>
          <a:xfrm>
            <a:off x="347550" y="1353550"/>
            <a:ext cx="8295900" cy="29121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Como sabemos, el entrenamiento de una red neuronal es un problema complejo de optimización con un gran número de parámetros, para el que obtener una solución adecuada no es sencillo.</a:t>
            </a:r>
            <a:endParaRPr sz="2200"/>
          </a:p>
          <a:p>
            <a:pPr indent="0" lvl="0" marL="0" rtl="0" algn="just">
              <a:lnSpc>
                <a:spcPct val="95000"/>
              </a:lnSpc>
              <a:spcBef>
                <a:spcPts val="1200"/>
              </a:spcBef>
              <a:spcAft>
                <a:spcPts val="1200"/>
              </a:spcAft>
              <a:buNone/>
            </a:pPr>
            <a:r>
              <a:rPr lang="es" sz="2200"/>
              <a:t>Las redes dependen de un gran número de parámetros y de hiperparámetros. Es fácil cometer errores o elegir estrategias erróneas que dificultan el entrenamiento de las redes (una de las causas por las que el deep learning tardó en desarrollarse).</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06" name="Google Shape;106;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7" name="Google Shape;107;p16"/>
          <p:cNvSpPr txBox="1"/>
          <p:nvPr/>
        </p:nvSpPr>
        <p:spPr>
          <a:xfrm>
            <a:off x="347550" y="1353550"/>
            <a:ext cx="4280700" cy="21150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1200"/>
              </a:spcAft>
              <a:buNone/>
            </a:pPr>
            <a:r>
              <a:rPr lang="es" sz="2200"/>
              <a:t>En los siguientes puntos del tema veremos aspectos prácticos y avanzados para conseguir un entrenamiento </a:t>
            </a:r>
            <a:r>
              <a:rPr b="1" lang="es" sz="2200"/>
              <a:t>satisfactorio </a:t>
            </a:r>
            <a:r>
              <a:rPr lang="es" sz="2200"/>
              <a:t>y </a:t>
            </a:r>
            <a:r>
              <a:rPr b="1" lang="es" sz="2200"/>
              <a:t>eficiente </a:t>
            </a:r>
            <a:r>
              <a:rPr lang="es" sz="2200"/>
              <a:t>de redes neuronales.</a:t>
            </a:r>
            <a:endParaRPr sz="2200"/>
          </a:p>
        </p:txBody>
      </p:sp>
      <p:pic>
        <p:nvPicPr>
          <p:cNvPr id="108" name="Google Shape;108;p16"/>
          <p:cNvPicPr preferRelativeResize="0"/>
          <p:nvPr/>
        </p:nvPicPr>
        <p:blipFill>
          <a:blip r:embed="rId3">
            <a:alphaModFix/>
          </a:blip>
          <a:stretch>
            <a:fillRect/>
          </a:stretch>
        </p:blipFill>
        <p:spPr>
          <a:xfrm>
            <a:off x="5651200" y="1404125"/>
            <a:ext cx="2420835" cy="2335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14" name="Google Shape;114;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15" name="Google Shape;115;p17"/>
          <p:cNvSpPr txBox="1"/>
          <p:nvPr/>
        </p:nvSpPr>
        <p:spPr>
          <a:xfrm>
            <a:off x="347550" y="1353550"/>
            <a:ext cx="8358300" cy="24228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Uno de los elementos más críticos en una red neuronal es la elección de unidad de activación o non-linearity.</a:t>
            </a:r>
            <a:endParaRPr sz="2200"/>
          </a:p>
          <a:p>
            <a:pPr indent="0" lvl="0" marL="0" rtl="0" algn="just">
              <a:lnSpc>
                <a:spcPct val="95000"/>
              </a:lnSpc>
              <a:spcBef>
                <a:spcPts val="1200"/>
              </a:spcBef>
              <a:spcAft>
                <a:spcPts val="0"/>
              </a:spcAft>
              <a:buNone/>
            </a:pPr>
            <a:r>
              <a:rPr lang="es" sz="2200"/>
              <a:t>En el primer laboratorio hemos visto la utilización de la unidad más clásica, la unidad sigmoid.</a:t>
            </a:r>
            <a:endParaRPr sz="2200"/>
          </a:p>
          <a:p>
            <a:pPr indent="0" lvl="0" marL="0" rtl="0" algn="just">
              <a:lnSpc>
                <a:spcPct val="95000"/>
              </a:lnSpc>
              <a:spcBef>
                <a:spcPts val="1200"/>
              </a:spcBef>
              <a:spcAft>
                <a:spcPts val="1200"/>
              </a:spcAft>
              <a:buNone/>
            </a:pPr>
            <a:r>
              <a:rPr lang="es" sz="2200"/>
              <a:t>La irrupción de nuevas y más efectivas unidades de activación ha sido uno de los grandes avances en el mundo del deep learning.</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21" name="Google Shape;121;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22" name="Google Shape;122;p18"/>
          <p:cNvSpPr txBox="1"/>
          <p:nvPr/>
        </p:nvSpPr>
        <p:spPr>
          <a:xfrm>
            <a:off x="347550" y="1353550"/>
            <a:ext cx="4737300" cy="22689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Unidad sigmoid:</a:t>
            </a:r>
            <a:r>
              <a:rPr lang="es" sz="2200"/>
              <a:t> La unidad convierte cualquier número real en un número entre 0 y 1, tendiendo a 1 en el cuadrante positivo y a 0 en el cuadrante negativo.</a:t>
            </a:r>
            <a:endParaRPr sz="2200"/>
          </a:p>
          <a:p>
            <a:pPr indent="0" lvl="0" marL="0" rtl="0" algn="just">
              <a:lnSpc>
                <a:spcPct val="95000"/>
              </a:lnSpc>
              <a:spcBef>
                <a:spcPts val="1200"/>
              </a:spcBef>
              <a:spcAft>
                <a:spcPts val="1200"/>
              </a:spcAft>
              <a:buNone/>
            </a:pPr>
            <a:r>
              <a:t/>
            </a:r>
            <a:endParaRPr sz="2200"/>
          </a:p>
        </p:txBody>
      </p:sp>
      <p:pic>
        <p:nvPicPr>
          <p:cNvPr id="123" name="Google Shape;123;p18"/>
          <p:cNvPicPr preferRelativeResize="0"/>
          <p:nvPr/>
        </p:nvPicPr>
        <p:blipFill>
          <a:blip r:embed="rId3">
            <a:alphaModFix/>
          </a:blip>
          <a:stretch>
            <a:fillRect/>
          </a:stretch>
        </p:blipFill>
        <p:spPr>
          <a:xfrm>
            <a:off x="5111525" y="1353538"/>
            <a:ext cx="3973476" cy="2997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29" name="Google Shape;129;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30" name="Google Shape;130;p19"/>
          <p:cNvSpPr txBox="1"/>
          <p:nvPr/>
        </p:nvSpPr>
        <p:spPr>
          <a:xfrm>
            <a:off x="347550" y="1353550"/>
            <a:ext cx="8265000" cy="24228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Problemas u</a:t>
            </a:r>
            <a:r>
              <a:rPr b="1" lang="es" sz="2200"/>
              <a:t>nidad sigmoid:</a:t>
            </a:r>
            <a:r>
              <a:rPr lang="es" sz="2200"/>
              <a:t> Esta función han </a:t>
            </a:r>
            <a:r>
              <a:rPr lang="es" sz="2200"/>
              <a:t>caído</a:t>
            </a:r>
            <a:r>
              <a:rPr lang="es" sz="2200"/>
              <a:t> en </a:t>
            </a:r>
            <a:r>
              <a:rPr lang="es" sz="2200"/>
              <a:t>desuso</a:t>
            </a:r>
            <a:r>
              <a:rPr lang="es" sz="2200"/>
              <a:t> debido a los siguientes problemas:</a:t>
            </a:r>
            <a:endParaRPr sz="2200"/>
          </a:p>
          <a:p>
            <a:pPr indent="-368300" lvl="0" marL="457200" rtl="0" algn="just">
              <a:lnSpc>
                <a:spcPct val="95000"/>
              </a:lnSpc>
              <a:spcBef>
                <a:spcPts val="1200"/>
              </a:spcBef>
              <a:spcAft>
                <a:spcPts val="0"/>
              </a:spcAft>
              <a:buSzPts val="2200"/>
              <a:buAutoNum type="arabicPeriod"/>
            </a:pPr>
            <a:r>
              <a:rPr lang="es" sz="2200"/>
              <a:t>Las unidades sigmoid saturadas “matan” los gradientes.</a:t>
            </a:r>
            <a:endParaRPr sz="2200"/>
          </a:p>
          <a:p>
            <a:pPr indent="-368300" lvl="0" marL="457200" rtl="0" algn="just">
              <a:lnSpc>
                <a:spcPct val="95000"/>
              </a:lnSpc>
              <a:spcBef>
                <a:spcPts val="0"/>
              </a:spcBef>
              <a:spcAft>
                <a:spcPts val="0"/>
              </a:spcAft>
              <a:buSzPts val="2200"/>
              <a:buAutoNum type="arabicPeriod"/>
            </a:pPr>
            <a:r>
              <a:rPr lang="es" sz="2200"/>
              <a:t>La salida de sigmoid no está centrada en 0.</a:t>
            </a:r>
            <a:endParaRPr sz="2200"/>
          </a:p>
          <a:p>
            <a:pPr indent="-368300" lvl="0" marL="457200" rtl="0" algn="just">
              <a:lnSpc>
                <a:spcPct val="95000"/>
              </a:lnSpc>
              <a:spcBef>
                <a:spcPts val="0"/>
              </a:spcBef>
              <a:spcAft>
                <a:spcPts val="0"/>
              </a:spcAft>
              <a:buSzPts val="2200"/>
              <a:buAutoNum type="arabicPeriod"/>
            </a:pPr>
            <a:r>
              <a:rPr lang="es" sz="2200"/>
              <a:t>Implica el cálculo de una función exponencial .</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36" name="Google Shape;136;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37" name="Google Shape;137;p20"/>
          <p:cNvSpPr txBox="1"/>
          <p:nvPr/>
        </p:nvSpPr>
        <p:spPr>
          <a:xfrm>
            <a:off x="347550" y="1353550"/>
            <a:ext cx="8324400" cy="36957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Las unidades sigmoid saturadas “matan” los gradientes.</a:t>
            </a:r>
            <a:endParaRPr b="1" sz="2200"/>
          </a:p>
          <a:p>
            <a:pPr indent="0" lvl="0" marL="0" rtl="0" algn="just">
              <a:lnSpc>
                <a:spcPct val="95000"/>
              </a:lnSpc>
              <a:spcBef>
                <a:spcPts val="1200"/>
              </a:spcBef>
              <a:spcAft>
                <a:spcPts val="0"/>
              </a:spcAft>
              <a:buNone/>
            </a:pPr>
            <a:r>
              <a:rPr lang="es" sz="2200"/>
              <a:t>Decimos que la unidad se satura cuando sus valores se aproximan a 1 o a 0. El régimen de saturación se caracteriza porque pequeños cambios en x no implican apenas variación en y.</a:t>
            </a:r>
            <a:endParaRPr sz="2200"/>
          </a:p>
          <a:p>
            <a:pPr indent="0" lvl="0" marL="0" rtl="0" algn="just">
              <a:lnSpc>
                <a:spcPct val="95000"/>
              </a:lnSpc>
              <a:spcBef>
                <a:spcPts val="1200"/>
              </a:spcBef>
              <a:spcAft>
                <a:spcPts val="0"/>
              </a:spcAft>
              <a:buNone/>
            </a:pPr>
            <a:r>
              <a:rPr lang="es" sz="2200"/>
              <a:t>Visto de otra manera, cuando la unidad está saturada, la derivada de la función es casi 0.</a:t>
            </a:r>
            <a:endParaRPr sz="2200"/>
          </a:p>
          <a:p>
            <a:pPr indent="0" lvl="0" marL="45720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43" name="Google Shape;143;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44" name="Google Shape;144;p21"/>
          <p:cNvSpPr txBox="1"/>
          <p:nvPr/>
        </p:nvSpPr>
        <p:spPr>
          <a:xfrm>
            <a:off x="300350" y="1158050"/>
            <a:ext cx="8324400" cy="28983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Las unidades </a:t>
            </a:r>
            <a:r>
              <a:rPr b="1" lang="es" sz="2200"/>
              <a:t>sigmoid </a:t>
            </a:r>
            <a:r>
              <a:rPr b="1" lang="es" sz="2200"/>
              <a:t>saturadas “matan” los gradientes.</a:t>
            </a:r>
            <a:endParaRPr b="1" sz="2200"/>
          </a:p>
          <a:p>
            <a:pPr indent="0" lvl="0" marL="0" rtl="0" algn="just">
              <a:lnSpc>
                <a:spcPct val="95000"/>
              </a:lnSpc>
              <a:spcBef>
                <a:spcPts val="1200"/>
              </a:spcBef>
              <a:spcAft>
                <a:spcPts val="0"/>
              </a:spcAft>
              <a:buNone/>
            </a:pPr>
            <a:r>
              <a:rPr lang="es" sz="2200"/>
              <a:t>Esto implica que la derivada local es aproximadamente 0. Recordemos de backpropagation que la derivada local se multiplica por el gradiente que fluye desde arriba, y el resultado se propaga hacia atrás:</a:t>
            </a:r>
            <a:endParaRPr sz="2200"/>
          </a:p>
          <a:p>
            <a:pPr indent="0" lvl="0" marL="45720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pic>
        <p:nvPicPr>
          <p:cNvPr id="145" name="Google Shape;145;p21"/>
          <p:cNvPicPr preferRelativeResize="0"/>
          <p:nvPr/>
        </p:nvPicPr>
        <p:blipFill>
          <a:blip r:embed="rId3">
            <a:alphaModFix/>
          </a:blip>
          <a:stretch>
            <a:fillRect/>
          </a:stretch>
        </p:blipFill>
        <p:spPr>
          <a:xfrm>
            <a:off x="3296674" y="2679600"/>
            <a:ext cx="5726025" cy="2571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51" name="Google Shape;151;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52" name="Google Shape;152;p22"/>
          <p:cNvSpPr txBox="1"/>
          <p:nvPr/>
        </p:nvSpPr>
        <p:spPr>
          <a:xfrm>
            <a:off x="347550" y="1353550"/>
            <a:ext cx="8324400" cy="33741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Las unidades sigmoid saturadas “matan” los gradientes.</a:t>
            </a:r>
            <a:endParaRPr b="1" sz="2200"/>
          </a:p>
          <a:p>
            <a:pPr indent="0" lvl="0" marL="0" rtl="0" algn="just">
              <a:lnSpc>
                <a:spcPct val="95000"/>
              </a:lnSpc>
              <a:spcBef>
                <a:spcPts val="1200"/>
              </a:spcBef>
              <a:spcAft>
                <a:spcPts val="0"/>
              </a:spcAft>
              <a:buNone/>
            </a:pPr>
            <a:r>
              <a:rPr lang="es" sz="2200"/>
              <a:t>Por tanto, en régimen de saturación, el gradiente resultante es aproximadamente 0, por lo que se dice que la unidad está “matando” el gradiente.</a:t>
            </a:r>
            <a:endParaRPr sz="2200"/>
          </a:p>
          <a:p>
            <a:pPr indent="0" lvl="0" marL="0" rtl="0" algn="just">
              <a:lnSpc>
                <a:spcPct val="95000"/>
              </a:lnSpc>
              <a:spcBef>
                <a:spcPts val="1200"/>
              </a:spcBef>
              <a:spcAft>
                <a:spcPts val="0"/>
              </a:spcAft>
              <a:buNone/>
            </a:pPr>
            <a:r>
              <a:rPr lang="es" sz="2200"/>
              <a:t>Al “matar” el gradiente eliminamos la señal de aprendizaje y por tanto estamos dificultando el entrenamiento.</a:t>
            </a:r>
            <a:endParaRPr sz="2200"/>
          </a:p>
          <a:p>
            <a:pPr indent="0" lvl="0" marL="45720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58" name="Google Shape;158;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59" name="Google Shape;159;p23"/>
          <p:cNvSpPr txBox="1"/>
          <p:nvPr/>
        </p:nvSpPr>
        <p:spPr>
          <a:xfrm>
            <a:off x="347550" y="1353550"/>
            <a:ext cx="8324400" cy="32202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La salida de sigmoid no está centrada en 0.</a:t>
            </a:r>
            <a:endParaRPr b="1" sz="2200"/>
          </a:p>
          <a:p>
            <a:pPr indent="-368300" lvl="0" marL="457200" rtl="0" algn="just">
              <a:lnSpc>
                <a:spcPct val="95000"/>
              </a:lnSpc>
              <a:spcBef>
                <a:spcPts val="1200"/>
              </a:spcBef>
              <a:spcAft>
                <a:spcPts val="0"/>
              </a:spcAft>
              <a:buSzPts val="2200"/>
              <a:buChar char="●"/>
            </a:pPr>
            <a:r>
              <a:rPr lang="es" sz="2200"/>
              <a:t>Los valores de salida de sigmoid son estrictamente positivos.</a:t>
            </a:r>
            <a:endParaRPr sz="2200"/>
          </a:p>
          <a:p>
            <a:pPr indent="-368300" lvl="0" marL="457200" rtl="0" algn="just">
              <a:lnSpc>
                <a:spcPct val="95000"/>
              </a:lnSpc>
              <a:spcBef>
                <a:spcPts val="0"/>
              </a:spcBef>
              <a:spcAft>
                <a:spcPts val="0"/>
              </a:spcAft>
              <a:buSzPts val="2200"/>
              <a:buChar char="●"/>
            </a:pPr>
            <a:r>
              <a:rPr lang="es" sz="2200"/>
              <a:t>Si una neurona recibe todos sus inputs con valores positivos, las derivadas respecto de los pesos w tendrán siempre el mismo signo.</a:t>
            </a:r>
            <a:endParaRPr sz="2200"/>
          </a:p>
          <a:p>
            <a:pPr indent="-368300" lvl="0" marL="457200" rtl="0" algn="just">
              <a:lnSpc>
                <a:spcPct val="95000"/>
              </a:lnSpc>
              <a:spcBef>
                <a:spcPts val="0"/>
              </a:spcBef>
              <a:spcAft>
                <a:spcPts val="0"/>
              </a:spcAft>
              <a:buSzPts val="2200"/>
              <a:buChar char="●"/>
            </a:pPr>
            <a:r>
              <a:rPr lang="es" sz="2200"/>
              <a:t>Esto provoca ciertas ineficiencias en el entrenamiento.</a:t>
            </a:r>
            <a:endParaRPr sz="2200"/>
          </a:p>
          <a:p>
            <a:pPr indent="0" lvl="0" marL="45720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65" name="Google Shape;165;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66" name="Google Shape;166;p24"/>
          <p:cNvSpPr txBox="1"/>
          <p:nvPr/>
        </p:nvSpPr>
        <p:spPr>
          <a:xfrm>
            <a:off x="347550" y="1353550"/>
            <a:ext cx="8324400" cy="25767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Implica el cálculo de una función exponencial</a:t>
            </a:r>
            <a:r>
              <a:rPr b="1" lang="es" sz="2200"/>
              <a:t>.</a:t>
            </a:r>
            <a:endParaRPr b="1" sz="2200"/>
          </a:p>
          <a:p>
            <a:pPr indent="0" lvl="0" marL="0" rtl="0" algn="just">
              <a:lnSpc>
                <a:spcPct val="95000"/>
              </a:lnSpc>
              <a:spcBef>
                <a:spcPts val="1200"/>
              </a:spcBef>
              <a:spcAft>
                <a:spcPts val="0"/>
              </a:spcAft>
              <a:buNone/>
            </a:pPr>
            <a:r>
              <a:rPr lang="es" sz="2200"/>
              <a:t>Otro pequeño inconveniente, ya que el cálculo de una función exponencial conlleva cierta complejidad en comparación con otras operaciones.</a:t>
            </a:r>
            <a:endParaRPr sz="2200"/>
          </a:p>
          <a:p>
            <a:pPr indent="0" lvl="0" marL="45720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pic>
        <p:nvPicPr>
          <p:cNvPr id="167" name="Google Shape;167;p24"/>
          <p:cNvPicPr preferRelativeResize="0"/>
          <p:nvPr/>
        </p:nvPicPr>
        <p:blipFill>
          <a:blip r:embed="rId3">
            <a:alphaModFix/>
          </a:blip>
          <a:stretch>
            <a:fillRect/>
          </a:stretch>
        </p:blipFill>
        <p:spPr>
          <a:xfrm>
            <a:off x="3119750" y="2700775"/>
            <a:ext cx="4763674" cy="1861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73" name="Google Shape;173;p2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74" name="Google Shape;174;p25"/>
          <p:cNvSpPr txBox="1"/>
          <p:nvPr/>
        </p:nvSpPr>
        <p:spPr>
          <a:xfrm>
            <a:off x="347550" y="1353550"/>
            <a:ext cx="4737300" cy="43392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Tanh (tangente hiperbólica):</a:t>
            </a:r>
            <a:endParaRPr b="1" sz="2200"/>
          </a:p>
          <a:p>
            <a:pPr indent="-368300" lvl="0" marL="457200" rtl="0" algn="just">
              <a:lnSpc>
                <a:spcPct val="95000"/>
              </a:lnSpc>
              <a:spcBef>
                <a:spcPts val="1200"/>
              </a:spcBef>
              <a:spcAft>
                <a:spcPts val="0"/>
              </a:spcAft>
              <a:buSzPts val="2200"/>
              <a:buChar char="●"/>
            </a:pPr>
            <a:r>
              <a:rPr lang="es" sz="2200"/>
              <a:t>Similar a sigmoid, pero ahora con valores entre -1 y 1.</a:t>
            </a:r>
            <a:endParaRPr sz="2200"/>
          </a:p>
          <a:p>
            <a:pPr indent="-368300" lvl="0" marL="457200" rtl="0" algn="just">
              <a:lnSpc>
                <a:spcPct val="95000"/>
              </a:lnSpc>
              <a:spcBef>
                <a:spcPts val="0"/>
              </a:spcBef>
              <a:spcAft>
                <a:spcPts val="0"/>
              </a:spcAft>
              <a:buSzPts val="2200"/>
              <a:buChar char="●"/>
            </a:pPr>
            <a:r>
              <a:rPr lang="es" sz="2200"/>
              <a:t>Sigue “matando” gradientes, pero la salida está centrada en 0.</a:t>
            </a:r>
            <a:endParaRPr sz="2200"/>
          </a:p>
          <a:p>
            <a:pPr indent="-368300" lvl="0" marL="457200" rtl="0" algn="just">
              <a:lnSpc>
                <a:spcPct val="95000"/>
              </a:lnSpc>
              <a:spcBef>
                <a:spcPts val="0"/>
              </a:spcBef>
              <a:spcAft>
                <a:spcPts val="0"/>
              </a:spcAft>
              <a:buSzPts val="2200"/>
              <a:buChar char="●"/>
            </a:pPr>
            <a:r>
              <a:rPr lang="es" sz="2200"/>
              <a:t>En la práctica, tanh es preferible a sigmoid.</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175" name="Google Shape;175;p25"/>
          <p:cNvPicPr preferRelativeResize="0"/>
          <p:nvPr/>
        </p:nvPicPr>
        <p:blipFill>
          <a:blip r:embed="rId3">
            <a:alphaModFix/>
          </a:blip>
          <a:stretch>
            <a:fillRect/>
          </a:stretch>
        </p:blipFill>
        <p:spPr>
          <a:xfrm>
            <a:off x="5330650" y="1353550"/>
            <a:ext cx="3754350" cy="266671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81" name="Google Shape;181;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82" name="Google Shape;182;p26"/>
          <p:cNvSpPr txBox="1"/>
          <p:nvPr/>
        </p:nvSpPr>
        <p:spPr>
          <a:xfrm>
            <a:off x="347550" y="1353550"/>
            <a:ext cx="4737300" cy="38496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ReLU (rectified linear unit)</a:t>
            </a:r>
            <a:endParaRPr b="1" sz="2200"/>
          </a:p>
          <a:p>
            <a:pPr indent="-368300" lvl="0" marL="457200" rtl="0" algn="just">
              <a:lnSpc>
                <a:spcPct val="95000"/>
              </a:lnSpc>
              <a:spcBef>
                <a:spcPts val="1200"/>
              </a:spcBef>
              <a:spcAft>
                <a:spcPts val="0"/>
              </a:spcAft>
              <a:buSzPts val="2200"/>
              <a:buChar char="●"/>
            </a:pPr>
            <a:r>
              <a:rPr lang="es" sz="2200"/>
              <a:t>Salida 0 para x &lt; 0. Función identidad para x &gt; 0.</a:t>
            </a:r>
            <a:endParaRPr sz="2200"/>
          </a:p>
          <a:p>
            <a:pPr indent="-368300" lvl="0" marL="457200" rtl="0" algn="just">
              <a:lnSpc>
                <a:spcPct val="95000"/>
              </a:lnSpc>
              <a:spcBef>
                <a:spcPts val="0"/>
              </a:spcBef>
              <a:spcAft>
                <a:spcPts val="0"/>
              </a:spcAft>
              <a:buSzPts val="2200"/>
              <a:buChar char="●"/>
            </a:pPr>
            <a:r>
              <a:rPr lang="es" sz="2200"/>
              <a:t>Es la unidad más usada en la práctica.</a:t>
            </a:r>
            <a:endParaRPr sz="2200"/>
          </a:p>
          <a:p>
            <a:pPr indent="0" lvl="0" marL="45720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183" name="Google Shape;183;p26"/>
          <p:cNvPicPr preferRelativeResize="0"/>
          <p:nvPr/>
        </p:nvPicPr>
        <p:blipFill>
          <a:blip r:embed="rId3">
            <a:alphaModFix/>
          </a:blip>
          <a:stretch>
            <a:fillRect/>
          </a:stretch>
        </p:blipFill>
        <p:spPr>
          <a:xfrm>
            <a:off x="5330650" y="1524075"/>
            <a:ext cx="3754350" cy="231769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89" name="Google Shape;189;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90" name="Google Shape;190;p27"/>
          <p:cNvSpPr txBox="1"/>
          <p:nvPr/>
        </p:nvSpPr>
        <p:spPr>
          <a:xfrm>
            <a:off x="347500" y="1294325"/>
            <a:ext cx="8188800" cy="48732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Problemas de las ReLU: </a:t>
            </a:r>
            <a:r>
              <a:rPr lang="es" sz="2200"/>
              <a:t>Son frágiles y pueden “morir” durante el entrenamiento.</a:t>
            </a:r>
            <a:endParaRPr sz="2200"/>
          </a:p>
          <a:p>
            <a:pPr indent="-336550" lvl="0" marL="457200" rtl="0" algn="just">
              <a:lnSpc>
                <a:spcPct val="95000"/>
              </a:lnSpc>
              <a:spcBef>
                <a:spcPts val="1200"/>
              </a:spcBef>
              <a:spcAft>
                <a:spcPts val="0"/>
              </a:spcAft>
              <a:buSzPts val="1700"/>
              <a:buChar char="●"/>
            </a:pPr>
            <a:r>
              <a:rPr lang="es" sz="1700"/>
              <a:t>Un cambio grande puede hacer que la unidad no vuelva a activarse nunca, esto es, que nunca vuelva a producir valores mayores que 0.</a:t>
            </a:r>
            <a:endParaRPr sz="1700"/>
          </a:p>
          <a:p>
            <a:pPr indent="-336550" lvl="0" marL="457200" rtl="0" algn="just">
              <a:lnSpc>
                <a:spcPct val="95000"/>
              </a:lnSpc>
              <a:spcBef>
                <a:spcPts val="0"/>
              </a:spcBef>
              <a:spcAft>
                <a:spcPts val="0"/>
              </a:spcAft>
              <a:buSzPts val="1700"/>
              <a:buChar char="●"/>
            </a:pPr>
            <a:r>
              <a:rPr lang="es" sz="1700"/>
              <a:t>Esto provoca que el gradiente que pasa por la neurona sea siempre 0, por lo que la neurona se considera “muerta”.</a:t>
            </a:r>
            <a:endParaRPr sz="1700"/>
          </a:p>
          <a:p>
            <a:pPr indent="-336550" lvl="0" marL="457200" rtl="0" algn="just">
              <a:lnSpc>
                <a:spcPct val="95000"/>
              </a:lnSpc>
              <a:spcBef>
                <a:spcPts val="0"/>
              </a:spcBef>
              <a:spcAft>
                <a:spcPts val="0"/>
              </a:spcAft>
              <a:buSzPts val="1700"/>
              <a:buChar char="●"/>
            </a:pPr>
            <a:r>
              <a:rPr lang="es" sz="1700"/>
              <a:t>Es normal ver redes neuronales con ReLUs muertas.</a:t>
            </a:r>
            <a:endParaRPr sz="1700"/>
          </a:p>
          <a:p>
            <a:pPr indent="-336550" lvl="0" marL="457200" rtl="0" algn="just">
              <a:lnSpc>
                <a:spcPct val="95000"/>
              </a:lnSpc>
              <a:spcBef>
                <a:spcPts val="0"/>
              </a:spcBef>
              <a:spcAft>
                <a:spcPts val="0"/>
              </a:spcAft>
              <a:buSzPts val="1700"/>
              <a:buChar char="●"/>
            </a:pPr>
            <a:r>
              <a:rPr lang="es" sz="1700"/>
              <a:t>Esto no suele ser un problema, pero conviene monitorizar las activaciones por si hay demasiadas unidades muertas. (Ayuda al overfitting)</a:t>
            </a:r>
            <a:endParaRPr sz="1700"/>
          </a:p>
          <a:p>
            <a:pPr indent="-336550" lvl="0" marL="457200" rtl="0" algn="just">
              <a:lnSpc>
                <a:spcPct val="95000"/>
              </a:lnSpc>
              <a:spcBef>
                <a:spcPts val="0"/>
              </a:spcBef>
              <a:spcAft>
                <a:spcPts val="0"/>
              </a:spcAft>
              <a:buSzPts val="1700"/>
              <a:buChar char="●"/>
            </a:pPr>
            <a:r>
              <a:rPr lang="es" sz="1700"/>
              <a:t>La “muerte” de las ReLUs se puede aliviar con </a:t>
            </a:r>
            <a:r>
              <a:rPr i="1" lang="es" sz="1700"/>
              <a:t>learning rates</a:t>
            </a:r>
            <a:r>
              <a:rPr lang="es" sz="1700"/>
              <a:t> pequeños.</a:t>
            </a:r>
            <a:endParaRPr sz="17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196" name="Google Shape;196;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97" name="Google Shape;197;p28"/>
          <p:cNvSpPr txBox="1"/>
          <p:nvPr/>
        </p:nvSpPr>
        <p:spPr>
          <a:xfrm>
            <a:off x="347500" y="1294325"/>
            <a:ext cx="8188800" cy="24090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RECORDATORIO LEARNING RATE</a:t>
            </a:r>
            <a:endParaRPr sz="17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198" name="Google Shape;198;p28"/>
          <p:cNvPicPr preferRelativeResize="0"/>
          <p:nvPr/>
        </p:nvPicPr>
        <p:blipFill>
          <a:blip r:embed="rId3">
            <a:alphaModFix/>
          </a:blip>
          <a:stretch>
            <a:fillRect/>
          </a:stretch>
        </p:blipFill>
        <p:spPr>
          <a:xfrm>
            <a:off x="4403125" y="1867138"/>
            <a:ext cx="4681875" cy="2204425"/>
          </a:xfrm>
          <a:prstGeom prst="rect">
            <a:avLst/>
          </a:prstGeom>
          <a:noFill/>
          <a:ln>
            <a:noFill/>
          </a:ln>
        </p:spPr>
      </p:pic>
      <p:sp>
        <p:nvSpPr>
          <p:cNvPr id="199" name="Google Shape;199;p28"/>
          <p:cNvSpPr txBox="1"/>
          <p:nvPr/>
        </p:nvSpPr>
        <p:spPr>
          <a:xfrm>
            <a:off x="387225" y="1867150"/>
            <a:ext cx="3957300" cy="2385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Si η es demasiado </a:t>
            </a:r>
            <a:r>
              <a:rPr b="1" lang="es" sz="1900"/>
              <a:t>grande</a:t>
            </a:r>
            <a:r>
              <a:rPr lang="es" sz="1900"/>
              <a:t>, podríamos no encontrar el mínimo o incluso divergir a valores de C mayores.</a:t>
            </a:r>
            <a:endParaRPr sz="1900"/>
          </a:p>
          <a:p>
            <a:pPr indent="0" lvl="0" marL="0" marR="0" rtl="0" algn="just">
              <a:lnSpc>
                <a:spcPct val="100000"/>
              </a:lnSpc>
              <a:spcBef>
                <a:spcPts val="1200"/>
              </a:spcBef>
              <a:spcAft>
                <a:spcPts val="1200"/>
              </a:spcAft>
              <a:buNone/>
            </a:pPr>
            <a:r>
              <a:rPr lang="es" sz="1900"/>
              <a:t>Por otro lado, un valor </a:t>
            </a:r>
            <a:r>
              <a:rPr b="1" lang="es" sz="1900"/>
              <a:t>demasiado pequeño</a:t>
            </a:r>
            <a:r>
              <a:rPr lang="es" sz="1900"/>
              <a:t> haría que el algoritmo avanzara de forma muy lenta.</a:t>
            </a:r>
            <a:endParaRPr b="1"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205" name="Google Shape;205;p2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06" name="Google Shape;206;p29"/>
          <p:cNvSpPr txBox="1"/>
          <p:nvPr/>
        </p:nvSpPr>
        <p:spPr>
          <a:xfrm>
            <a:off x="347500" y="1294325"/>
            <a:ext cx="4148400" cy="52173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Leaky ReLU</a:t>
            </a:r>
            <a:r>
              <a:rPr b="1" lang="es" sz="2200"/>
              <a:t>: </a:t>
            </a:r>
            <a:endParaRPr b="1" sz="2200"/>
          </a:p>
          <a:p>
            <a:pPr indent="0" lvl="0" marL="0" rtl="0" algn="just">
              <a:lnSpc>
                <a:spcPct val="95000"/>
              </a:lnSpc>
              <a:spcBef>
                <a:spcPts val="1200"/>
              </a:spcBef>
              <a:spcAft>
                <a:spcPts val="0"/>
              </a:spcAft>
              <a:buNone/>
            </a:pPr>
            <a:r>
              <a:rPr lang="es" sz="2200"/>
              <a:t>Intenta solucionar el problema de las ReLUs “muertas” añadiendo una pequeña pendiente en el régimen negativo, por lo que el gradiente no es 0 en este régimen.</a:t>
            </a:r>
            <a:endParaRPr sz="2200"/>
          </a:p>
          <a:p>
            <a:pPr indent="0" lvl="0" marL="457200" rtl="0" algn="just">
              <a:lnSpc>
                <a:spcPct val="95000"/>
              </a:lnSpc>
              <a:spcBef>
                <a:spcPts val="1200"/>
              </a:spcBef>
              <a:spcAft>
                <a:spcPts val="0"/>
              </a:spcAft>
              <a:buNone/>
            </a:pPr>
            <a:r>
              <a:t/>
            </a:r>
            <a:endParaRPr sz="17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207" name="Google Shape;207;p29"/>
          <p:cNvPicPr preferRelativeResize="0"/>
          <p:nvPr/>
        </p:nvPicPr>
        <p:blipFill>
          <a:blip r:embed="rId3">
            <a:alphaModFix/>
          </a:blip>
          <a:stretch>
            <a:fillRect/>
          </a:stretch>
        </p:blipFill>
        <p:spPr>
          <a:xfrm>
            <a:off x="4495800" y="1358675"/>
            <a:ext cx="4648200" cy="2886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213" name="Google Shape;213;p3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14" name="Google Shape;214;p30"/>
          <p:cNvSpPr txBox="1"/>
          <p:nvPr/>
        </p:nvSpPr>
        <p:spPr>
          <a:xfrm>
            <a:off x="347550" y="1353550"/>
            <a:ext cx="8737500" cy="51087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Maxout</a:t>
            </a:r>
            <a:endParaRPr b="1" sz="2200"/>
          </a:p>
          <a:p>
            <a:pPr indent="0" lvl="0" marL="0" rtl="0" algn="just">
              <a:lnSpc>
                <a:spcPct val="95000"/>
              </a:lnSpc>
              <a:spcBef>
                <a:spcPts val="1200"/>
              </a:spcBef>
              <a:spcAft>
                <a:spcPts val="0"/>
              </a:spcAft>
              <a:buNone/>
            </a:pPr>
            <a:r>
              <a:rPr lang="es" sz="2200"/>
              <a:t>Otra unidad que intenta solucionar el problema de las ReLUs “muertas”. Es una generalización de las ReLU y Leaky ReLU.</a:t>
            </a:r>
            <a:endParaRPr sz="2200"/>
          </a:p>
          <a:p>
            <a:pPr indent="0" lvl="0" marL="0" rtl="0" algn="just">
              <a:lnSpc>
                <a:spcPct val="95000"/>
              </a:lnSpc>
              <a:spcBef>
                <a:spcPts val="1200"/>
              </a:spcBef>
              <a:spcAft>
                <a:spcPts val="0"/>
              </a:spcAft>
              <a:buNone/>
            </a:pPr>
            <a:r>
              <a:rPr lang="es" sz="2200"/>
              <a:t>La unidad tiene dos sets de parámetros w y b en vez de uno.</a:t>
            </a:r>
            <a:endParaRPr sz="2200"/>
          </a:p>
          <a:p>
            <a:pPr indent="0" lvl="0" marL="0" rtl="0" algn="just">
              <a:lnSpc>
                <a:spcPct val="95000"/>
              </a:lnSpc>
              <a:spcBef>
                <a:spcPts val="1200"/>
              </a:spcBef>
              <a:spcAft>
                <a:spcPts val="0"/>
              </a:spcAft>
              <a:buNone/>
            </a:pPr>
            <a:r>
              <a:rPr lang="es" sz="2200"/>
              <a:t>Si la red aprende w1 = 0 y b1 = 0, tenemos ReLU.</a:t>
            </a:r>
            <a:endParaRPr sz="2200"/>
          </a:p>
          <a:p>
            <a:pPr indent="0" lvl="0" marL="0" rtl="0" algn="just">
              <a:lnSpc>
                <a:spcPct val="95000"/>
              </a:lnSpc>
              <a:spcBef>
                <a:spcPts val="1200"/>
              </a:spcBef>
              <a:spcAft>
                <a:spcPts val="0"/>
              </a:spcAft>
              <a:buNone/>
            </a:pPr>
            <a:r>
              <a:rPr lang="es" sz="2200"/>
              <a:t>Es una unidad más versátil pero más compleja. Requiere el doble de</a:t>
            </a:r>
            <a:endParaRPr sz="2200"/>
          </a:p>
          <a:p>
            <a:pPr indent="0" lvl="0" marL="0" rtl="0" algn="just">
              <a:lnSpc>
                <a:spcPct val="95000"/>
              </a:lnSpc>
              <a:spcBef>
                <a:spcPts val="1200"/>
              </a:spcBef>
              <a:spcAft>
                <a:spcPts val="0"/>
              </a:spcAft>
              <a:buNone/>
            </a:pPr>
            <a:r>
              <a:rPr lang="es" sz="2200"/>
              <a:t>parámetros.</a:t>
            </a:r>
            <a:endParaRPr sz="2200"/>
          </a:p>
          <a:p>
            <a:pPr indent="0" lvl="0" marL="45720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215" name="Google Shape;215;p30"/>
          <p:cNvPicPr preferRelativeResize="0"/>
          <p:nvPr/>
        </p:nvPicPr>
        <p:blipFill>
          <a:blip r:embed="rId3">
            <a:alphaModFix/>
          </a:blip>
          <a:stretch>
            <a:fillRect/>
          </a:stretch>
        </p:blipFill>
        <p:spPr>
          <a:xfrm>
            <a:off x="4290150" y="821763"/>
            <a:ext cx="3981450" cy="1038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221" name="Google Shape;221;p3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222" name="Google Shape;222;p31"/>
          <p:cNvPicPr preferRelativeResize="0"/>
          <p:nvPr/>
        </p:nvPicPr>
        <p:blipFill>
          <a:blip r:embed="rId3">
            <a:alphaModFix/>
          </a:blip>
          <a:stretch>
            <a:fillRect/>
          </a:stretch>
        </p:blipFill>
        <p:spPr>
          <a:xfrm>
            <a:off x="1399738" y="1616048"/>
            <a:ext cx="6547575" cy="2390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228" name="Google Shape;228;p3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29" name="Google Shape;229;p32"/>
          <p:cNvSpPr txBox="1"/>
          <p:nvPr/>
        </p:nvSpPr>
        <p:spPr>
          <a:xfrm>
            <a:off x="347550" y="1353550"/>
            <a:ext cx="8737500" cy="3541800"/>
          </a:xfrm>
          <a:prstGeom prst="rect">
            <a:avLst/>
          </a:prstGeom>
          <a:noFill/>
          <a:ln>
            <a:noFill/>
          </a:ln>
        </p:spPr>
        <p:txBody>
          <a:bodyPr anchorCtr="0" anchor="t" bIns="91425" lIns="91425" spcFirstLastPara="1" rIns="91425" wrap="square" tIns="91425">
            <a:spAutoFit/>
          </a:bodyPr>
          <a:lstStyle/>
          <a:p>
            <a:pPr indent="-368300" lvl="0" marL="457200" rtl="0" algn="just">
              <a:lnSpc>
                <a:spcPct val="95000"/>
              </a:lnSpc>
              <a:spcBef>
                <a:spcPts val="0"/>
              </a:spcBef>
              <a:spcAft>
                <a:spcPts val="0"/>
              </a:spcAft>
              <a:buSzPts val="2200"/>
              <a:buChar char="●"/>
            </a:pPr>
            <a:r>
              <a:rPr lang="es" sz="2200"/>
              <a:t>En la actualidad lo mejor suele ser utilizar </a:t>
            </a:r>
            <a:r>
              <a:rPr b="1" lang="es" sz="2200"/>
              <a:t>ReLUs</a:t>
            </a:r>
            <a:r>
              <a:rPr lang="es" sz="2200"/>
              <a:t>, teniendo cuidado con el </a:t>
            </a:r>
            <a:r>
              <a:rPr b="1" lang="es" sz="2200"/>
              <a:t>learning rate</a:t>
            </a:r>
            <a:r>
              <a:rPr lang="es" sz="2200"/>
              <a:t> y monitorizando el entrenamiento para que no haya demasiadas unidades “muertas”.</a:t>
            </a:r>
            <a:endParaRPr sz="2200"/>
          </a:p>
          <a:p>
            <a:pPr indent="-368300" lvl="0" marL="457200" rtl="0" algn="just">
              <a:lnSpc>
                <a:spcPct val="95000"/>
              </a:lnSpc>
              <a:spcBef>
                <a:spcPts val="0"/>
              </a:spcBef>
              <a:spcAft>
                <a:spcPts val="0"/>
              </a:spcAft>
              <a:buSzPts val="2200"/>
              <a:buChar char="●"/>
            </a:pPr>
            <a:r>
              <a:rPr lang="es" sz="2200"/>
              <a:t>Se puede probar variantes como </a:t>
            </a:r>
            <a:r>
              <a:rPr b="1" lang="es" sz="2200"/>
              <a:t>Leaky ReLUs</a:t>
            </a:r>
            <a:r>
              <a:rPr lang="es" sz="2200"/>
              <a:t> o </a:t>
            </a:r>
            <a:r>
              <a:rPr b="1" lang="es" sz="2200"/>
              <a:t>Maxout</a:t>
            </a:r>
            <a:r>
              <a:rPr lang="es" sz="2200"/>
              <a:t>.</a:t>
            </a:r>
            <a:endParaRPr sz="2200"/>
          </a:p>
          <a:p>
            <a:pPr indent="-368300" lvl="0" marL="457200" rtl="0" algn="just">
              <a:lnSpc>
                <a:spcPct val="95000"/>
              </a:lnSpc>
              <a:spcBef>
                <a:spcPts val="0"/>
              </a:spcBef>
              <a:spcAft>
                <a:spcPts val="0"/>
              </a:spcAft>
              <a:buSzPts val="2200"/>
              <a:buChar char="●"/>
            </a:pPr>
            <a:r>
              <a:rPr lang="es" sz="2200"/>
              <a:t>Se recomienda evitar el uso de sigmoid por la gran cantidad de problemas que presenta.</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7. Unidades de activación</a:t>
            </a:r>
            <a:endParaRPr/>
          </a:p>
        </p:txBody>
      </p:sp>
      <p:sp>
        <p:nvSpPr>
          <p:cNvPr id="235" name="Google Shape;235;p3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36" name="Google Shape;236;p33"/>
          <p:cNvSpPr txBox="1"/>
          <p:nvPr/>
        </p:nvSpPr>
        <p:spPr>
          <a:xfrm>
            <a:off x="347500" y="1243575"/>
            <a:ext cx="8737500" cy="47193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1800"/>
              <a:t>Actividad por grupos:</a:t>
            </a:r>
            <a:r>
              <a:rPr lang="es" sz="1800"/>
              <a:t> En aules </a:t>
            </a:r>
            <a:r>
              <a:rPr lang="es" sz="1800"/>
              <a:t>tenéis</a:t>
            </a:r>
            <a:r>
              <a:rPr lang="es" sz="1800"/>
              <a:t> un paper actual sobre funciones de activación</a:t>
            </a:r>
            <a:r>
              <a:rPr lang="es" sz="2200"/>
              <a:t>,</a:t>
            </a:r>
            <a:r>
              <a:rPr lang="es" sz="1800"/>
              <a:t> por equipos resolver las siguientes preguntas.</a:t>
            </a:r>
            <a:endParaRPr sz="1800"/>
          </a:p>
          <a:p>
            <a:pPr indent="-342900" lvl="0" marL="457200" rtl="0" algn="just">
              <a:lnSpc>
                <a:spcPct val="95000"/>
              </a:lnSpc>
              <a:spcBef>
                <a:spcPts val="1200"/>
              </a:spcBef>
              <a:spcAft>
                <a:spcPts val="0"/>
              </a:spcAft>
              <a:buSzPts val="1800"/>
              <a:buAutoNum type="arabicPeriod"/>
            </a:pPr>
            <a:r>
              <a:rPr lang="es" sz="1800"/>
              <a:t>¿Cómo </a:t>
            </a:r>
            <a:r>
              <a:rPr lang="es" sz="1800"/>
              <a:t>está</a:t>
            </a:r>
            <a:r>
              <a:rPr lang="es" sz="1800"/>
              <a:t> estructurado el documento?</a:t>
            </a:r>
            <a:endParaRPr sz="1800"/>
          </a:p>
          <a:p>
            <a:pPr indent="-342900" lvl="0" marL="457200" rtl="0" algn="just">
              <a:lnSpc>
                <a:spcPct val="95000"/>
              </a:lnSpc>
              <a:spcBef>
                <a:spcPts val="0"/>
              </a:spcBef>
              <a:spcAft>
                <a:spcPts val="0"/>
              </a:spcAft>
              <a:buSzPts val="1800"/>
              <a:buAutoNum type="arabicPeriod"/>
            </a:pPr>
            <a:r>
              <a:rPr lang="es" sz="1800"/>
              <a:t>¿Cuantas funciones de activación </a:t>
            </a:r>
            <a:r>
              <a:rPr lang="es" sz="1800"/>
              <a:t>aparecen</a:t>
            </a:r>
            <a:r>
              <a:rPr lang="es" sz="1800"/>
              <a:t>? </a:t>
            </a:r>
            <a:r>
              <a:rPr lang="es" sz="1800"/>
              <a:t>Enumerarlas</a:t>
            </a:r>
            <a:r>
              <a:rPr lang="es" sz="1800"/>
              <a:t>.</a:t>
            </a:r>
            <a:endParaRPr sz="1800"/>
          </a:p>
          <a:p>
            <a:pPr indent="-342900" lvl="0" marL="457200" rtl="0" algn="just">
              <a:lnSpc>
                <a:spcPct val="95000"/>
              </a:lnSpc>
              <a:spcBef>
                <a:spcPts val="0"/>
              </a:spcBef>
              <a:spcAft>
                <a:spcPts val="0"/>
              </a:spcAft>
              <a:buSzPts val="1800"/>
              <a:buAutoNum type="arabicPeriod"/>
            </a:pPr>
            <a:r>
              <a:rPr lang="es" sz="1800"/>
              <a:t>¿</a:t>
            </a:r>
            <a:r>
              <a:rPr lang="es" sz="1800"/>
              <a:t>Cuántos</a:t>
            </a:r>
            <a:r>
              <a:rPr lang="es" sz="1800"/>
              <a:t> autores aparecen citados? ¿En qué páginas aparecen las referencias?</a:t>
            </a:r>
            <a:endParaRPr sz="1800"/>
          </a:p>
          <a:p>
            <a:pPr indent="-342900" lvl="0" marL="457200" rtl="0" algn="just">
              <a:lnSpc>
                <a:spcPct val="95000"/>
              </a:lnSpc>
              <a:spcBef>
                <a:spcPts val="0"/>
              </a:spcBef>
              <a:spcAft>
                <a:spcPts val="0"/>
              </a:spcAft>
              <a:buSzPts val="1800"/>
              <a:buAutoNum type="arabicPeriod"/>
            </a:pPr>
            <a:r>
              <a:rPr lang="es" sz="1800"/>
              <a:t>Enumera los dataset que utiliza.</a:t>
            </a:r>
            <a:endParaRPr sz="1800"/>
          </a:p>
          <a:p>
            <a:pPr indent="-342900" lvl="0" marL="457200" rtl="0" algn="just">
              <a:lnSpc>
                <a:spcPct val="95000"/>
              </a:lnSpc>
              <a:spcBef>
                <a:spcPts val="0"/>
              </a:spcBef>
              <a:spcAft>
                <a:spcPts val="0"/>
              </a:spcAft>
              <a:buSzPts val="1800"/>
              <a:buAutoNum type="arabicPeriod"/>
            </a:pPr>
            <a:r>
              <a:rPr lang="es" sz="1800"/>
              <a:t>Enumera las arquitecturas que utiliza para el experimento.</a:t>
            </a:r>
            <a:endParaRPr sz="1800"/>
          </a:p>
          <a:p>
            <a:pPr indent="-342900" lvl="0" marL="457200" rtl="0" algn="just">
              <a:lnSpc>
                <a:spcPct val="95000"/>
              </a:lnSpc>
              <a:spcBef>
                <a:spcPts val="0"/>
              </a:spcBef>
              <a:spcAft>
                <a:spcPts val="0"/>
              </a:spcAft>
              <a:buSzPts val="1800"/>
              <a:buAutoNum type="arabicPeriod"/>
            </a:pPr>
            <a:r>
              <a:rPr lang="es" sz="1800"/>
              <a:t>¿Qué </a:t>
            </a:r>
            <a:r>
              <a:rPr lang="es" sz="1800"/>
              <a:t>métrica</a:t>
            </a:r>
            <a:r>
              <a:rPr lang="es" sz="1800"/>
              <a:t> de desempeño utilizan?</a:t>
            </a:r>
            <a:endParaRPr sz="1800"/>
          </a:p>
          <a:p>
            <a:pPr indent="-342900" lvl="0" marL="457200" rtl="0" algn="just">
              <a:lnSpc>
                <a:spcPct val="95000"/>
              </a:lnSpc>
              <a:spcBef>
                <a:spcPts val="0"/>
              </a:spcBef>
              <a:spcAft>
                <a:spcPts val="0"/>
              </a:spcAft>
              <a:buSzPts val="1800"/>
              <a:buAutoNum type="arabicPeriod"/>
            </a:pPr>
            <a:r>
              <a:rPr lang="es" sz="1800"/>
              <a:t>¿Podemos acceder al código del experimento?</a:t>
            </a:r>
            <a:endParaRPr sz="1800"/>
          </a:p>
          <a:p>
            <a:pPr indent="-342900" lvl="0" marL="457200" rtl="0" algn="just">
              <a:lnSpc>
                <a:spcPct val="95000"/>
              </a:lnSpc>
              <a:spcBef>
                <a:spcPts val="0"/>
              </a:spcBef>
              <a:spcAft>
                <a:spcPts val="0"/>
              </a:spcAft>
              <a:buSzPts val="1800"/>
              <a:buAutoNum type="arabicPeriod"/>
            </a:pPr>
            <a:r>
              <a:rPr lang="es" sz="1800"/>
              <a:t>¿Qué conclusiones podemos sacar de este experimento?</a:t>
            </a:r>
            <a:endParaRPr sz="18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8. </a:t>
            </a:r>
            <a:r>
              <a:rPr lang="es"/>
              <a:t>Inicialización de parámetros</a:t>
            </a:r>
            <a:endParaRPr/>
          </a:p>
        </p:txBody>
      </p:sp>
      <p:sp>
        <p:nvSpPr>
          <p:cNvPr id="242" name="Google Shape;242;p3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43" name="Google Shape;243;p34"/>
          <p:cNvSpPr txBox="1"/>
          <p:nvPr/>
        </p:nvSpPr>
        <p:spPr>
          <a:xfrm>
            <a:off x="347500" y="1243575"/>
            <a:ext cx="8737500" cy="44514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Hemos visto que las redes neuronales tienen un gran número de parámetros </a:t>
            </a:r>
            <a:r>
              <a:rPr b="1" lang="es" sz="2200"/>
              <a:t>w </a:t>
            </a:r>
            <a:r>
              <a:rPr lang="es" sz="2200"/>
              <a:t>y </a:t>
            </a:r>
            <a:r>
              <a:rPr b="1" lang="es" sz="2200"/>
              <a:t>b </a:t>
            </a:r>
            <a:r>
              <a:rPr lang="es" sz="2200"/>
              <a:t>que aprender. La correcta inicialización de éstos es un aspecto crítico para un correcto entrenamiento</a:t>
            </a:r>
            <a:r>
              <a:rPr lang="es" sz="1800"/>
              <a:t>.</a:t>
            </a:r>
            <a:endParaRPr sz="1800"/>
          </a:p>
          <a:p>
            <a:pPr indent="0" lvl="0" marL="0" rtl="0" algn="just">
              <a:lnSpc>
                <a:spcPct val="95000"/>
              </a:lnSpc>
              <a:spcBef>
                <a:spcPts val="1200"/>
              </a:spcBef>
              <a:spcAft>
                <a:spcPts val="0"/>
              </a:spcAft>
              <a:buNone/>
            </a:pPr>
            <a:r>
              <a:rPr b="1" lang="es" sz="2200"/>
              <a:t>Recordar:</a:t>
            </a:r>
            <a:r>
              <a:rPr lang="es" sz="1800"/>
              <a:t> </a:t>
            </a:r>
            <a:r>
              <a:rPr lang="es" sz="2200"/>
              <a:t>Nuestro objetivo al entrenar la red neuronal es conseguir que nuestra aproximación al objetivo real sea lo mejor posible, esto es, minimizar en la medida de lo posible </a:t>
            </a:r>
            <a:r>
              <a:rPr b="1" lang="es" sz="2200"/>
              <a:t>C(w, b)</a:t>
            </a:r>
            <a:r>
              <a:rPr lang="es" sz="2200"/>
              <a:t>.</a:t>
            </a:r>
            <a:endParaRPr sz="2200"/>
          </a:p>
          <a:p>
            <a:pPr indent="0" lvl="0" marL="0" rtl="0" algn="l">
              <a:spcBef>
                <a:spcPts val="1200"/>
              </a:spcBef>
              <a:spcAft>
                <a:spcPts val="0"/>
              </a:spcAft>
              <a:buNone/>
            </a:pPr>
            <a:r>
              <a:t/>
            </a:r>
            <a:endParaRPr sz="2200"/>
          </a:p>
          <a:p>
            <a:pPr indent="0" lvl="0" marL="0" rtl="0" algn="just">
              <a:lnSpc>
                <a:spcPct val="95000"/>
              </a:lnSpc>
              <a:spcBef>
                <a:spcPts val="0"/>
              </a:spcBef>
              <a:spcAft>
                <a:spcPts val="0"/>
              </a:spcAft>
              <a:buNone/>
            </a:pPr>
            <a:r>
              <a:t/>
            </a:r>
            <a:endParaRPr sz="18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8. Inicialización de parámetros</a:t>
            </a:r>
            <a:endParaRPr/>
          </a:p>
        </p:txBody>
      </p:sp>
      <p:sp>
        <p:nvSpPr>
          <p:cNvPr id="249" name="Google Shape;249;p3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50" name="Google Shape;250;p35"/>
          <p:cNvSpPr txBox="1"/>
          <p:nvPr/>
        </p:nvSpPr>
        <p:spPr>
          <a:xfrm>
            <a:off x="347500" y="1243575"/>
            <a:ext cx="4923600" cy="49824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La inicialización de todos los parámetros a 0 es un error a evitar</a:t>
            </a:r>
            <a:r>
              <a:rPr lang="es" sz="1800"/>
              <a:t>.</a:t>
            </a:r>
            <a:endParaRPr sz="1800"/>
          </a:p>
          <a:p>
            <a:pPr indent="0" lvl="0" marL="0" rtl="0" algn="just">
              <a:lnSpc>
                <a:spcPct val="95000"/>
              </a:lnSpc>
              <a:spcBef>
                <a:spcPts val="1200"/>
              </a:spcBef>
              <a:spcAft>
                <a:spcPts val="0"/>
              </a:spcAft>
              <a:buNone/>
            </a:pPr>
            <a:r>
              <a:rPr lang="es" sz="2200"/>
              <a:t>El mismo valor en todos los parámetros hace que todas las neuronas tengan el mismo efecto en la entrada, lo cual provoca que el gradiente respecto a todos los pesos sea el mismo y, por tanto, los parámetros cambien de igual manera siempre.</a:t>
            </a:r>
            <a:endParaRPr sz="18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251" name="Google Shape;251;p35"/>
          <p:cNvPicPr preferRelativeResize="0"/>
          <p:nvPr/>
        </p:nvPicPr>
        <p:blipFill>
          <a:blip r:embed="rId3">
            <a:alphaModFix/>
          </a:blip>
          <a:stretch>
            <a:fillRect/>
          </a:stretch>
        </p:blipFill>
        <p:spPr>
          <a:xfrm>
            <a:off x="5523175" y="1400375"/>
            <a:ext cx="3013125" cy="24580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8. Inicialización de parámetros</a:t>
            </a:r>
            <a:endParaRPr/>
          </a:p>
        </p:txBody>
      </p:sp>
      <p:sp>
        <p:nvSpPr>
          <p:cNvPr id="257" name="Google Shape;257;p3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58" name="Google Shape;258;p36"/>
          <p:cNvSpPr txBox="1"/>
          <p:nvPr/>
        </p:nvSpPr>
        <p:spPr>
          <a:xfrm>
            <a:off x="347500" y="1243575"/>
            <a:ext cx="8578200" cy="48147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Inicialización aleatoria:</a:t>
            </a:r>
            <a:endParaRPr sz="2200"/>
          </a:p>
          <a:p>
            <a:pPr indent="-368300" lvl="0" marL="457200" rtl="0" algn="just">
              <a:lnSpc>
                <a:spcPct val="95000"/>
              </a:lnSpc>
              <a:spcBef>
                <a:spcPts val="1200"/>
              </a:spcBef>
              <a:spcAft>
                <a:spcPts val="0"/>
              </a:spcAft>
              <a:buSzPts val="2200"/>
              <a:buChar char="●"/>
            </a:pPr>
            <a:r>
              <a:rPr lang="es" sz="2200"/>
              <a:t>Es necesario romper la “simetría de parámetros” de la red.</a:t>
            </a:r>
            <a:endParaRPr sz="2200"/>
          </a:p>
          <a:p>
            <a:pPr indent="-368300" lvl="0" marL="457200" rtl="0" algn="just">
              <a:lnSpc>
                <a:spcPct val="95000"/>
              </a:lnSpc>
              <a:spcBef>
                <a:spcPts val="0"/>
              </a:spcBef>
              <a:spcAft>
                <a:spcPts val="0"/>
              </a:spcAft>
              <a:buSzPts val="2200"/>
              <a:buChar char="●"/>
            </a:pPr>
            <a:r>
              <a:rPr lang="es" sz="2200"/>
              <a:t>Una opción sencilla es inicializar los pesos de manera aleatoria utilizando una distribución normal centrada en 0 con un pequeño valor de desviación típica, por ejemplo 0.01.</a:t>
            </a:r>
            <a:endParaRPr sz="2200"/>
          </a:p>
          <a:p>
            <a:pPr indent="-368300" lvl="0" marL="457200" rtl="0" algn="just">
              <a:lnSpc>
                <a:spcPct val="95000"/>
              </a:lnSpc>
              <a:spcBef>
                <a:spcPts val="0"/>
              </a:spcBef>
              <a:spcAft>
                <a:spcPts val="0"/>
              </a:spcAft>
              <a:buSzPts val="2200"/>
              <a:buChar char="●"/>
            </a:pPr>
            <a:r>
              <a:rPr lang="es" sz="2200"/>
              <a:t>Es importante que los números sean pequeños (de aquí la desviación típica de 0.01) para evitar que las funciones de activación se saturen frecuentemente.</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8. Inicialización de parámetros</a:t>
            </a:r>
            <a:endParaRPr/>
          </a:p>
        </p:txBody>
      </p:sp>
      <p:sp>
        <p:nvSpPr>
          <p:cNvPr id="264" name="Google Shape;264;p3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65" name="Google Shape;265;p37"/>
          <p:cNvSpPr txBox="1"/>
          <p:nvPr/>
        </p:nvSpPr>
        <p:spPr>
          <a:xfrm>
            <a:off x="347500" y="1243575"/>
            <a:ext cx="8578200" cy="38496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Inicialización aleatoria:</a:t>
            </a:r>
            <a:endParaRPr sz="2200"/>
          </a:p>
          <a:p>
            <a:pPr indent="-368300" lvl="0" marL="457200" rtl="0" algn="just">
              <a:lnSpc>
                <a:spcPct val="95000"/>
              </a:lnSpc>
              <a:spcBef>
                <a:spcPts val="1200"/>
              </a:spcBef>
              <a:spcAft>
                <a:spcPts val="0"/>
              </a:spcAft>
              <a:buSzPts val="2200"/>
              <a:buChar char="●"/>
            </a:pPr>
            <a:r>
              <a:rPr lang="es" sz="2200"/>
              <a:t>Esto aún puede crear ciertos problemas: en redes muy profundas, tener pesos pequeños puede acabar haciendo que los valores de salida se vayan aproximando a 0 y que los gradientes mueran.</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8. Inicialización de parámetros</a:t>
            </a:r>
            <a:endParaRPr/>
          </a:p>
        </p:txBody>
      </p:sp>
      <p:sp>
        <p:nvSpPr>
          <p:cNvPr id="271" name="Google Shape;271;p3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72" name="Google Shape;272;p38"/>
          <p:cNvSpPr txBox="1"/>
          <p:nvPr/>
        </p:nvSpPr>
        <p:spPr>
          <a:xfrm>
            <a:off x="347500" y="1243575"/>
            <a:ext cx="8578200" cy="44931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Xavier y He initialization</a:t>
            </a:r>
            <a:endParaRPr sz="2200"/>
          </a:p>
          <a:p>
            <a:pPr indent="-368300" lvl="0" marL="457200" rtl="0" algn="just">
              <a:lnSpc>
                <a:spcPct val="95000"/>
              </a:lnSpc>
              <a:spcBef>
                <a:spcPts val="1200"/>
              </a:spcBef>
              <a:spcAft>
                <a:spcPts val="0"/>
              </a:spcAft>
              <a:buSzPts val="2200"/>
              <a:buChar char="●"/>
            </a:pPr>
            <a:r>
              <a:rPr lang="es" sz="2200"/>
              <a:t>Como vemos, hasta los más mínimos detalles pueden afectar negativamente al entrenamiento de una red neuronal. La inicialización de parámetros es un campo de estudio muy activo, donde nuevas estrategias surgen continuamente.</a:t>
            </a:r>
            <a:endParaRPr sz="2200"/>
          </a:p>
          <a:p>
            <a:pPr indent="-368300" lvl="0" marL="457200" rtl="0" algn="just">
              <a:lnSpc>
                <a:spcPct val="95000"/>
              </a:lnSpc>
              <a:spcBef>
                <a:spcPts val="0"/>
              </a:spcBef>
              <a:spcAft>
                <a:spcPts val="0"/>
              </a:spcAft>
              <a:buSzPts val="2200"/>
              <a:buChar char="●"/>
            </a:pPr>
            <a:r>
              <a:rPr lang="es" sz="2200"/>
              <a:t>En la actualidad, es común utilizar estrategias conocidas como Xavier (Glorot) initialization y He initialization.</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8. Inicialización de parámetros</a:t>
            </a:r>
            <a:endParaRPr/>
          </a:p>
        </p:txBody>
      </p:sp>
      <p:sp>
        <p:nvSpPr>
          <p:cNvPr id="278" name="Google Shape;278;p3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79" name="Google Shape;279;p39"/>
          <p:cNvSpPr txBox="1"/>
          <p:nvPr/>
        </p:nvSpPr>
        <p:spPr>
          <a:xfrm>
            <a:off x="347500" y="1243575"/>
            <a:ext cx="8578200" cy="38496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Xavier y He initialization</a:t>
            </a:r>
            <a:endParaRPr sz="2200"/>
          </a:p>
          <a:p>
            <a:pPr indent="0" lvl="0" marL="0" rtl="0" algn="just">
              <a:lnSpc>
                <a:spcPct val="95000"/>
              </a:lnSpc>
              <a:spcBef>
                <a:spcPts val="1200"/>
              </a:spcBef>
              <a:spcAft>
                <a:spcPts val="0"/>
              </a:spcAft>
              <a:buNone/>
            </a:pPr>
            <a:r>
              <a:rPr lang="es" sz="2200"/>
              <a:t>La idea es intentar que la varianza de salida de una neurona sea igual a la varianza de entrada. Esto hace que todas las neuronas de la red tengan aproximadamente la misma distribución de salida, lo que acelera la convergencia al entrenar.</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280" name="Google Shape;280;p39"/>
          <p:cNvPicPr preferRelativeResize="0"/>
          <p:nvPr/>
        </p:nvPicPr>
        <p:blipFill>
          <a:blip r:embed="rId3">
            <a:alphaModFix/>
          </a:blip>
          <a:stretch>
            <a:fillRect/>
          </a:stretch>
        </p:blipFill>
        <p:spPr>
          <a:xfrm>
            <a:off x="1115675" y="3115275"/>
            <a:ext cx="7622225" cy="1681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8. Inicialización de parámetros</a:t>
            </a:r>
            <a:endParaRPr/>
          </a:p>
        </p:txBody>
      </p:sp>
      <p:sp>
        <p:nvSpPr>
          <p:cNvPr id="286" name="Google Shape;286;p4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87" name="Google Shape;287;p40"/>
          <p:cNvSpPr txBox="1"/>
          <p:nvPr/>
        </p:nvSpPr>
        <p:spPr>
          <a:xfrm>
            <a:off x="347500" y="1243575"/>
            <a:ext cx="8578200" cy="41712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Inicialización de los biases</a:t>
            </a:r>
            <a:endParaRPr sz="2200"/>
          </a:p>
          <a:p>
            <a:pPr indent="-368300" lvl="0" marL="457200" rtl="0" algn="just">
              <a:lnSpc>
                <a:spcPct val="95000"/>
              </a:lnSpc>
              <a:spcBef>
                <a:spcPts val="1200"/>
              </a:spcBef>
              <a:spcAft>
                <a:spcPts val="0"/>
              </a:spcAft>
              <a:buSzPts val="2200"/>
              <a:buChar char="●"/>
            </a:pPr>
            <a:r>
              <a:rPr lang="es" sz="2200"/>
              <a:t>La inicialización de los biases b no es un elemento crítico a la hora de entrenar una red neuronal.</a:t>
            </a:r>
            <a:endParaRPr sz="2200"/>
          </a:p>
          <a:p>
            <a:pPr indent="-368300" lvl="0" marL="457200" rtl="0" algn="just">
              <a:lnSpc>
                <a:spcPct val="95000"/>
              </a:lnSpc>
              <a:spcBef>
                <a:spcPts val="0"/>
              </a:spcBef>
              <a:spcAft>
                <a:spcPts val="0"/>
              </a:spcAft>
              <a:buSzPts val="2200"/>
              <a:buChar char="●"/>
            </a:pPr>
            <a:r>
              <a:rPr lang="es" sz="2200"/>
              <a:t>Una vez que los pesos w son inicializados aleatoriamente, la simetría de la red se rompe.</a:t>
            </a:r>
            <a:endParaRPr sz="2200"/>
          </a:p>
          <a:p>
            <a:pPr indent="-368300" lvl="0" marL="457200" rtl="0" algn="just">
              <a:lnSpc>
                <a:spcPct val="95000"/>
              </a:lnSpc>
              <a:spcBef>
                <a:spcPts val="0"/>
              </a:spcBef>
              <a:spcAft>
                <a:spcPts val="0"/>
              </a:spcAft>
              <a:buSzPts val="2200"/>
              <a:buChar char="●"/>
            </a:pPr>
            <a:r>
              <a:rPr lang="es" sz="2200"/>
              <a:t>Es común inicializarlos a 0 (default en Keras).</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8. Inicialización de parámetros</a:t>
            </a:r>
            <a:endParaRPr/>
          </a:p>
        </p:txBody>
      </p:sp>
      <p:sp>
        <p:nvSpPr>
          <p:cNvPr id="293" name="Google Shape;293;p4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94" name="Google Shape;294;p41"/>
          <p:cNvSpPr txBox="1"/>
          <p:nvPr/>
        </p:nvSpPr>
        <p:spPr>
          <a:xfrm>
            <a:off x="347500" y="1243575"/>
            <a:ext cx="8578200" cy="36819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Recurso muy interesante, vamos a aplicar los conceptos aprendidos.</a:t>
            </a:r>
            <a:endParaRPr sz="2200"/>
          </a:p>
          <a:p>
            <a:pPr indent="0" lvl="0" marL="0" rtl="0" algn="just">
              <a:lnSpc>
                <a:spcPct val="95000"/>
              </a:lnSpc>
              <a:spcBef>
                <a:spcPts val="1200"/>
              </a:spcBef>
              <a:spcAft>
                <a:spcPts val="0"/>
              </a:spcAft>
              <a:buNone/>
            </a:pPr>
            <a:r>
              <a:t/>
            </a:r>
            <a:endParaRPr sz="2200"/>
          </a:p>
          <a:p>
            <a:pPr indent="0" lvl="0" marL="914400" rtl="0" algn="just">
              <a:lnSpc>
                <a:spcPct val="95000"/>
              </a:lnSpc>
              <a:spcBef>
                <a:spcPts val="1200"/>
              </a:spcBef>
              <a:spcAft>
                <a:spcPts val="0"/>
              </a:spcAft>
              <a:buNone/>
            </a:pPr>
            <a:r>
              <a:rPr lang="es" sz="2200" u="sng">
                <a:solidFill>
                  <a:schemeClr val="hlink"/>
                </a:solidFill>
                <a:hlinkClick r:id="rId3"/>
              </a:rPr>
              <a:t>http://www.deeplearning.ai/ai-notes/initialization/</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9. Batch normalization</a:t>
            </a:r>
            <a:endParaRPr/>
          </a:p>
          <a:p>
            <a:pPr indent="0" lvl="0" marL="0" rtl="0" algn="l">
              <a:spcBef>
                <a:spcPts val="0"/>
              </a:spcBef>
              <a:spcAft>
                <a:spcPts val="0"/>
              </a:spcAft>
              <a:buNone/>
            </a:pPr>
            <a:r>
              <a:t/>
            </a:r>
            <a:endParaRPr/>
          </a:p>
        </p:txBody>
      </p:sp>
      <p:sp>
        <p:nvSpPr>
          <p:cNvPr id="300" name="Google Shape;300;p4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01" name="Google Shape;301;p42"/>
          <p:cNvSpPr txBox="1"/>
          <p:nvPr/>
        </p:nvSpPr>
        <p:spPr>
          <a:xfrm>
            <a:off x="347500" y="1243575"/>
            <a:ext cx="8578200" cy="52764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En los puntos anteriores, hemos visto cómo la distribución de valores de entrada y salida en las capas de una red neuronal tiene una gran repercusión durante el entrenamiento.</a:t>
            </a:r>
            <a:endParaRPr sz="2200"/>
          </a:p>
          <a:p>
            <a:pPr indent="0" lvl="0" marL="0" rtl="0" algn="just">
              <a:lnSpc>
                <a:spcPct val="95000"/>
              </a:lnSpc>
              <a:spcBef>
                <a:spcPts val="1200"/>
              </a:spcBef>
              <a:spcAft>
                <a:spcPts val="0"/>
              </a:spcAft>
              <a:buNone/>
            </a:pPr>
            <a:r>
              <a:rPr lang="es" sz="2200"/>
              <a:t>Esto es similar al preprocesamiento de los datos de entrada en la input layer para un correcto entrenamiento.</a:t>
            </a:r>
            <a:endParaRPr b="1" sz="2200"/>
          </a:p>
          <a:p>
            <a:pPr indent="457200" lvl="0" marL="457200" rtl="0" algn="just">
              <a:lnSpc>
                <a:spcPct val="95000"/>
              </a:lnSpc>
              <a:spcBef>
                <a:spcPts val="1200"/>
              </a:spcBef>
              <a:spcAft>
                <a:spcPts val="0"/>
              </a:spcAft>
              <a:buNone/>
            </a:pPr>
            <a:r>
              <a:rPr b="1" lang="es" sz="2200"/>
              <a:t>¿Por qué no “preprocesar” los datos en cada capa?</a:t>
            </a:r>
            <a:endParaRPr b="1" sz="2200"/>
          </a:p>
          <a:p>
            <a:pPr indent="0" lvl="0" marL="0" rtl="0" algn="just">
              <a:lnSpc>
                <a:spcPct val="95000"/>
              </a:lnSpc>
              <a:spcBef>
                <a:spcPts val="1200"/>
              </a:spcBef>
              <a:spcAft>
                <a:spcPts val="0"/>
              </a:spcAft>
              <a:buNone/>
            </a:pPr>
            <a:r>
              <a:t/>
            </a:r>
            <a:endParaRPr sz="2200"/>
          </a:p>
          <a:p>
            <a:pPr indent="0" lvl="0" marL="91440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9. Batch normalization</a:t>
            </a:r>
            <a:endParaRPr/>
          </a:p>
          <a:p>
            <a:pPr indent="0" lvl="0" marL="0" rtl="0" algn="l">
              <a:spcBef>
                <a:spcPts val="0"/>
              </a:spcBef>
              <a:spcAft>
                <a:spcPts val="0"/>
              </a:spcAft>
              <a:buNone/>
            </a:pPr>
            <a:r>
              <a:t/>
            </a:r>
            <a:endParaRPr/>
          </a:p>
        </p:txBody>
      </p:sp>
      <p:sp>
        <p:nvSpPr>
          <p:cNvPr id="307" name="Google Shape;307;p4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08" name="Google Shape;308;p43"/>
          <p:cNvSpPr txBox="1"/>
          <p:nvPr/>
        </p:nvSpPr>
        <p:spPr>
          <a:xfrm>
            <a:off x="347500" y="1243575"/>
            <a:ext cx="5338200" cy="60876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Batch normalization consiste en forzar que la entrada de las unidades de activación en todas las capas siga una distribución normal estándar.</a:t>
            </a:r>
            <a:endParaRPr sz="2200"/>
          </a:p>
          <a:p>
            <a:pPr indent="0" lvl="0" marL="0" rtl="0" algn="just">
              <a:lnSpc>
                <a:spcPct val="95000"/>
              </a:lnSpc>
              <a:spcBef>
                <a:spcPts val="1200"/>
              </a:spcBef>
              <a:spcAft>
                <a:spcPts val="0"/>
              </a:spcAft>
              <a:buNone/>
            </a:pPr>
            <a:r>
              <a:rPr lang="es" sz="2200"/>
              <a:t>Esto </a:t>
            </a:r>
            <a:r>
              <a:rPr b="1" lang="es" sz="2200"/>
              <a:t>evita muchos de los problemas </a:t>
            </a:r>
            <a:r>
              <a:rPr lang="es" sz="2200"/>
              <a:t>creados por las unidades de activación y la incorrecta inicialización de parámetros, </a:t>
            </a:r>
            <a:r>
              <a:rPr b="1" lang="es" sz="2200"/>
              <a:t>acelerando </a:t>
            </a:r>
            <a:r>
              <a:rPr lang="es" sz="2200"/>
              <a:t>el entrenamiento de las redes neuronales.</a:t>
            </a:r>
            <a:endParaRPr sz="2200"/>
          </a:p>
          <a:p>
            <a:pPr indent="0" lvl="0" marL="0" rtl="0" algn="just">
              <a:lnSpc>
                <a:spcPct val="95000"/>
              </a:lnSpc>
              <a:spcBef>
                <a:spcPts val="1200"/>
              </a:spcBef>
              <a:spcAft>
                <a:spcPts val="0"/>
              </a:spcAft>
              <a:buNone/>
            </a:pPr>
            <a:r>
              <a:t/>
            </a:r>
            <a:endParaRPr sz="2200"/>
          </a:p>
          <a:p>
            <a:pPr indent="0" lvl="0" marL="91440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309" name="Google Shape;309;p43"/>
          <p:cNvPicPr preferRelativeResize="0"/>
          <p:nvPr/>
        </p:nvPicPr>
        <p:blipFill>
          <a:blip r:embed="rId3">
            <a:alphaModFix/>
          </a:blip>
          <a:stretch>
            <a:fillRect/>
          </a:stretch>
        </p:blipFill>
        <p:spPr>
          <a:xfrm>
            <a:off x="5786000" y="1168625"/>
            <a:ext cx="3239450" cy="30210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9. Batch normalization</a:t>
            </a:r>
            <a:endParaRPr/>
          </a:p>
          <a:p>
            <a:pPr indent="0" lvl="0" marL="0" rtl="0" algn="l">
              <a:spcBef>
                <a:spcPts val="0"/>
              </a:spcBef>
              <a:spcAft>
                <a:spcPts val="0"/>
              </a:spcAft>
              <a:buNone/>
            </a:pPr>
            <a:r>
              <a:t/>
            </a:r>
            <a:endParaRPr/>
          </a:p>
        </p:txBody>
      </p:sp>
      <p:sp>
        <p:nvSpPr>
          <p:cNvPr id="315" name="Google Shape;315;p4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16" name="Google Shape;316;p44"/>
          <p:cNvSpPr txBox="1"/>
          <p:nvPr/>
        </p:nvSpPr>
        <p:spPr>
          <a:xfrm>
            <a:off x="347500" y="1243575"/>
            <a:ext cx="8316000" cy="46470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Batch normalization se aplica, como su propio nombre indica, por cada training batch. Por cada batch, se calcula la media y la varianza de los inputs de las funciones de activación. Con esto, se calculan los inputs normalizados mediante la siguiente fórmula:</a:t>
            </a:r>
            <a:endParaRPr sz="2200"/>
          </a:p>
          <a:p>
            <a:pPr indent="0" lvl="0" marL="0" rtl="0" algn="just">
              <a:lnSpc>
                <a:spcPct val="95000"/>
              </a:lnSpc>
              <a:spcBef>
                <a:spcPts val="1200"/>
              </a:spcBef>
              <a:spcAft>
                <a:spcPts val="0"/>
              </a:spcAft>
              <a:buNone/>
            </a:pPr>
            <a:r>
              <a:t/>
            </a:r>
            <a:endParaRPr sz="2200"/>
          </a:p>
          <a:p>
            <a:pPr indent="0" lvl="0" marL="91440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317" name="Google Shape;317;p44"/>
          <p:cNvPicPr preferRelativeResize="0"/>
          <p:nvPr/>
        </p:nvPicPr>
        <p:blipFill>
          <a:blip r:embed="rId3">
            <a:alphaModFix/>
          </a:blip>
          <a:stretch>
            <a:fillRect/>
          </a:stretch>
        </p:blipFill>
        <p:spPr>
          <a:xfrm>
            <a:off x="2239313" y="3034963"/>
            <a:ext cx="3667125" cy="11715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9. Batch normalization</a:t>
            </a:r>
            <a:endParaRPr/>
          </a:p>
          <a:p>
            <a:pPr indent="0" lvl="0" marL="0" rtl="0" algn="l">
              <a:spcBef>
                <a:spcPts val="0"/>
              </a:spcBef>
              <a:spcAft>
                <a:spcPts val="0"/>
              </a:spcAft>
              <a:buNone/>
            </a:pPr>
            <a:r>
              <a:t/>
            </a:r>
            <a:endParaRPr/>
          </a:p>
        </p:txBody>
      </p:sp>
      <p:sp>
        <p:nvSpPr>
          <p:cNvPr id="323" name="Google Shape;323;p4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24" name="Google Shape;324;p45"/>
          <p:cNvPicPr preferRelativeResize="0"/>
          <p:nvPr/>
        </p:nvPicPr>
        <p:blipFill>
          <a:blip r:embed="rId3">
            <a:alphaModFix/>
          </a:blip>
          <a:stretch>
            <a:fillRect/>
          </a:stretch>
        </p:blipFill>
        <p:spPr>
          <a:xfrm>
            <a:off x="482300" y="2167825"/>
            <a:ext cx="8320200" cy="2167700"/>
          </a:xfrm>
          <a:prstGeom prst="rect">
            <a:avLst/>
          </a:prstGeom>
          <a:noFill/>
          <a:ln>
            <a:noFill/>
          </a:ln>
        </p:spPr>
      </p:pic>
      <p:sp>
        <p:nvSpPr>
          <p:cNvPr id="325" name="Google Shape;325;p45"/>
          <p:cNvSpPr txBox="1"/>
          <p:nvPr/>
        </p:nvSpPr>
        <p:spPr>
          <a:xfrm>
            <a:off x="389850" y="1266925"/>
            <a:ext cx="7943700" cy="8280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1200"/>
              </a:spcAft>
              <a:buNone/>
            </a:pPr>
            <a:r>
              <a:rPr lang="es" sz="2200"/>
              <a:t>“</a:t>
            </a:r>
            <a:r>
              <a:rPr lang="es" sz="2200"/>
              <a:t>se calcula la media y la varianza de los inputs de las funciones de activación”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9. Batch normalization</a:t>
            </a:r>
            <a:endParaRPr/>
          </a:p>
          <a:p>
            <a:pPr indent="0" lvl="0" marL="0" rtl="0" algn="l">
              <a:spcBef>
                <a:spcPts val="0"/>
              </a:spcBef>
              <a:spcAft>
                <a:spcPts val="0"/>
              </a:spcAft>
              <a:buNone/>
            </a:pPr>
            <a:r>
              <a:t/>
            </a:r>
            <a:endParaRPr/>
          </a:p>
        </p:txBody>
      </p:sp>
      <p:sp>
        <p:nvSpPr>
          <p:cNvPr id="331" name="Google Shape;331;p4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32" name="Google Shape;332;p46"/>
          <p:cNvSpPr txBox="1"/>
          <p:nvPr/>
        </p:nvSpPr>
        <p:spPr>
          <a:xfrm>
            <a:off x="389850" y="1266925"/>
            <a:ext cx="7943700" cy="14715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1200"/>
              </a:spcAft>
              <a:buNone/>
            </a:pPr>
            <a:r>
              <a:rPr lang="es" sz="2200"/>
              <a:t>La operación de batch normalization se ejecuta antes de la aplicación de la función de activación, esto es, justo después de hacer la operación lineal Wx + b, donde x es el input de la capa.</a:t>
            </a:r>
            <a:endParaRPr sz="2200"/>
          </a:p>
        </p:txBody>
      </p:sp>
      <p:sp>
        <p:nvSpPr>
          <p:cNvPr id="333" name="Google Shape;333;p46"/>
          <p:cNvSpPr txBox="1"/>
          <p:nvPr/>
        </p:nvSpPr>
        <p:spPr>
          <a:xfrm>
            <a:off x="1207950" y="2690200"/>
            <a:ext cx="7208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t>1. </a:t>
            </a:r>
            <a:r>
              <a:rPr lang="es" sz="2100"/>
              <a:t>Llega x de entrada a la capa (salida de la capa anterior)</a:t>
            </a:r>
            <a:endParaRPr sz="2100"/>
          </a:p>
          <a:p>
            <a:pPr indent="0" lvl="0" marL="0" rtl="0" algn="l">
              <a:spcBef>
                <a:spcPts val="0"/>
              </a:spcBef>
              <a:spcAft>
                <a:spcPts val="0"/>
              </a:spcAft>
              <a:buNone/>
            </a:pPr>
            <a:r>
              <a:rPr lang="es" sz="2100"/>
              <a:t>2. Aplicamos Wx + b</a:t>
            </a:r>
            <a:endParaRPr sz="2100"/>
          </a:p>
          <a:p>
            <a:pPr indent="0" lvl="0" marL="0" rtl="0" algn="l">
              <a:spcBef>
                <a:spcPts val="0"/>
              </a:spcBef>
              <a:spcAft>
                <a:spcPts val="0"/>
              </a:spcAft>
              <a:buNone/>
            </a:pPr>
            <a:r>
              <a:rPr lang="es" sz="2100"/>
              <a:t>3. Aplicamos Batch normalization: BN(Wx + b)</a:t>
            </a:r>
            <a:endParaRPr sz="2100"/>
          </a:p>
          <a:p>
            <a:pPr indent="0" lvl="0" marL="0" rtl="0" algn="l">
              <a:spcBef>
                <a:spcPts val="0"/>
              </a:spcBef>
              <a:spcAft>
                <a:spcPts val="0"/>
              </a:spcAft>
              <a:buNone/>
            </a:pPr>
            <a:r>
              <a:rPr lang="es" sz="2100"/>
              <a:t>4. Aplicamos la función de activación: f(BN(Wx + b))</a:t>
            </a:r>
            <a:endParaRPr sz="2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9. Batch normalization</a:t>
            </a:r>
            <a:endParaRPr/>
          </a:p>
          <a:p>
            <a:pPr indent="0" lvl="0" marL="0" rtl="0" algn="l">
              <a:spcBef>
                <a:spcPts val="0"/>
              </a:spcBef>
              <a:spcAft>
                <a:spcPts val="0"/>
              </a:spcAft>
              <a:buNone/>
            </a:pPr>
            <a:r>
              <a:t/>
            </a:r>
            <a:endParaRPr/>
          </a:p>
        </p:txBody>
      </p:sp>
      <p:sp>
        <p:nvSpPr>
          <p:cNvPr id="339" name="Google Shape;339;p4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40" name="Google Shape;340;p47"/>
          <p:cNvSpPr txBox="1"/>
          <p:nvPr/>
        </p:nvSpPr>
        <p:spPr>
          <a:xfrm>
            <a:off x="389850" y="1266925"/>
            <a:ext cx="7943700" cy="22689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Esta normalización podría reducir el poder de expresión de una red neuronal. Por tanto, es habitual reemplazar los valores ya normalizados por una nueva parametrización con dos nuevos parámetros.</a:t>
            </a:r>
            <a:endParaRPr sz="2200"/>
          </a:p>
          <a:p>
            <a:pPr indent="0" lvl="0" marL="0" rtl="0" algn="just">
              <a:lnSpc>
                <a:spcPct val="95000"/>
              </a:lnSpc>
              <a:spcBef>
                <a:spcPts val="1200"/>
              </a:spcBef>
              <a:spcAft>
                <a:spcPts val="1200"/>
              </a:spcAft>
              <a:buNone/>
            </a:pPr>
            <a:r>
              <a:rPr lang="es" sz="2200"/>
              <a:t>La idea es que la red tenga la capacidad teórica de “deshacer” los efectos de </a:t>
            </a:r>
            <a:r>
              <a:rPr b="1" lang="es" sz="2200"/>
              <a:t>batch normalization</a:t>
            </a:r>
            <a:r>
              <a:rPr lang="es" sz="2200"/>
              <a:t> si así quisiera.</a:t>
            </a:r>
            <a:endParaRPr sz="2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9. Batch normalization</a:t>
            </a:r>
            <a:endParaRPr/>
          </a:p>
          <a:p>
            <a:pPr indent="0" lvl="0" marL="0" rtl="0" algn="l">
              <a:spcBef>
                <a:spcPts val="0"/>
              </a:spcBef>
              <a:spcAft>
                <a:spcPts val="0"/>
              </a:spcAft>
              <a:buNone/>
            </a:pPr>
            <a:r>
              <a:t/>
            </a:r>
            <a:endParaRPr/>
          </a:p>
        </p:txBody>
      </p:sp>
      <p:sp>
        <p:nvSpPr>
          <p:cNvPr id="346" name="Google Shape;346;p4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47" name="Google Shape;347;p48"/>
          <p:cNvSpPr txBox="1"/>
          <p:nvPr/>
        </p:nvSpPr>
        <p:spPr>
          <a:xfrm>
            <a:off x="389850" y="1266925"/>
            <a:ext cx="7943700" cy="27075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Ventajas:</a:t>
            </a:r>
            <a:endParaRPr sz="2200"/>
          </a:p>
          <a:p>
            <a:pPr indent="-355600" lvl="0" marL="457200" rtl="0" algn="just">
              <a:lnSpc>
                <a:spcPct val="95000"/>
              </a:lnSpc>
              <a:spcBef>
                <a:spcPts val="1200"/>
              </a:spcBef>
              <a:spcAft>
                <a:spcPts val="0"/>
              </a:spcAft>
              <a:buSzPts val="2000"/>
              <a:buChar char="●"/>
            </a:pPr>
            <a:r>
              <a:rPr lang="es" sz="2000"/>
              <a:t>Mejora el flujo de gradientes de la red durante el aprendizaje, aumentando por tanto la velocidad de convergencia.</a:t>
            </a:r>
            <a:endParaRPr sz="2000"/>
          </a:p>
          <a:p>
            <a:pPr indent="-355600" lvl="0" marL="457200" rtl="0" algn="just">
              <a:lnSpc>
                <a:spcPct val="95000"/>
              </a:lnSpc>
              <a:spcBef>
                <a:spcPts val="0"/>
              </a:spcBef>
              <a:spcAft>
                <a:spcPts val="0"/>
              </a:spcAft>
              <a:buSzPts val="2000"/>
              <a:buChar char="●"/>
            </a:pPr>
            <a:r>
              <a:rPr lang="es" sz="2000"/>
              <a:t>Permite learning rates mayores.</a:t>
            </a:r>
            <a:endParaRPr sz="2000"/>
          </a:p>
          <a:p>
            <a:pPr indent="-355600" lvl="0" marL="457200" rtl="0" algn="just">
              <a:lnSpc>
                <a:spcPct val="95000"/>
              </a:lnSpc>
              <a:spcBef>
                <a:spcPts val="0"/>
              </a:spcBef>
              <a:spcAft>
                <a:spcPts val="0"/>
              </a:spcAft>
              <a:buSzPts val="2000"/>
              <a:buChar char="●"/>
            </a:pPr>
            <a:r>
              <a:rPr lang="es" sz="2000"/>
              <a:t>Reduce la dependencia del entrenamiento en la inicialización de parámetros.</a:t>
            </a:r>
            <a:endParaRPr sz="2000"/>
          </a:p>
          <a:p>
            <a:pPr indent="-355600" lvl="0" marL="457200" rtl="0" algn="just">
              <a:lnSpc>
                <a:spcPct val="95000"/>
              </a:lnSpc>
              <a:spcBef>
                <a:spcPts val="0"/>
              </a:spcBef>
              <a:spcAft>
                <a:spcPts val="0"/>
              </a:spcAft>
              <a:buSzPts val="2000"/>
              <a:buChar char="●"/>
            </a:pPr>
            <a:r>
              <a:rPr lang="es" sz="2000"/>
              <a:t>Tiene un pequeño efecto regularizador, se puede decir que añadimos un pequeño ruido, viene bien para que no memorice.</a:t>
            </a:r>
            <a:endParaRPr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a:t>
            </a:r>
            <a:r>
              <a:rPr lang="es"/>
              <a:t>. Optimización avanzada.</a:t>
            </a:r>
            <a:endParaRPr/>
          </a:p>
          <a:p>
            <a:pPr indent="0" lvl="0" marL="0" rtl="0" algn="l">
              <a:spcBef>
                <a:spcPts val="0"/>
              </a:spcBef>
              <a:spcAft>
                <a:spcPts val="0"/>
              </a:spcAft>
              <a:buNone/>
            </a:pPr>
            <a:r>
              <a:t/>
            </a:r>
            <a:endParaRPr/>
          </a:p>
        </p:txBody>
      </p:sp>
      <p:sp>
        <p:nvSpPr>
          <p:cNvPr id="353" name="Google Shape;353;p4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54" name="Google Shape;354;p49"/>
          <p:cNvSpPr txBox="1"/>
          <p:nvPr/>
        </p:nvSpPr>
        <p:spPr>
          <a:xfrm>
            <a:off x="389850" y="1266925"/>
            <a:ext cx="7943700" cy="27444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Recordatorio: </a:t>
            </a:r>
            <a:endParaRPr sz="2200"/>
          </a:p>
          <a:p>
            <a:pPr indent="0" lvl="0" marL="0" rtl="0" algn="just">
              <a:lnSpc>
                <a:spcPct val="95000"/>
              </a:lnSpc>
              <a:spcBef>
                <a:spcPts val="1200"/>
              </a:spcBef>
              <a:spcAft>
                <a:spcPts val="0"/>
              </a:spcAft>
              <a:buNone/>
            </a:pPr>
            <a:r>
              <a:rPr lang="es" sz="2200"/>
              <a:t>Como sabemos, el entrenamiento de una red neuronal consiste en la solución de un problema de optimización.</a:t>
            </a:r>
            <a:endParaRPr sz="2200"/>
          </a:p>
          <a:p>
            <a:pPr indent="0" lvl="0" marL="0" rtl="0" algn="just">
              <a:lnSpc>
                <a:spcPct val="95000"/>
              </a:lnSpc>
              <a:spcBef>
                <a:spcPts val="1200"/>
              </a:spcBef>
              <a:spcAft>
                <a:spcPts val="1200"/>
              </a:spcAft>
              <a:buNone/>
            </a:pPr>
            <a:r>
              <a:rPr lang="es" sz="2200"/>
              <a:t>Stochastic Gradient Descent: El entrenamiento ocurre batch a batch hasta completar todos los elementos del dataset. Cuando hemos utilizado todos los valores del dataset en batches, decimos que hemos entrenado una epoch</a:t>
            </a:r>
            <a:endParaRPr sz="2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360" name="Google Shape;360;p5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61" name="Google Shape;361;p50"/>
          <p:cNvPicPr preferRelativeResize="0"/>
          <p:nvPr/>
        </p:nvPicPr>
        <p:blipFill>
          <a:blip r:embed="rId3">
            <a:alphaModFix/>
          </a:blip>
          <a:stretch>
            <a:fillRect/>
          </a:stretch>
        </p:blipFill>
        <p:spPr>
          <a:xfrm>
            <a:off x="203150" y="1244900"/>
            <a:ext cx="8648700" cy="1514475"/>
          </a:xfrm>
          <a:prstGeom prst="rect">
            <a:avLst/>
          </a:prstGeom>
          <a:noFill/>
          <a:ln>
            <a:noFill/>
          </a:ln>
        </p:spPr>
      </p:pic>
      <p:pic>
        <p:nvPicPr>
          <p:cNvPr id="362" name="Google Shape;362;p50"/>
          <p:cNvPicPr preferRelativeResize="0"/>
          <p:nvPr/>
        </p:nvPicPr>
        <p:blipFill>
          <a:blip r:embed="rId4">
            <a:alphaModFix/>
          </a:blip>
          <a:stretch>
            <a:fillRect/>
          </a:stretch>
        </p:blipFill>
        <p:spPr>
          <a:xfrm>
            <a:off x="489375" y="2419475"/>
            <a:ext cx="8320200" cy="21677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368" name="Google Shape;368;p5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69" name="Google Shape;369;p51"/>
          <p:cNvSpPr txBox="1"/>
          <p:nvPr/>
        </p:nvSpPr>
        <p:spPr>
          <a:xfrm>
            <a:off x="389850" y="1266925"/>
            <a:ext cx="7943700" cy="24228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Problemas: SGD tiene en ocasiones algunos problemas que dificultan en ocasiones el entrenamiento de redes neuronales.</a:t>
            </a:r>
            <a:endParaRPr sz="2200"/>
          </a:p>
          <a:p>
            <a:pPr indent="-368300" lvl="0" marL="457200" rtl="0" algn="just">
              <a:lnSpc>
                <a:spcPct val="95000"/>
              </a:lnSpc>
              <a:spcBef>
                <a:spcPts val="1200"/>
              </a:spcBef>
              <a:spcAft>
                <a:spcPts val="0"/>
              </a:spcAft>
              <a:buSzPts val="2200"/>
              <a:buAutoNum type="arabicPeriod"/>
            </a:pPr>
            <a:r>
              <a:rPr lang="es" sz="2200"/>
              <a:t>Zig-zags ineficientes.</a:t>
            </a:r>
            <a:endParaRPr sz="2200"/>
          </a:p>
          <a:p>
            <a:pPr indent="-368300" lvl="0" marL="457200" rtl="0" algn="just">
              <a:lnSpc>
                <a:spcPct val="95000"/>
              </a:lnSpc>
              <a:spcBef>
                <a:spcPts val="0"/>
              </a:spcBef>
              <a:spcAft>
                <a:spcPts val="0"/>
              </a:spcAft>
              <a:buSzPts val="2200"/>
              <a:buAutoNum type="arabicPeriod"/>
            </a:pPr>
            <a:r>
              <a:rPr lang="es" sz="2200"/>
              <a:t>Mínimos locales.</a:t>
            </a:r>
            <a:endParaRPr sz="2200"/>
          </a:p>
          <a:p>
            <a:pPr indent="-368300" lvl="0" marL="457200" rtl="0" algn="just">
              <a:lnSpc>
                <a:spcPct val="95000"/>
              </a:lnSpc>
              <a:spcBef>
                <a:spcPts val="0"/>
              </a:spcBef>
              <a:spcAft>
                <a:spcPts val="0"/>
              </a:spcAft>
              <a:buSzPts val="2200"/>
              <a:buAutoNum type="arabicPeriod"/>
            </a:pPr>
            <a:r>
              <a:rPr lang="es" sz="2200"/>
              <a:t>Puntos de silla.</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375" name="Google Shape;375;p5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76" name="Google Shape;376;p52"/>
          <p:cNvSpPr txBox="1"/>
          <p:nvPr/>
        </p:nvSpPr>
        <p:spPr>
          <a:xfrm>
            <a:off x="389850" y="1266925"/>
            <a:ext cx="7943700" cy="43392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Es conveniente recordar lo complejo que es el proceso de minimización de una función con miles o millones de parámetros, así como su “visualización”.</a:t>
            </a:r>
            <a:endParaRPr sz="2200"/>
          </a:p>
          <a:p>
            <a:pPr indent="0" lvl="0" marL="0" rtl="0" algn="just">
              <a:lnSpc>
                <a:spcPct val="95000"/>
              </a:lnSpc>
              <a:spcBef>
                <a:spcPts val="1200"/>
              </a:spcBef>
              <a:spcAft>
                <a:spcPts val="0"/>
              </a:spcAft>
              <a:buNone/>
            </a:pPr>
            <a:r>
              <a:rPr lang="es" sz="2200"/>
              <a:t>Como empezamos desde parámetros aleatorios, las soluciones o modelos encontrados al finalizar el entrenamiento serán distintos.</a:t>
            </a:r>
            <a:endParaRPr sz="2200"/>
          </a:p>
          <a:p>
            <a:pPr indent="0" lvl="0" marL="0" rtl="0" algn="just">
              <a:lnSpc>
                <a:spcPct val="95000"/>
              </a:lnSpc>
              <a:spcBef>
                <a:spcPts val="1200"/>
              </a:spcBef>
              <a:spcAft>
                <a:spcPts val="0"/>
              </a:spcAft>
              <a:buNone/>
            </a:pPr>
            <a:r>
              <a:rPr lang="es" sz="2200"/>
              <a:t>En la práctica, por suerte, el entrenamiento de redes neuronales suele converger a soluciones similares en cuanto a rendimiento.</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382" name="Google Shape;382;p5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83" name="Google Shape;383;p53"/>
          <p:cNvSpPr txBox="1"/>
          <p:nvPr/>
        </p:nvSpPr>
        <p:spPr>
          <a:xfrm>
            <a:off x="389850" y="1266925"/>
            <a:ext cx="7943700" cy="40173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Encontrar el mínimo global para una red neuronal es computacionalmente intratable. Tenemos que conformarnos con que el mínimo encontrado sea lo suficientemente bueno.</a:t>
            </a:r>
            <a:endParaRPr sz="2200"/>
          </a:p>
          <a:p>
            <a:pPr indent="0" lvl="0" marL="0" rtl="0" algn="just">
              <a:lnSpc>
                <a:spcPct val="95000"/>
              </a:lnSpc>
              <a:spcBef>
                <a:spcPts val="1200"/>
              </a:spcBef>
              <a:spcAft>
                <a:spcPts val="0"/>
              </a:spcAft>
              <a:buNone/>
            </a:pPr>
            <a:r>
              <a:rPr lang="es" sz="2200"/>
              <a:t>Por suerte, normalmente no queremos encontrar el mínimo global. Un mínimo global implica normalmente overfitting.</a:t>
            </a:r>
            <a:endParaRPr sz="2200"/>
          </a:p>
          <a:p>
            <a:pPr indent="0" lvl="0" marL="0" rtl="0" algn="just">
              <a:lnSpc>
                <a:spcPct val="95000"/>
              </a:lnSpc>
              <a:spcBef>
                <a:spcPts val="1200"/>
              </a:spcBef>
              <a:spcAft>
                <a:spcPts val="0"/>
              </a:spcAft>
              <a:buNone/>
            </a:pPr>
            <a:r>
              <a:rPr lang="es" sz="2200"/>
              <a:t>Una variante muy popular de SGD para resolver los problemas que hemos visto en el apartado anterior es </a:t>
            </a:r>
            <a:r>
              <a:rPr b="1" lang="es" sz="2200"/>
              <a:t>SGD con Momentum.</a:t>
            </a:r>
            <a:endParaRPr b="1"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389" name="Google Shape;389;p5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90" name="Google Shape;390;p54"/>
          <p:cNvSpPr txBox="1"/>
          <p:nvPr/>
        </p:nvSpPr>
        <p:spPr>
          <a:xfrm>
            <a:off x="389850" y="1266925"/>
            <a:ext cx="7943700" cy="43392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Los métodos de </a:t>
            </a:r>
            <a:r>
              <a:rPr b="1" lang="es" sz="2200"/>
              <a:t>adaptive learning rate</a:t>
            </a:r>
            <a:r>
              <a:rPr lang="es" sz="2200"/>
              <a:t> intentan modificar la learning rate</a:t>
            </a:r>
            <a:r>
              <a:rPr b="1" lang="es" sz="2200"/>
              <a:t> </a:t>
            </a:r>
            <a:r>
              <a:rPr lang="es" sz="2200"/>
              <a:t>para cada parámetro. La idea es que parámetros que se actualizan más frecuentemente tengan cambios más pequeños, mientras que los parámetros con menos actualizaciones de gradientes vean “acelerada” su learning rate.</a:t>
            </a:r>
            <a:endParaRPr sz="2200"/>
          </a:p>
          <a:p>
            <a:pPr indent="0" lvl="0" marL="0" rtl="0" algn="just">
              <a:lnSpc>
                <a:spcPct val="95000"/>
              </a:lnSpc>
              <a:spcBef>
                <a:spcPts val="1200"/>
              </a:spcBef>
              <a:spcAft>
                <a:spcPts val="0"/>
              </a:spcAft>
              <a:buNone/>
            </a:pPr>
            <a:r>
              <a:rPr lang="es" sz="2200"/>
              <a:t>Los métodos más utilizados son: Adagrad, RMSProp, Adam, NAG, Adadelta.</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396" name="Google Shape;396;p5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97" name="Google Shape;397;p55"/>
          <p:cNvPicPr preferRelativeResize="0"/>
          <p:nvPr/>
        </p:nvPicPr>
        <p:blipFill>
          <a:blip r:embed="rId3">
            <a:alphaModFix/>
          </a:blip>
          <a:stretch>
            <a:fillRect/>
          </a:stretch>
        </p:blipFill>
        <p:spPr>
          <a:xfrm>
            <a:off x="2149725" y="1100950"/>
            <a:ext cx="4640950" cy="3593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403" name="Google Shape;403;p5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04" name="Google Shape;404;p56"/>
          <p:cNvSpPr txBox="1"/>
          <p:nvPr/>
        </p:nvSpPr>
        <p:spPr>
          <a:xfrm>
            <a:off x="439900" y="1142050"/>
            <a:ext cx="7935900" cy="8280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1200"/>
              </a:spcAft>
              <a:buNone/>
            </a:pPr>
            <a:r>
              <a:rPr lang="es" sz="2200"/>
              <a:t>Todos los algoritmos que hemos visto utilizan learning rate, que es probablemente el hiperparámetro más crítico a elegir.</a:t>
            </a:r>
            <a:endParaRPr sz="2200"/>
          </a:p>
        </p:txBody>
      </p:sp>
      <p:pic>
        <p:nvPicPr>
          <p:cNvPr id="405" name="Google Shape;405;p56"/>
          <p:cNvPicPr preferRelativeResize="0"/>
          <p:nvPr/>
        </p:nvPicPr>
        <p:blipFill>
          <a:blip r:embed="rId3">
            <a:alphaModFix/>
          </a:blip>
          <a:stretch>
            <a:fillRect/>
          </a:stretch>
        </p:blipFill>
        <p:spPr>
          <a:xfrm>
            <a:off x="2512650" y="2011150"/>
            <a:ext cx="2924429" cy="28686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411" name="Google Shape;411;p5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2" name="Google Shape;412;p57"/>
          <p:cNvSpPr txBox="1"/>
          <p:nvPr/>
        </p:nvSpPr>
        <p:spPr>
          <a:xfrm>
            <a:off x="439900" y="1142050"/>
            <a:ext cx="7935900" cy="25905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Learning rate decay:</a:t>
            </a:r>
            <a:r>
              <a:rPr lang="es" sz="2200"/>
              <a:t> Una idea para entrenar de manera más eficiente es learning rate decay, en el que la learning rate se va reduciendo a medida que avanza el entrenamiento.</a:t>
            </a:r>
            <a:endParaRPr sz="2200"/>
          </a:p>
          <a:p>
            <a:pPr indent="0" lvl="0" marL="0" rtl="0" algn="just">
              <a:lnSpc>
                <a:spcPct val="95000"/>
              </a:lnSpc>
              <a:spcBef>
                <a:spcPts val="1200"/>
              </a:spcBef>
              <a:spcAft>
                <a:spcPts val="1200"/>
              </a:spcAft>
              <a:buNone/>
            </a:pPr>
            <a:r>
              <a:rPr lang="es" sz="2200"/>
              <a:t>De este modo, el entrenamiento comienza con una learning rate mayor, haciendo que la loss se reduzca rápido, y poco a poco la rate se va reduciendo permitiendo ser más finos en la búsqueda de una solución.</a:t>
            </a:r>
            <a:endParaRPr sz="22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418" name="Google Shape;418;p5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9" name="Google Shape;419;p58"/>
          <p:cNvSpPr txBox="1"/>
          <p:nvPr/>
        </p:nvSpPr>
        <p:spPr>
          <a:xfrm>
            <a:off x="439900" y="1142050"/>
            <a:ext cx="7935900" cy="5064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1200"/>
              </a:spcAft>
              <a:buNone/>
            </a:pPr>
            <a:r>
              <a:rPr b="1" lang="es" sz="2200"/>
              <a:t>Learning rate decay:</a:t>
            </a:r>
            <a:endParaRPr sz="2200"/>
          </a:p>
        </p:txBody>
      </p:sp>
      <p:pic>
        <p:nvPicPr>
          <p:cNvPr id="420" name="Google Shape;420;p58"/>
          <p:cNvPicPr preferRelativeResize="0"/>
          <p:nvPr/>
        </p:nvPicPr>
        <p:blipFill>
          <a:blip r:embed="rId3">
            <a:alphaModFix/>
          </a:blip>
          <a:stretch>
            <a:fillRect/>
          </a:stretch>
        </p:blipFill>
        <p:spPr>
          <a:xfrm>
            <a:off x="1363025" y="1689550"/>
            <a:ext cx="6705600" cy="24860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426" name="Google Shape;426;p5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27" name="Google Shape;427;p59"/>
          <p:cNvSpPr txBox="1"/>
          <p:nvPr/>
        </p:nvSpPr>
        <p:spPr>
          <a:xfrm>
            <a:off x="414500" y="1202450"/>
            <a:ext cx="7935900" cy="38634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 Qué utilizar ?</a:t>
            </a:r>
            <a:endParaRPr b="1" sz="2200"/>
          </a:p>
          <a:p>
            <a:pPr indent="0" lvl="0" marL="0" rtl="0" algn="just">
              <a:lnSpc>
                <a:spcPct val="95000"/>
              </a:lnSpc>
              <a:spcBef>
                <a:spcPts val="1200"/>
              </a:spcBef>
              <a:spcAft>
                <a:spcPts val="0"/>
              </a:spcAft>
              <a:buNone/>
            </a:pPr>
            <a:r>
              <a:rPr lang="es" sz="2200"/>
              <a:t>Normalmente, los métodos adaptativos (AdaGrad, RMSProp, Adam)consiguen mayores velocidades de convergencia y, por tanto, entrenamientos más rápidos de redes neuronales.</a:t>
            </a:r>
            <a:endParaRPr sz="2200"/>
          </a:p>
          <a:p>
            <a:pPr indent="0" lvl="0" marL="0" rtl="0" algn="just">
              <a:lnSpc>
                <a:spcPct val="95000"/>
              </a:lnSpc>
              <a:spcBef>
                <a:spcPts val="1200"/>
              </a:spcBef>
              <a:spcAft>
                <a:spcPts val="0"/>
              </a:spcAft>
              <a:buNone/>
            </a:pPr>
            <a:r>
              <a:rPr lang="es" sz="2200"/>
              <a:t>Adam suele dar muy buenos resultados y sus parámetros por defecto funcionan muy bien, lo que ayuda a no tener que pensar qué learning rate utilizamos.</a:t>
            </a:r>
            <a:endParaRPr sz="2200"/>
          </a:p>
          <a:p>
            <a:pPr indent="0" lvl="0" marL="0" rtl="0" algn="just">
              <a:lnSpc>
                <a:spcPct val="95000"/>
              </a:lnSpc>
              <a:spcBef>
                <a:spcPts val="1200"/>
              </a:spcBef>
              <a:spcAft>
                <a:spcPts val="1200"/>
              </a:spcAft>
              <a:buNone/>
            </a:pPr>
            <a:r>
              <a:rPr lang="es" sz="2200"/>
              <a:t>La discusión científica continúa. Parte de la comunidad incluso defiende la utilización de SGD clásico frente a estos métodos más modernos.</a:t>
            </a:r>
            <a:endParaRPr sz="22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10. Optimización avanzada.</a:t>
            </a:r>
            <a:endParaRPr/>
          </a:p>
          <a:p>
            <a:pPr indent="0" lvl="0" marL="0" rtl="0" algn="l">
              <a:spcBef>
                <a:spcPts val="0"/>
              </a:spcBef>
              <a:spcAft>
                <a:spcPts val="0"/>
              </a:spcAft>
              <a:buNone/>
            </a:pPr>
            <a:r>
              <a:t/>
            </a:r>
            <a:endParaRPr/>
          </a:p>
        </p:txBody>
      </p:sp>
      <p:sp>
        <p:nvSpPr>
          <p:cNvPr id="433" name="Google Shape;433;p6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34" name="Google Shape;434;p60"/>
          <p:cNvSpPr txBox="1"/>
          <p:nvPr/>
        </p:nvSpPr>
        <p:spPr>
          <a:xfrm>
            <a:off x="414500" y="1202450"/>
            <a:ext cx="7935900" cy="21009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La discusión científica continúa. Parte de la comunidad incluso defiende la utilización de SGD clásico frente a estos métodos más modernos.</a:t>
            </a:r>
            <a:endParaRPr sz="2200"/>
          </a:p>
          <a:p>
            <a:pPr indent="0" lvl="0" marL="0" rtl="0" algn="just">
              <a:lnSpc>
                <a:spcPct val="95000"/>
              </a:lnSpc>
              <a:spcBef>
                <a:spcPts val="1200"/>
              </a:spcBef>
              <a:spcAft>
                <a:spcPts val="0"/>
              </a:spcAft>
              <a:buNone/>
            </a:pPr>
            <a:r>
              <a:rPr lang="es" sz="2200"/>
              <a:t>Nos vamos a la documentación de Keras:</a:t>
            </a:r>
            <a:endParaRPr sz="2200"/>
          </a:p>
          <a:p>
            <a:pPr indent="0" lvl="0" marL="0" rtl="0" algn="just">
              <a:lnSpc>
                <a:spcPct val="95000"/>
              </a:lnSpc>
              <a:spcBef>
                <a:spcPts val="1200"/>
              </a:spcBef>
              <a:spcAft>
                <a:spcPts val="1200"/>
              </a:spcAft>
              <a:buNone/>
            </a:pPr>
            <a:r>
              <a:rPr lang="es" sz="2200" u="sng">
                <a:solidFill>
                  <a:schemeClr val="accent5"/>
                </a:solidFill>
                <a:hlinkClick r:id="rId3">
                  <a:extLst>
                    <a:ext uri="{A12FA001-AC4F-418D-AE19-62706E023703}">
                      <ahyp:hlinkClr val="tx"/>
                    </a:ext>
                  </a:extLst>
                </a:hlinkClick>
              </a:rPr>
              <a:t>https://keras.io/api/optimizers/</a:t>
            </a:r>
            <a:endParaRPr sz="22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440" name="Google Shape;440;p6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41" name="Google Shape;441;p61"/>
          <p:cNvSpPr txBox="1"/>
          <p:nvPr/>
        </p:nvSpPr>
        <p:spPr>
          <a:xfrm>
            <a:off x="439900" y="1142050"/>
            <a:ext cx="7935900" cy="41853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Las redes neuronales son modelos con un gran poder de representación. Puede pasar que el modelo memorice los datos de entrenamiento pero pierda capacidad de generalización al ser evaluado sobre datos no vistos durante el entrenamiento.</a:t>
            </a:r>
            <a:endParaRPr sz="2200"/>
          </a:p>
          <a:p>
            <a:pPr indent="0" lvl="0" marL="0" rtl="0" algn="just">
              <a:lnSpc>
                <a:spcPct val="95000"/>
              </a:lnSpc>
              <a:spcBef>
                <a:spcPts val="1200"/>
              </a:spcBef>
              <a:spcAft>
                <a:spcPts val="0"/>
              </a:spcAft>
              <a:buNone/>
            </a:pPr>
            <a:r>
              <a:rPr lang="es" sz="2200"/>
              <a:t>Este fenómeno se conoce como </a:t>
            </a:r>
            <a:r>
              <a:rPr b="1" lang="es" sz="2200"/>
              <a:t>overfitting</a:t>
            </a:r>
            <a:r>
              <a:rPr lang="es" sz="2200"/>
              <a:t>. El modelo está aprendiendo detalles particulares de los datos de entrenamiento en vez de las características generales de un dataset.</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447" name="Google Shape;447;p6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448" name="Google Shape;448;p62"/>
          <p:cNvPicPr preferRelativeResize="0"/>
          <p:nvPr/>
        </p:nvPicPr>
        <p:blipFill>
          <a:blip r:embed="rId3">
            <a:alphaModFix/>
          </a:blip>
          <a:stretch>
            <a:fillRect/>
          </a:stretch>
        </p:blipFill>
        <p:spPr>
          <a:xfrm>
            <a:off x="1947863" y="1287175"/>
            <a:ext cx="5248275" cy="30194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454" name="Google Shape;454;p6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55" name="Google Shape;455;p63"/>
          <p:cNvSpPr txBox="1"/>
          <p:nvPr/>
        </p:nvSpPr>
        <p:spPr>
          <a:xfrm>
            <a:off x="439900" y="1142050"/>
            <a:ext cx="7935900" cy="40173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lang="es" sz="2200"/>
              <a:t>Las técnicas de regularización intentan solucionar el problema del overfitting.</a:t>
            </a:r>
            <a:endParaRPr sz="2200"/>
          </a:p>
          <a:p>
            <a:pPr indent="0" lvl="0" marL="0" rtl="0" algn="just">
              <a:lnSpc>
                <a:spcPct val="95000"/>
              </a:lnSpc>
              <a:spcBef>
                <a:spcPts val="1200"/>
              </a:spcBef>
              <a:spcAft>
                <a:spcPts val="0"/>
              </a:spcAft>
              <a:buNone/>
            </a:pPr>
            <a:r>
              <a:rPr lang="es" sz="2200"/>
              <a:t>Hay muchas formas de aplicar regularización. Es común aplicar varias estrategias a la vez.</a:t>
            </a:r>
            <a:endParaRPr sz="2200"/>
          </a:p>
          <a:p>
            <a:pPr indent="-368300" lvl="0" marL="457200" rtl="0" algn="just">
              <a:lnSpc>
                <a:spcPct val="95000"/>
              </a:lnSpc>
              <a:spcBef>
                <a:spcPts val="1200"/>
              </a:spcBef>
              <a:spcAft>
                <a:spcPts val="0"/>
              </a:spcAft>
              <a:buSzPts val="2200"/>
              <a:buChar char="●"/>
            </a:pPr>
            <a:r>
              <a:rPr lang="es" sz="2200"/>
              <a:t>Regularización L2.</a:t>
            </a:r>
            <a:endParaRPr sz="2200"/>
          </a:p>
          <a:p>
            <a:pPr indent="-368300" lvl="0" marL="457200" rtl="0" algn="just">
              <a:lnSpc>
                <a:spcPct val="95000"/>
              </a:lnSpc>
              <a:spcBef>
                <a:spcPts val="0"/>
              </a:spcBef>
              <a:spcAft>
                <a:spcPts val="0"/>
              </a:spcAft>
              <a:buSzPts val="2200"/>
              <a:buChar char="●"/>
            </a:pPr>
            <a:r>
              <a:rPr lang="es" sz="2200"/>
              <a:t>Regularización L1.</a:t>
            </a:r>
            <a:endParaRPr sz="2200"/>
          </a:p>
          <a:p>
            <a:pPr indent="-368300" lvl="0" marL="457200" rtl="0" algn="just">
              <a:lnSpc>
                <a:spcPct val="95000"/>
              </a:lnSpc>
              <a:spcBef>
                <a:spcPts val="0"/>
              </a:spcBef>
              <a:spcAft>
                <a:spcPts val="0"/>
              </a:spcAft>
              <a:buSzPts val="2200"/>
              <a:buChar char="●"/>
            </a:pPr>
            <a:r>
              <a:rPr lang="es" sz="2200"/>
              <a:t>Dropout.</a:t>
            </a:r>
            <a:endParaRPr sz="2200"/>
          </a:p>
          <a:p>
            <a:pPr indent="-368300" lvl="0" marL="457200" rtl="0" algn="just">
              <a:lnSpc>
                <a:spcPct val="95000"/>
              </a:lnSpc>
              <a:spcBef>
                <a:spcPts val="0"/>
              </a:spcBef>
              <a:spcAft>
                <a:spcPts val="0"/>
              </a:spcAft>
              <a:buSzPts val="2200"/>
              <a:buChar char="●"/>
            </a:pPr>
            <a:r>
              <a:rPr lang="es" sz="2200"/>
              <a:t>Early stopping</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461" name="Google Shape;461;p6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62" name="Google Shape;462;p64"/>
          <p:cNvSpPr txBox="1"/>
          <p:nvPr/>
        </p:nvSpPr>
        <p:spPr>
          <a:xfrm>
            <a:off x="439900" y="1142050"/>
            <a:ext cx="7935900" cy="46608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Regularización L2</a:t>
            </a:r>
            <a:r>
              <a:rPr lang="es" sz="2200"/>
              <a:t>.</a:t>
            </a:r>
            <a:endParaRPr sz="2200"/>
          </a:p>
          <a:p>
            <a:pPr indent="-368300" lvl="0" marL="457200" rtl="0" algn="just">
              <a:lnSpc>
                <a:spcPct val="95000"/>
              </a:lnSpc>
              <a:spcBef>
                <a:spcPts val="1200"/>
              </a:spcBef>
              <a:spcAft>
                <a:spcPts val="0"/>
              </a:spcAft>
              <a:buSzPts val="2200"/>
              <a:buChar char="●"/>
            </a:pPr>
            <a:r>
              <a:rPr lang="es" sz="2200"/>
              <a:t>Una de las formas más comunes de aplicar regularización en Machine Learning.</a:t>
            </a:r>
            <a:endParaRPr sz="2200"/>
          </a:p>
          <a:p>
            <a:pPr indent="-368300" lvl="0" marL="457200" rtl="0" algn="just">
              <a:lnSpc>
                <a:spcPct val="95000"/>
              </a:lnSpc>
              <a:spcBef>
                <a:spcPts val="0"/>
              </a:spcBef>
              <a:spcAft>
                <a:spcPts val="0"/>
              </a:spcAft>
              <a:buSzPts val="2200"/>
              <a:buChar char="●"/>
            </a:pPr>
            <a:r>
              <a:rPr lang="es" sz="2200"/>
              <a:t>Añade una penalización en la función de coste. Esta penalización suma los valores al cuadrado de los weights de una red neuronal.</a:t>
            </a:r>
            <a:endParaRPr sz="2200"/>
          </a:p>
          <a:p>
            <a:pPr indent="-368300" lvl="0" marL="457200" rtl="0" algn="just">
              <a:lnSpc>
                <a:spcPct val="95000"/>
              </a:lnSpc>
              <a:spcBef>
                <a:spcPts val="0"/>
              </a:spcBef>
              <a:spcAft>
                <a:spcPts val="0"/>
              </a:spcAft>
              <a:buSzPts val="2200"/>
              <a:buChar char="●"/>
            </a:pPr>
            <a:r>
              <a:rPr lang="es" sz="2200"/>
              <a:t>El hiperparámetro ƛ controla la fuerza de la regularización. A mayor valor, más penalización a los parámetros y más regularización.</a:t>
            </a:r>
            <a:endParaRPr sz="2200"/>
          </a:p>
          <a:p>
            <a:pPr indent="0" lvl="0" marL="45720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468" name="Google Shape;468;p6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69" name="Google Shape;469;p65"/>
          <p:cNvSpPr txBox="1"/>
          <p:nvPr/>
        </p:nvSpPr>
        <p:spPr>
          <a:xfrm>
            <a:off x="439900" y="1142050"/>
            <a:ext cx="7935900" cy="32202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Regularización L2</a:t>
            </a:r>
            <a:r>
              <a:rPr lang="es" sz="2200"/>
              <a:t>.</a:t>
            </a:r>
            <a:endParaRPr sz="2200"/>
          </a:p>
          <a:p>
            <a:pPr indent="0" lvl="0" marL="0" rtl="0" algn="just">
              <a:lnSpc>
                <a:spcPct val="95000"/>
              </a:lnSpc>
              <a:spcBef>
                <a:spcPts val="1200"/>
              </a:spcBef>
              <a:spcAft>
                <a:spcPts val="0"/>
              </a:spcAft>
              <a:buNone/>
            </a:pPr>
            <a:r>
              <a:rPr lang="es" sz="2200"/>
              <a:t>Al penalizar el cuadrado de los parámetros, estamos favoreciendo que estos tengan valores absolutos pequeños. Durante el entrenamiento, la red sólo asignará valores grandes a los parámetros si al hacer esto consigue reducir la loss en una cantidad mayor que la penalización.</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470" name="Google Shape;470;p65"/>
          <p:cNvPicPr preferRelativeResize="0"/>
          <p:nvPr/>
        </p:nvPicPr>
        <p:blipFill>
          <a:blip r:embed="rId3">
            <a:alphaModFix/>
          </a:blip>
          <a:stretch>
            <a:fillRect/>
          </a:stretch>
        </p:blipFill>
        <p:spPr>
          <a:xfrm>
            <a:off x="2172223" y="3446923"/>
            <a:ext cx="5137900" cy="13029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476" name="Google Shape;476;p6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77" name="Google Shape;477;p66"/>
          <p:cNvSpPr txBox="1"/>
          <p:nvPr/>
        </p:nvSpPr>
        <p:spPr>
          <a:xfrm>
            <a:off x="439900" y="1142050"/>
            <a:ext cx="7935900" cy="35418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Regularización L2</a:t>
            </a:r>
            <a:r>
              <a:rPr lang="es" sz="2200"/>
              <a:t>.</a:t>
            </a:r>
            <a:endParaRPr sz="2200"/>
          </a:p>
          <a:p>
            <a:pPr indent="0" lvl="0" marL="0" rtl="0" algn="just">
              <a:lnSpc>
                <a:spcPct val="95000"/>
              </a:lnSpc>
              <a:spcBef>
                <a:spcPts val="1200"/>
              </a:spcBef>
              <a:spcAft>
                <a:spcPts val="0"/>
              </a:spcAft>
              <a:buNone/>
            </a:pPr>
            <a:r>
              <a:rPr lang="es" sz="2200"/>
              <a:t>Intuitivamente, al penalizar valores de parámetros grandes, estamos reduciendo el espacio de posibles soluciones. La red neuronal es menos libre de asignar valores cualesquiera, y por tanto pierde capacidad de expresividad. Esto hace que sea más difícil fijarse en los detalles particulares del training data, por lo que reducimos el problema de overfitting.</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478" name="Google Shape;478;p66"/>
          <p:cNvPicPr preferRelativeResize="0"/>
          <p:nvPr/>
        </p:nvPicPr>
        <p:blipFill>
          <a:blip r:embed="rId3">
            <a:alphaModFix/>
          </a:blip>
          <a:stretch>
            <a:fillRect/>
          </a:stretch>
        </p:blipFill>
        <p:spPr>
          <a:xfrm>
            <a:off x="2104548" y="3717648"/>
            <a:ext cx="5137900" cy="13029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484" name="Google Shape;484;p6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85" name="Google Shape;485;p67"/>
          <p:cNvSpPr txBox="1"/>
          <p:nvPr/>
        </p:nvSpPr>
        <p:spPr>
          <a:xfrm>
            <a:off x="439900" y="1142050"/>
            <a:ext cx="7935900" cy="19332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Regularización L2</a:t>
            </a:r>
            <a:r>
              <a:rPr lang="es" sz="2200"/>
              <a:t>. Es bastante usada en la práctica.</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b="1" sz="2200"/>
          </a:p>
          <a:p>
            <a:pPr indent="0" lvl="0" marL="0" rtl="0" algn="just">
              <a:lnSpc>
                <a:spcPct val="95000"/>
              </a:lnSpc>
              <a:spcBef>
                <a:spcPts val="1200"/>
              </a:spcBef>
              <a:spcAft>
                <a:spcPts val="1200"/>
              </a:spcAft>
              <a:buNone/>
            </a:pPr>
            <a:r>
              <a:t/>
            </a:r>
            <a:endParaRPr sz="2200"/>
          </a:p>
        </p:txBody>
      </p:sp>
      <p:pic>
        <p:nvPicPr>
          <p:cNvPr id="486" name="Google Shape;486;p67"/>
          <p:cNvPicPr preferRelativeResize="0"/>
          <p:nvPr/>
        </p:nvPicPr>
        <p:blipFill>
          <a:blip r:embed="rId3">
            <a:alphaModFix/>
          </a:blip>
          <a:stretch>
            <a:fillRect/>
          </a:stretch>
        </p:blipFill>
        <p:spPr>
          <a:xfrm>
            <a:off x="1692075" y="2085600"/>
            <a:ext cx="4915288" cy="17634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492" name="Google Shape;492;p6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93" name="Google Shape;493;p68"/>
          <p:cNvSpPr txBox="1"/>
          <p:nvPr/>
        </p:nvSpPr>
        <p:spPr>
          <a:xfrm>
            <a:off x="439900" y="1142050"/>
            <a:ext cx="7935900" cy="33741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Regularización L1</a:t>
            </a:r>
            <a:r>
              <a:rPr lang="es" sz="2200"/>
              <a:t>.</a:t>
            </a:r>
            <a:endParaRPr sz="2200"/>
          </a:p>
          <a:p>
            <a:pPr indent="0" lvl="0" marL="0" rtl="0" algn="just">
              <a:lnSpc>
                <a:spcPct val="95000"/>
              </a:lnSpc>
              <a:spcBef>
                <a:spcPts val="1200"/>
              </a:spcBef>
              <a:spcAft>
                <a:spcPts val="0"/>
              </a:spcAft>
              <a:buNone/>
            </a:pPr>
            <a:r>
              <a:rPr lang="es" sz="2200"/>
              <a:t>Similar a la regularización L2 pero sumando valores absolutos en vez de cuadrados.</a:t>
            </a:r>
            <a:endParaRPr sz="2200"/>
          </a:p>
          <a:p>
            <a:pPr indent="0" lvl="0" marL="0" rtl="0" algn="just">
              <a:lnSpc>
                <a:spcPct val="95000"/>
              </a:lnSpc>
              <a:spcBef>
                <a:spcPts val="1200"/>
              </a:spcBef>
              <a:spcAft>
                <a:spcPts val="0"/>
              </a:spcAft>
              <a:buNone/>
            </a:pPr>
            <a:r>
              <a:rPr lang="es" sz="2200"/>
              <a:t>Tiende a hacer que los parámetros sean sparse (dispersos). Muchos parámetros se quedan con valores 0 o cercanos a 0.</a:t>
            </a:r>
            <a:endParaRPr sz="2200"/>
          </a:p>
          <a:p>
            <a:pPr indent="0" lvl="0" marL="0" rtl="0" algn="just">
              <a:lnSpc>
                <a:spcPct val="95000"/>
              </a:lnSpc>
              <a:spcBef>
                <a:spcPts val="1200"/>
              </a:spcBef>
              <a:spcAft>
                <a:spcPts val="0"/>
              </a:spcAft>
              <a:buNone/>
            </a:pPr>
            <a:r>
              <a:rPr lang="es" sz="2200"/>
              <a:t>No es tan utilizada como la regularización L2 para redes neuronales.</a:t>
            </a:r>
            <a:endParaRPr sz="2200"/>
          </a:p>
          <a:p>
            <a:pPr indent="0" lvl="0" marL="0" rtl="0" algn="just">
              <a:lnSpc>
                <a:spcPct val="95000"/>
              </a:lnSpc>
              <a:spcBef>
                <a:spcPts val="1200"/>
              </a:spcBef>
              <a:spcAft>
                <a:spcPts val="1200"/>
              </a:spcAft>
              <a:buNone/>
            </a:pPr>
            <a:r>
              <a:t/>
            </a:r>
            <a:endParaRPr sz="2200"/>
          </a:p>
        </p:txBody>
      </p:sp>
      <p:pic>
        <p:nvPicPr>
          <p:cNvPr id="494" name="Google Shape;494;p68"/>
          <p:cNvPicPr preferRelativeResize="0"/>
          <p:nvPr/>
        </p:nvPicPr>
        <p:blipFill>
          <a:blip r:embed="rId3">
            <a:alphaModFix/>
          </a:blip>
          <a:stretch>
            <a:fillRect/>
          </a:stretch>
        </p:blipFill>
        <p:spPr>
          <a:xfrm>
            <a:off x="2872713" y="3639872"/>
            <a:ext cx="3070275" cy="13896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500" name="Google Shape;500;p6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01" name="Google Shape;501;p69"/>
          <p:cNvSpPr txBox="1"/>
          <p:nvPr/>
        </p:nvSpPr>
        <p:spPr>
          <a:xfrm>
            <a:off x="439900" y="1142050"/>
            <a:ext cx="7935900" cy="14577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Regularización L1</a:t>
            </a:r>
            <a:r>
              <a:rPr lang="es" sz="2200"/>
              <a:t>.</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pic>
        <p:nvPicPr>
          <p:cNvPr id="502" name="Google Shape;502;p69"/>
          <p:cNvPicPr preferRelativeResize="0"/>
          <p:nvPr/>
        </p:nvPicPr>
        <p:blipFill>
          <a:blip r:embed="rId3">
            <a:alphaModFix/>
          </a:blip>
          <a:stretch>
            <a:fillRect/>
          </a:stretch>
        </p:blipFill>
        <p:spPr>
          <a:xfrm>
            <a:off x="4080959" y="701125"/>
            <a:ext cx="4227166" cy="41841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508" name="Google Shape;508;p7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09" name="Google Shape;509;p70"/>
          <p:cNvSpPr txBox="1"/>
          <p:nvPr/>
        </p:nvSpPr>
        <p:spPr>
          <a:xfrm>
            <a:off x="439900" y="1142050"/>
            <a:ext cx="7935900" cy="36957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Dropout.</a:t>
            </a:r>
            <a:endParaRPr sz="2200"/>
          </a:p>
          <a:p>
            <a:pPr indent="0" lvl="0" marL="0" rtl="0" algn="just">
              <a:lnSpc>
                <a:spcPct val="95000"/>
              </a:lnSpc>
              <a:spcBef>
                <a:spcPts val="1200"/>
              </a:spcBef>
              <a:spcAft>
                <a:spcPts val="0"/>
              </a:spcAft>
              <a:buNone/>
            </a:pPr>
            <a:r>
              <a:rPr lang="es" sz="2200"/>
              <a:t>Probablemente la técnica de regularización más utilizada en la actualidad.</a:t>
            </a:r>
            <a:endParaRPr sz="2200"/>
          </a:p>
          <a:p>
            <a:pPr indent="0" lvl="0" marL="0" rtl="0" algn="just">
              <a:lnSpc>
                <a:spcPct val="95000"/>
              </a:lnSpc>
              <a:spcBef>
                <a:spcPts val="1200"/>
              </a:spcBef>
              <a:spcAft>
                <a:spcPts val="0"/>
              </a:spcAft>
              <a:buNone/>
            </a:pPr>
            <a:r>
              <a:rPr lang="es" sz="2200"/>
              <a:t>Consiste en aplicar salida 0 a un porcentaje de neuronas de la red en cada batch de manera aleatoria. Es como hacer que un porcentaje de neuronas no estuvieran presentes.</a:t>
            </a:r>
            <a:endParaRPr sz="2200"/>
          </a:p>
          <a:p>
            <a:pPr indent="0" lvl="0" marL="0" rtl="0" algn="just">
              <a:lnSpc>
                <a:spcPct val="95000"/>
              </a:lnSpc>
              <a:spcBef>
                <a:spcPts val="1200"/>
              </a:spcBef>
              <a:spcAft>
                <a:spcPts val="0"/>
              </a:spcAft>
              <a:buNone/>
            </a:pPr>
            <a:r>
              <a:rPr lang="es" sz="2200"/>
              <a:t>Cada neurona se desactiva con una probabilidad p (otro hiperparámetro). Valores comunes de p van desde 0.1 a 0.5.</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515" name="Google Shape;515;p7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16" name="Google Shape;516;p71"/>
          <p:cNvSpPr txBox="1"/>
          <p:nvPr/>
        </p:nvSpPr>
        <p:spPr>
          <a:xfrm>
            <a:off x="439900" y="1142050"/>
            <a:ext cx="7935900" cy="14577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Dropout.</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pic>
        <p:nvPicPr>
          <p:cNvPr id="517" name="Google Shape;517;p71"/>
          <p:cNvPicPr preferRelativeResize="0"/>
          <p:nvPr/>
        </p:nvPicPr>
        <p:blipFill>
          <a:blip r:embed="rId3">
            <a:alphaModFix/>
          </a:blip>
          <a:stretch>
            <a:fillRect/>
          </a:stretch>
        </p:blipFill>
        <p:spPr>
          <a:xfrm>
            <a:off x="1942051" y="1675225"/>
            <a:ext cx="5642200" cy="26475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523" name="Google Shape;523;p7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24" name="Google Shape;524;p72"/>
          <p:cNvSpPr txBox="1"/>
          <p:nvPr/>
        </p:nvSpPr>
        <p:spPr>
          <a:xfrm>
            <a:off x="439900" y="1142050"/>
            <a:ext cx="7935900" cy="36957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Dropout.</a:t>
            </a:r>
            <a:endParaRPr sz="2200"/>
          </a:p>
          <a:p>
            <a:pPr indent="0" lvl="0" marL="0" rtl="0" algn="just">
              <a:lnSpc>
                <a:spcPct val="95000"/>
              </a:lnSpc>
              <a:spcBef>
                <a:spcPts val="1200"/>
              </a:spcBef>
              <a:spcAft>
                <a:spcPts val="0"/>
              </a:spcAft>
              <a:buNone/>
            </a:pPr>
            <a:r>
              <a:rPr lang="es" sz="2200"/>
              <a:t>Otra forma de interpretar dropout es que actúa como un ensemble de modelos.</a:t>
            </a:r>
            <a:endParaRPr sz="2200"/>
          </a:p>
          <a:p>
            <a:pPr indent="0" lvl="0" marL="0" rtl="0" algn="just">
              <a:lnSpc>
                <a:spcPct val="95000"/>
              </a:lnSpc>
              <a:spcBef>
                <a:spcPts val="1200"/>
              </a:spcBef>
              <a:spcAft>
                <a:spcPts val="0"/>
              </a:spcAft>
              <a:buNone/>
            </a:pPr>
            <a:r>
              <a:rPr lang="es" sz="2200"/>
              <a:t>Por cada batch, estamos obteniendo una “nueva” red neuronal según las neuronas que quedan activas.</a:t>
            </a:r>
            <a:endParaRPr sz="2200"/>
          </a:p>
          <a:p>
            <a:pPr indent="0" lvl="0" marL="0" rtl="0" algn="just">
              <a:lnSpc>
                <a:spcPct val="95000"/>
              </a:lnSpc>
              <a:spcBef>
                <a:spcPts val="1200"/>
              </a:spcBef>
              <a:spcAft>
                <a:spcPts val="0"/>
              </a:spcAft>
              <a:buNone/>
            </a:pPr>
            <a:r>
              <a:rPr lang="es" sz="2200"/>
              <a:t>Podemos interpretar dropout como un proceso por el que estamos entrenando a la vez un gran número de redes neuronales ligeramente distintas.</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530" name="Google Shape;530;p7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31" name="Google Shape;531;p73"/>
          <p:cNvSpPr txBox="1"/>
          <p:nvPr/>
        </p:nvSpPr>
        <p:spPr>
          <a:xfrm>
            <a:off x="439900" y="1142050"/>
            <a:ext cx="7935900" cy="28983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Dropout.</a:t>
            </a:r>
            <a:endParaRPr sz="2200"/>
          </a:p>
          <a:p>
            <a:pPr indent="0" lvl="0" marL="0" rtl="0" algn="just">
              <a:lnSpc>
                <a:spcPct val="95000"/>
              </a:lnSpc>
              <a:spcBef>
                <a:spcPts val="1200"/>
              </a:spcBef>
              <a:spcAft>
                <a:spcPts val="0"/>
              </a:spcAft>
              <a:buNone/>
            </a:pPr>
            <a:r>
              <a:rPr lang="es" sz="2200"/>
              <a:t>Durante test time, al utilizar el modelo ya entrenado, dropout no se aplica. Todas las neuronas están activas.</a:t>
            </a:r>
            <a:endParaRPr sz="2200"/>
          </a:p>
          <a:p>
            <a:pPr indent="0" lvl="0" marL="0" rtl="0" algn="just">
              <a:lnSpc>
                <a:spcPct val="95000"/>
              </a:lnSpc>
              <a:spcBef>
                <a:spcPts val="1200"/>
              </a:spcBef>
              <a:spcAft>
                <a:spcPts val="0"/>
              </a:spcAft>
              <a:buNone/>
            </a:pPr>
            <a:r>
              <a:rPr lang="es" sz="2200"/>
              <a:t>Durante backpropagation, los valores de los gradientes transmitidos hacia atrás en las neuronas que desaparecen son 0.</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537" name="Google Shape;537;p7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38" name="Google Shape;538;p74"/>
          <p:cNvSpPr txBox="1"/>
          <p:nvPr/>
        </p:nvSpPr>
        <p:spPr>
          <a:xfrm>
            <a:off x="439900" y="1142050"/>
            <a:ext cx="7935900" cy="14577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Dropout.</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pic>
        <p:nvPicPr>
          <p:cNvPr id="539" name="Google Shape;539;p74"/>
          <p:cNvPicPr preferRelativeResize="0"/>
          <p:nvPr/>
        </p:nvPicPr>
        <p:blipFill>
          <a:blip r:embed="rId3">
            <a:alphaModFix/>
          </a:blip>
          <a:stretch>
            <a:fillRect/>
          </a:stretch>
        </p:blipFill>
        <p:spPr>
          <a:xfrm>
            <a:off x="2191775" y="1445000"/>
            <a:ext cx="5234551" cy="31569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545" name="Google Shape;545;p7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46" name="Google Shape;546;p75"/>
          <p:cNvSpPr txBox="1"/>
          <p:nvPr/>
        </p:nvSpPr>
        <p:spPr>
          <a:xfrm>
            <a:off x="439900" y="1142050"/>
            <a:ext cx="7935900" cy="38496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Early stopping</a:t>
            </a:r>
            <a:r>
              <a:rPr b="1" lang="es" sz="2200"/>
              <a:t>.</a:t>
            </a:r>
            <a:endParaRPr sz="2200"/>
          </a:p>
          <a:p>
            <a:pPr indent="0" lvl="0" marL="0" rtl="0" algn="just">
              <a:lnSpc>
                <a:spcPct val="95000"/>
              </a:lnSpc>
              <a:spcBef>
                <a:spcPts val="1200"/>
              </a:spcBef>
              <a:spcAft>
                <a:spcPts val="0"/>
              </a:spcAft>
              <a:buNone/>
            </a:pPr>
            <a:r>
              <a:rPr lang="es" sz="2200"/>
              <a:t>Otra técnica muy utilizada en la práctica, que además ayuda a no perder tiempo entrenando una red en overfitting.</a:t>
            </a:r>
            <a:endParaRPr sz="2200"/>
          </a:p>
          <a:p>
            <a:pPr indent="0" lvl="0" marL="0" rtl="0" algn="just">
              <a:lnSpc>
                <a:spcPct val="95000"/>
              </a:lnSpc>
              <a:spcBef>
                <a:spcPts val="1200"/>
              </a:spcBef>
              <a:spcAft>
                <a:spcPts val="0"/>
              </a:spcAft>
              <a:buNone/>
            </a:pPr>
            <a:r>
              <a:rPr lang="es" sz="2200"/>
              <a:t>Consiste en utilizar un validation set para ver cuándo la red empieza a caer en overfitting. En ese momento, dejamos de entrenar.</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0"/>
              </a:spcAft>
              <a:buNone/>
            </a:pPr>
            <a:r>
              <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11. Regularización.</a:t>
            </a:r>
            <a:endParaRPr/>
          </a:p>
          <a:p>
            <a:pPr indent="0" lvl="0" marL="0" rtl="0" algn="l">
              <a:spcBef>
                <a:spcPts val="0"/>
              </a:spcBef>
              <a:spcAft>
                <a:spcPts val="0"/>
              </a:spcAft>
              <a:buNone/>
            </a:pPr>
            <a:r>
              <a:t/>
            </a:r>
            <a:endParaRPr/>
          </a:p>
        </p:txBody>
      </p:sp>
      <p:sp>
        <p:nvSpPr>
          <p:cNvPr id="552" name="Google Shape;552;p7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53" name="Google Shape;553;p76"/>
          <p:cNvSpPr txBox="1"/>
          <p:nvPr/>
        </p:nvSpPr>
        <p:spPr>
          <a:xfrm>
            <a:off x="439900" y="1142050"/>
            <a:ext cx="4433700" cy="33879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Early stopping.</a:t>
            </a:r>
            <a:endParaRPr sz="2200"/>
          </a:p>
          <a:p>
            <a:pPr indent="0" lvl="0" marL="0" rtl="0" algn="just">
              <a:lnSpc>
                <a:spcPct val="95000"/>
              </a:lnSpc>
              <a:spcBef>
                <a:spcPts val="1200"/>
              </a:spcBef>
              <a:spcAft>
                <a:spcPts val="0"/>
              </a:spcAft>
              <a:buNone/>
            </a:pPr>
            <a:r>
              <a:rPr lang="es" sz="2200"/>
              <a:t>Una estrategia común es medir el momento en que la validation loss deja de mejorar, esperar unas cuantas épocas para asegurarnos y quedarnos con el último modelo guardado que presentaba mejoras en la validation loss.</a:t>
            </a:r>
            <a:endParaRPr sz="2200"/>
          </a:p>
          <a:p>
            <a:pPr indent="0" lvl="0" marL="0" rtl="0" algn="just">
              <a:lnSpc>
                <a:spcPct val="95000"/>
              </a:lnSpc>
              <a:spcBef>
                <a:spcPts val="1200"/>
              </a:spcBef>
              <a:spcAft>
                <a:spcPts val="1200"/>
              </a:spcAft>
              <a:buNone/>
            </a:pPr>
            <a:r>
              <a:t/>
            </a:r>
            <a:endParaRPr sz="2200"/>
          </a:p>
        </p:txBody>
      </p:sp>
      <p:pic>
        <p:nvPicPr>
          <p:cNvPr id="554" name="Google Shape;554;p76"/>
          <p:cNvPicPr preferRelativeResize="0"/>
          <p:nvPr/>
        </p:nvPicPr>
        <p:blipFill>
          <a:blip r:embed="rId3">
            <a:alphaModFix/>
          </a:blip>
          <a:stretch>
            <a:fillRect/>
          </a:stretch>
        </p:blipFill>
        <p:spPr>
          <a:xfrm>
            <a:off x="5067300" y="1588225"/>
            <a:ext cx="4152900" cy="2495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
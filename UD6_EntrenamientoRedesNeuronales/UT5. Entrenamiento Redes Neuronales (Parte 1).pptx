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Lst>
  <p:sldSz cy="5143500" cx="9144000"/>
  <p:notesSz cx="6858000" cy="9144000"/>
  <p:embeddedFontLst>
    <p:embeddedFont>
      <p:font typeface="Raleway"/>
      <p:regular r:id="rId79"/>
      <p:bold r:id="rId80"/>
      <p:italic r:id="rId81"/>
      <p:boldItalic r:id="rId82"/>
    </p:embeddedFont>
    <p:embeddedFont>
      <p:font typeface="Lato"/>
      <p:regular r:id="rId83"/>
      <p:bold r:id="rId84"/>
      <p:italic r:id="rId85"/>
      <p:boldItalic r:id="rId8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6F80FEE-F9E0-4C4E-AB6B-162AB331F4A5}">
  <a:tblStyle styleId="{86F80FEE-F9E0-4C4E-AB6B-162AB331F4A5}"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84" Type="http://schemas.openxmlformats.org/officeDocument/2006/relationships/font" Target="fonts/Lato-bold.fntdata"/><Relationship Id="rId83" Type="http://schemas.openxmlformats.org/officeDocument/2006/relationships/font" Target="fonts/Lato-regular.fntdata"/><Relationship Id="rId42" Type="http://schemas.openxmlformats.org/officeDocument/2006/relationships/slide" Target="slides/slide36.xml"/><Relationship Id="rId86" Type="http://schemas.openxmlformats.org/officeDocument/2006/relationships/font" Target="fonts/Lato-boldItalic.fntdata"/><Relationship Id="rId41" Type="http://schemas.openxmlformats.org/officeDocument/2006/relationships/slide" Target="slides/slide35.xml"/><Relationship Id="rId85" Type="http://schemas.openxmlformats.org/officeDocument/2006/relationships/font" Target="fonts/Lato-italic.fntdata"/><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80" Type="http://schemas.openxmlformats.org/officeDocument/2006/relationships/font" Target="fonts/Raleway-bold.fntdata"/><Relationship Id="rId82" Type="http://schemas.openxmlformats.org/officeDocument/2006/relationships/font" Target="fonts/Raleway-boldItalic.fntdata"/><Relationship Id="rId81" Type="http://schemas.openxmlformats.org/officeDocument/2006/relationships/font" Target="fonts/Raleway-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31" Type="http://schemas.openxmlformats.org/officeDocument/2006/relationships/slide" Target="slides/slide25.xml"/><Relationship Id="rId75" Type="http://schemas.openxmlformats.org/officeDocument/2006/relationships/slide" Target="slides/slide69.xml"/><Relationship Id="rId30" Type="http://schemas.openxmlformats.org/officeDocument/2006/relationships/slide" Target="slides/slide24.xml"/><Relationship Id="rId74" Type="http://schemas.openxmlformats.org/officeDocument/2006/relationships/slide" Target="slides/slide68.xml"/><Relationship Id="rId33" Type="http://schemas.openxmlformats.org/officeDocument/2006/relationships/slide" Target="slides/slide27.xml"/><Relationship Id="rId77" Type="http://schemas.openxmlformats.org/officeDocument/2006/relationships/slide" Target="slides/slide71.xml"/><Relationship Id="rId32" Type="http://schemas.openxmlformats.org/officeDocument/2006/relationships/slide" Target="slides/slide26.xml"/><Relationship Id="rId76" Type="http://schemas.openxmlformats.org/officeDocument/2006/relationships/slide" Target="slides/slide70.xml"/><Relationship Id="rId35" Type="http://schemas.openxmlformats.org/officeDocument/2006/relationships/slide" Target="slides/slide29.xml"/><Relationship Id="rId79" Type="http://schemas.openxmlformats.org/officeDocument/2006/relationships/font" Target="fonts/Raleway-regular.fntdata"/><Relationship Id="rId34" Type="http://schemas.openxmlformats.org/officeDocument/2006/relationships/slide" Target="slides/slide28.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100929e3ebf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100929e3ebf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1d545016ab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1d545016ab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15c7e0324b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15c7e0324b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1ca2ee7a2f8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1ca2ee7a2f8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1ca2ee7a2f8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1ca2ee7a2f8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1ca2ee7a2f8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1ca2ee7a2f8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1ca2ee7a2f8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1ca2ee7a2f8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1ca2ee7a2f8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1ca2ee7a2f8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1ca2ee7a2f8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1ca2ee7a2f8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1ca2ee7a2f8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1ca2ee7a2f8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1ca2ee7a2f8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1ca2ee7a2f8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1ca2ee7a2f8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1ca2ee7a2f8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1ca2ee7a2f8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1ca2ee7a2f8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1ca2ee7a2f8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1ca2ee7a2f8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1ca2ee7a2f8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1ca2ee7a2f8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1ca2ee7a2f8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1ca2ee7a2f8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1ca2ee7a2f8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1ca2ee7a2f8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1ca2ee7a2f8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1ca2ee7a2f8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1ca2ee7a2f8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1ca2ee7a2f8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95000"/>
              </a:lnSpc>
              <a:spcBef>
                <a:spcPts val="0"/>
              </a:spcBef>
              <a:spcAft>
                <a:spcPts val="0"/>
              </a:spcAft>
              <a:buClr>
                <a:schemeClr val="dk1"/>
              </a:buClr>
              <a:buSzPts val="1100"/>
              <a:buFont typeface="Arial"/>
              <a:buNone/>
            </a:pPr>
            <a:r>
              <a:rPr lang="es" sz="2200">
                <a:solidFill>
                  <a:schemeClr val="dk1"/>
                </a:solidFill>
              </a:rPr>
              <a:t>0,01 + 0,81 + 0,81 + 0,64 </a:t>
            </a:r>
            <a:endParaRPr sz="2200">
              <a:solidFill>
                <a:schemeClr val="dk1"/>
              </a:solidFill>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1ca2ee7a2f8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1ca2ee7a2f8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El problema a resolver es un problema de optimización: queremos</a:t>
            </a:r>
            <a:endParaRPr/>
          </a:p>
          <a:p>
            <a:pPr indent="0" lvl="0" marL="0" rtl="0" algn="l">
              <a:spcBef>
                <a:spcPts val="0"/>
              </a:spcBef>
              <a:spcAft>
                <a:spcPts val="0"/>
              </a:spcAft>
              <a:buClr>
                <a:schemeClr val="dk1"/>
              </a:buClr>
              <a:buSzPts val="1100"/>
              <a:buFont typeface="Arial"/>
              <a:buNone/>
            </a:pPr>
            <a:r>
              <a:rPr lang="es"/>
              <a:t>obtener los valores de w y b que minimicen el valor de C.</a:t>
            </a:r>
            <a:endParaRPr/>
          </a:p>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1d4dbe67fb5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1d4dbe67fb5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El problema a resolver es un problema de optimización: queremos</a:t>
            </a:r>
            <a:endParaRPr/>
          </a:p>
          <a:p>
            <a:pPr indent="0" lvl="0" marL="0" rtl="0" algn="l">
              <a:spcBef>
                <a:spcPts val="0"/>
              </a:spcBef>
              <a:spcAft>
                <a:spcPts val="0"/>
              </a:spcAft>
              <a:buClr>
                <a:schemeClr val="dk1"/>
              </a:buClr>
              <a:buSzPts val="1100"/>
              <a:buFont typeface="Arial"/>
              <a:buNone/>
            </a:pPr>
            <a:r>
              <a:rPr lang="es"/>
              <a:t>obtener los valores de w y b que minimicen el valor de C.</a:t>
            </a:r>
            <a:endParaRPr/>
          </a:p>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1d4dbe67fb5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1d4dbe67fb5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El problema a resolver es un problema de optimización: queremos</a:t>
            </a:r>
            <a:endParaRPr/>
          </a:p>
          <a:p>
            <a:pPr indent="0" lvl="0" marL="0" rtl="0" algn="l">
              <a:spcBef>
                <a:spcPts val="0"/>
              </a:spcBef>
              <a:spcAft>
                <a:spcPts val="0"/>
              </a:spcAft>
              <a:buClr>
                <a:schemeClr val="dk1"/>
              </a:buClr>
              <a:buSzPts val="1100"/>
              <a:buFont typeface="Arial"/>
              <a:buNone/>
            </a:pPr>
            <a:r>
              <a:rPr lang="es"/>
              <a:t>obtener los valores de w y b que minimicen el valor de C.</a:t>
            </a:r>
            <a:endParaRPr/>
          </a:p>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1d4dbe67fb5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1d4dbe67fb5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El problema a resolver es un problema de optimización: queremos</a:t>
            </a:r>
            <a:endParaRPr/>
          </a:p>
          <a:p>
            <a:pPr indent="0" lvl="0" marL="0" rtl="0" algn="l">
              <a:spcBef>
                <a:spcPts val="0"/>
              </a:spcBef>
              <a:spcAft>
                <a:spcPts val="0"/>
              </a:spcAft>
              <a:buClr>
                <a:schemeClr val="dk1"/>
              </a:buClr>
              <a:buSzPts val="1100"/>
              <a:buFont typeface="Arial"/>
              <a:buNone/>
            </a:pPr>
            <a:r>
              <a:rPr lang="es"/>
              <a:t>obtener los valores de w y b que minimicen el valor de C.</a:t>
            </a:r>
            <a:endParaRPr/>
          </a:p>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1d4dbe67fb5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1d4dbe67fb5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El problema a resolver es un problema de optimización: queremos</a:t>
            </a:r>
            <a:endParaRPr/>
          </a:p>
          <a:p>
            <a:pPr indent="0" lvl="0" marL="0" rtl="0" algn="l">
              <a:spcBef>
                <a:spcPts val="0"/>
              </a:spcBef>
              <a:spcAft>
                <a:spcPts val="0"/>
              </a:spcAft>
              <a:buClr>
                <a:schemeClr val="dk1"/>
              </a:buClr>
              <a:buSzPts val="1100"/>
              <a:buFont typeface="Arial"/>
              <a:buNone/>
            </a:pPr>
            <a:r>
              <a:rPr lang="es"/>
              <a:t>obtener los valores de w y b que minimicen el valor de C.</a:t>
            </a:r>
            <a:endParaRPr/>
          </a:p>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1d4dbe67fb5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1d4dbe67fb5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El problema a resolver es un problema de optimización: queremos</a:t>
            </a:r>
            <a:endParaRPr/>
          </a:p>
          <a:p>
            <a:pPr indent="0" lvl="0" marL="0" rtl="0" algn="l">
              <a:spcBef>
                <a:spcPts val="0"/>
              </a:spcBef>
              <a:spcAft>
                <a:spcPts val="0"/>
              </a:spcAft>
              <a:buClr>
                <a:schemeClr val="dk1"/>
              </a:buClr>
              <a:buSzPts val="1100"/>
              <a:buFont typeface="Arial"/>
              <a:buNone/>
            </a:pPr>
            <a:r>
              <a:rPr lang="es"/>
              <a:t>obtener los valores de w y b que minimicen el valor de C.</a:t>
            </a:r>
            <a:endParaRPr/>
          </a:p>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1d4dbe67fb5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1d4dbe67fb5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El problema a resolver es un problema de optimización: queremos</a:t>
            </a:r>
            <a:endParaRPr/>
          </a:p>
          <a:p>
            <a:pPr indent="0" lvl="0" marL="0" rtl="0" algn="l">
              <a:spcBef>
                <a:spcPts val="0"/>
              </a:spcBef>
              <a:spcAft>
                <a:spcPts val="0"/>
              </a:spcAft>
              <a:buClr>
                <a:schemeClr val="dk1"/>
              </a:buClr>
              <a:buSzPts val="1100"/>
              <a:buFont typeface="Arial"/>
              <a:buNone/>
            </a:pPr>
            <a:r>
              <a:rPr lang="es"/>
              <a:t>obtener los valores de w y b que minimicen el valor de C.</a:t>
            </a:r>
            <a:endParaRPr/>
          </a:p>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1d4dbe67fb5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1d4dbe67fb5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El problema a resolver es un problema de optimización: queremos</a:t>
            </a:r>
            <a:endParaRPr/>
          </a:p>
          <a:p>
            <a:pPr indent="0" lvl="0" marL="0" rtl="0" algn="l">
              <a:spcBef>
                <a:spcPts val="0"/>
              </a:spcBef>
              <a:spcAft>
                <a:spcPts val="0"/>
              </a:spcAft>
              <a:buClr>
                <a:schemeClr val="dk1"/>
              </a:buClr>
              <a:buSzPts val="1100"/>
              <a:buFont typeface="Arial"/>
              <a:buNone/>
            </a:pPr>
            <a:r>
              <a:rPr lang="es"/>
              <a:t>obtener los valores de w y b que minimicen el valor de C.</a:t>
            </a:r>
            <a:endParaRPr/>
          </a:p>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181bf02b6b4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181bf02b6b4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El problema a resolver es un problema de optimización: queremos</a:t>
            </a:r>
            <a:endParaRPr/>
          </a:p>
          <a:p>
            <a:pPr indent="0" lvl="0" marL="0" rtl="0" algn="l">
              <a:spcBef>
                <a:spcPts val="0"/>
              </a:spcBef>
              <a:spcAft>
                <a:spcPts val="0"/>
              </a:spcAft>
              <a:buClr>
                <a:schemeClr val="dk1"/>
              </a:buClr>
              <a:buSzPts val="1100"/>
              <a:buFont typeface="Arial"/>
              <a:buNone/>
            </a:pPr>
            <a:r>
              <a:rPr lang="es"/>
              <a:t>obtener los valores de w y b que minimicen el valor de C.</a:t>
            </a:r>
            <a:endParaRPr/>
          </a:p>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1d4dbe67fb5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1d4dbe67fb5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El problema a resolver es un problema de optimización: queremos</a:t>
            </a:r>
            <a:endParaRPr/>
          </a:p>
          <a:p>
            <a:pPr indent="0" lvl="0" marL="0" rtl="0" algn="l">
              <a:spcBef>
                <a:spcPts val="0"/>
              </a:spcBef>
              <a:spcAft>
                <a:spcPts val="0"/>
              </a:spcAft>
              <a:buClr>
                <a:schemeClr val="dk1"/>
              </a:buClr>
              <a:buSzPts val="1100"/>
              <a:buFont typeface="Arial"/>
              <a:buNone/>
            </a:pPr>
            <a:r>
              <a:rPr lang="es"/>
              <a:t>obtener los valores de w y b que minimicen el valor de C.</a:t>
            </a:r>
            <a:endParaRPr/>
          </a:p>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1d4dbe67fb5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1d4dbe67fb5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El problema a resolver es un problema de optimización: queremos</a:t>
            </a:r>
            <a:endParaRPr/>
          </a:p>
          <a:p>
            <a:pPr indent="0" lvl="0" marL="0" rtl="0" algn="l">
              <a:spcBef>
                <a:spcPts val="0"/>
              </a:spcBef>
              <a:spcAft>
                <a:spcPts val="0"/>
              </a:spcAft>
              <a:buClr>
                <a:schemeClr val="dk1"/>
              </a:buClr>
              <a:buSzPts val="1100"/>
              <a:buFont typeface="Arial"/>
              <a:buNone/>
            </a:pPr>
            <a:r>
              <a:rPr lang="es"/>
              <a:t>obtener los valores de w y b que minimicen el valor de C.</a:t>
            </a:r>
            <a:endParaRPr/>
          </a:p>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1d4dbe67fb5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1d4dbe67fb5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El problema a resolver es un problema de optimización: queremos</a:t>
            </a:r>
            <a:endParaRPr/>
          </a:p>
          <a:p>
            <a:pPr indent="0" lvl="0" marL="0" rtl="0" algn="l">
              <a:spcBef>
                <a:spcPts val="0"/>
              </a:spcBef>
              <a:spcAft>
                <a:spcPts val="0"/>
              </a:spcAft>
              <a:buClr>
                <a:schemeClr val="dk1"/>
              </a:buClr>
              <a:buSzPts val="1100"/>
              <a:buFont typeface="Arial"/>
              <a:buNone/>
            </a:pPr>
            <a:r>
              <a:rPr lang="es"/>
              <a:t>obtener los valores de w y b que minimicen el valor de C.</a:t>
            </a:r>
            <a:endParaRPr/>
          </a:p>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1d4dbe67fb5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1d4dbe67fb5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1d4dbe67fb5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1d4dbe67fb5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El problema a resolver es un problema de optimización: queremos</a:t>
            </a:r>
            <a:endParaRPr/>
          </a:p>
          <a:p>
            <a:pPr indent="0" lvl="0" marL="0" rtl="0" algn="l">
              <a:spcBef>
                <a:spcPts val="0"/>
              </a:spcBef>
              <a:spcAft>
                <a:spcPts val="0"/>
              </a:spcAft>
              <a:buClr>
                <a:schemeClr val="dk1"/>
              </a:buClr>
              <a:buSzPts val="1100"/>
              <a:buFont typeface="Arial"/>
              <a:buNone/>
            </a:pPr>
            <a:r>
              <a:rPr lang="es"/>
              <a:t>obtener los valores de w y b que minimicen el valor de C.</a:t>
            </a:r>
            <a:endParaRPr/>
          </a:p>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1d4dbe67fb5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1d4dbe67fb5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181bf02b6b4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181bf02b6b4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20 / 1</a:t>
            </a:r>
            <a:endParaRPr/>
          </a:p>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181bf02b6b4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181bf02b6b4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64*938=</a:t>
            </a:r>
            <a:r>
              <a:rPr lang="es"/>
              <a:t>60.032</a:t>
            </a:r>
            <a:endParaRPr/>
          </a:p>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181bf02b6b4_0_3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181bf02b6b4_0_3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El problema a resolver es un problema de optimización: queremos</a:t>
            </a:r>
            <a:endParaRPr/>
          </a:p>
          <a:p>
            <a:pPr indent="0" lvl="0" marL="0" rtl="0" algn="l">
              <a:spcBef>
                <a:spcPts val="0"/>
              </a:spcBef>
              <a:spcAft>
                <a:spcPts val="0"/>
              </a:spcAft>
              <a:buClr>
                <a:schemeClr val="dk1"/>
              </a:buClr>
              <a:buSzPts val="1100"/>
              <a:buFont typeface="Arial"/>
              <a:buNone/>
            </a:pPr>
            <a:r>
              <a:rPr lang="es"/>
              <a:t>obtener los valores de w y b que minimicen el valor de C.</a:t>
            </a:r>
            <a:endParaRPr/>
          </a:p>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181bf02b6b4_0_3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181bf02b6b4_0_3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El problema a resolver es un problema de optimización: queremos</a:t>
            </a:r>
            <a:endParaRPr/>
          </a:p>
          <a:p>
            <a:pPr indent="0" lvl="0" marL="0" rtl="0" algn="l">
              <a:spcBef>
                <a:spcPts val="0"/>
              </a:spcBef>
              <a:spcAft>
                <a:spcPts val="0"/>
              </a:spcAft>
              <a:buClr>
                <a:schemeClr val="dk1"/>
              </a:buClr>
              <a:buSzPts val="1100"/>
              <a:buFont typeface="Arial"/>
              <a:buNone/>
            </a:pPr>
            <a:r>
              <a:rPr lang="es"/>
              <a:t>obtener los valores de w y b que minimicen el valor de C.</a:t>
            </a:r>
            <a:endParaRPr/>
          </a:p>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181bf02b6b4_0_3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181bf02b6b4_0_3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El problema a resolver es un problema de optimización: queremos</a:t>
            </a:r>
            <a:endParaRPr/>
          </a:p>
          <a:p>
            <a:pPr indent="0" lvl="0" marL="0" rtl="0" algn="l">
              <a:spcBef>
                <a:spcPts val="0"/>
              </a:spcBef>
              <a:spcAft>
                <a:spcPts val="0"/>
              </a:spcAft>
              <a:buClr>
                <a:schemeClr val="dk1"/>
              </a:buClr>
              <a:buSzPts val="1100"/>
              <a:buFont typeface="Arial"/>
              <a:buNone/>
            </a:pPr>
            <a:r>
              <a:rPr lang="es"/>
              <a:t>obtener los valores de w y b que minimicen el valor de C.</a:t>
            </a:r>
            <a:endParaRPr/>
          </a:p>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181bf02b6b4_0_3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181bf02b6b4_0_3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El problema a resolver es un problema de optimización: queremos</a:t>
            </a:r>
            <a:endParaRPr/>
          </a:p>
          <a:p>
            <a:pPr indent="0" lvl="0" marL="0" rtl="0" algn="l">
              <a:spcBef>
                <a:spcPts val="0"/>
              </a:spcBef>
              <a:spcAft>
                <a:spcPts val="0"/>
              </a:spcAft>
              <a:buClr>
                <a:schemeClr val="dk1"/>
              </a:buClr>
              <a:buSzPts val="1100"/>
              <a:buFont typeface="Arial"/>
              <a:buNone/>
            </a:pPr>
            <a:r>
              <a:rPr lang="es"/>
              <a:t>obtener los valores de w y b que minimicen el valor de C.</a:t>
            </a:r>
            <a:endParaRPr/>
          </a:p>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181bf02b6b4_0_4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181bf02b6b4_0_4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El problema a resolver es un problema de optimización: queremos</a:t>
            </a:r>
            <a:endParaRPr/>
          </a:p>
          <a:p>
            <a:pPr indent="0" lvl="0" marL="0" rtl="0" algn="l">
              <a:spcBef>
                <a:spcPts val="0"/>
              </a:spcBef>
              <a:spcAft>
                <a:spcPts val="0"/>
              </a:spcAft>
              <a:buClr>
                <a:schemeClr val="dk1"/>
              </a:buClr>
              <a:buSzPts val="1100"/>
              <a:buFont typeface="Arial"/>
              <a:buNone/>
            </a:pPr>
            <a:r>
              <a:rPr lang="es"/>
              <a:t>obtener los valores de w y b que minimicen el valor de C.</a:t>
            </a:r>
            <a:endParaRPr/>
          </a:p>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181bf02b6b4_0_4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181bf02b6b4_0_4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El problema a resolver es un problema de optimización: queremos</a:t>
            </a:r>
            <a:endParaRPr/>
          </a:p>
          <a:p>
            <a:pPr indent="0" lvl="0" marL="0" rtl="0" algn="l">
              <a:spcBef>
                <a:spcPts val="0"/>
              </a:spcBef>
              <a:spcAft>
                <a:spcPts val="0"/>
              </a:spcAft>
              <a:buClr>
                <a:schemeClr val="dk1"/>
              </a:buClr>
              <a:buSzPts val="1100"/>
              <a:buFont typeface="Arial"/>
              <a:buNone/>
            </a:pPr>
            <a:r>
              <a:rPr lang="es"/>
              <a:t>obtener los valores de w y b que minimicen el valor de C.</a:t>
            </a:r>
            <a:endParaRPr/>
          </a:p>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181bf02b6b4_0_4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1" name="Google Shape;411;g181bf02b6b4_0_4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El problema a resolver es un problema de optimización: queremos</a:t>
            </a:r>
            <a:endParaRPr/>
          </a:p>
          <a:p>
            <a:pPr indent="0" lvl="0" marL="0" rtl="0" algn="l">
              <a:spcBef>
                <a:spcPts val="0"/>
              </a:spcBef>
              <a:spcAft>
                <a:spcPts val="0"/>
              </a:spcAft>
              <a:buClr>
                <a:schemeClr val="dk1"/>
              </a:buClr>
              <a:buSzPts val="1100"/>
              <a:buFont typeface="Arial"/>
              <a:buNone/>
            </a:pPr>
            <a:r>
              <a:rPr lang="es"/>
              <a:t>obtener los valores de w y b que minimicen el valor de C.</a:t>
            </a:r>
            <a:endParaRPr/>
          </a:p>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1d4dbe67fb5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9" name="Google Shape;419;g1d4dbe67fb5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El problema a resolver es un problema de optimización: queremos</a:t>
            </a:r>
            <a:endParaRPr/>
          </a:p>
          <a:p>
            <a:pPr indent="0" lvl="0" marL="0" rtl="0" algn="l">
              <a:spcBef>
                <a:spcPts val="0"/>
              </a:spcBef>
              <a:spcAft>
                <a:spcPts val="0"/>
              </a:spcAft>
              <a:buClr>
                <a:schemeClr val="dk1"/>
              </a:buClr>
              <a:buSzPts val="1100"/>
              <a:buFont typeface="Arial"/>
              <a:buNone/>
            </a:pPr>
            <a:r>
              <a:rPr lang="es"/>
              <a:t>obtener los valores de w y b que minimicen el valor de C.</a:t>
            </a:r>
            <a:endParaRPr/>
          </a:p>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181bf02b6b4_0_3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181bf02b6b4_0_3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El problema a resolver es un problema de optimización: queremos</a:t>
            </a:r>
            <a:endParaRPr/>
          </a:p>
          <a:p>
            <a:pPr indent="0" lvl="0" marL="0" rtl="0" algn="l">
              <a:spcBef>
                <a:spcPts val="0"/>
              </a:spcBef>
              <a:spcAft>
                <a:spcPts val="0"/>
              </a:spcAft>
              <a:buClr>
                <a:schemeClr val="dk1"/>
              </a:buClr>
              <a:buSzPts val="1100"/>
              <a:buFont typeface="Arial"/>
              <a:buNone/>
            </a:pPr>
            <a:r>
              <a:rPr lang="es"/>
              <a:t>obtener los valores de w y b que minimicen el valor de C.</a:t>
            </a:r>
            <a:endParaRPr/>
          </a:p>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1d4dbe67fb5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4" name="Google Shape;434;g1d4dbe67fb5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181bf02b6b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1" name="Google Shape;441;g181bf02b6b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181bf02b6b4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0" name="Google Shape;450;g181bf02b6b4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181bf02b6b4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8" name="Google Shape;458;g181bf02b6b4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181bf02b6b4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7" name="Google Shape;467;g181bf02b6b4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181bf02b6b4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6" name="Google Shape;476;g181bf02b6b4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181bf02b6b4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5" name="Google Shape;485;g181bf02b6b4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181bf02b6b4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5" name="Google Shape;495;g181bf02b6b4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181bf02b6b4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181bf02b6b4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181bf02b6b4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4" name="Google Shape;514;g181bf02b6b4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g181bf02b6b4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4" name="Google Shape;524;g181bf02b6b4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g181bf02b6b4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4" name="Google Shape;534;g181bf02b6b4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g181bf02b6b4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4" name="Google Shape;544;g181bf02b6b4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g181bf02b6b4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4" name="Google Shape;554;g181bf02b6b4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g181bf02b6b4_0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4" name="Google Shape;564;g181bf02b6b4_0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181bf02b6b4_0_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4" name="Google Shape;574;g181bf02b6b4_0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g181bf02b6b4_0_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4" name="Google Shape;584;g181bf02b6b4_0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El problema a resolver es un problema de optimización: queremos</a:t>
            </a:r>
            <a:endParaRPr/>
          </a:p>
          <a:p>
            <a:pPr indent="0" lvl="0" marL="0" rtl="0" algn="l">
              <a:spcBef>
                <a:spcPts val="0"/>
              </a:spcBef>
              <a:spcAft>
                <a:spcPts val="0"/>
              </a:spcAft>
              <a:buClr>
                <a:schemeClr val="dk1"/>
              </a:buClr>
              <a:buSzPts val="1100"/>
              <a:buFont typeface="Arial"/>
              <a:buNone/>
            </a:pPr>
            <a:r>
              <a:rPr lang="es"/>
              <a:t>obtener los valores de w y b que minimicen el valor de C.</a:t>
            </a:r>
            <a:endParaRPr/>
          </a:p>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g181bf02b6b4_0_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4" name="Google Shape;594;g181bf02b6b4_0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181bf02b6b4_0_2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4" name="Google Shape;604;g181bf02b6b4_0_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g181bf02b6b4_0_2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5" name="Google Shape;615;g181bf02b6b4_0_2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g181bf02b6b4_0_2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5" name="Google Shape;625;g181bf02b6b4_0_2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g181bf02b6b4_0_3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4" name="Google Shape;634;g181bf02b6b4_0_3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g181bf02b6b4_0_2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3" name="Google Shape;643;g181bf02b6b4_0_2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g181bf02b6b4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3" name="Google Shape;653;g181bf02b6b4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g181bf02b6b4_0_2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3" name="Google Shape;663;g181bf02b6b4_0_2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g181bf02b6b4_0_2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3" name="Google Shape;673;g181bf02b6b4_0_2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
        <p:nvSpPr>
          <p:cNvPr id="16" name="Google Shape;16;p2"/>
          <p:cNvSpPr txBox="1"/>
          <p:nvPr/>
        </p:nvSpPr>
        <p:spPr>
          <a:xfrm>
            <a:off x="830400" y="4304700"/>
            <a:ext cx="79785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latin typeface="Lato"/>
                <a:ea typeface="Lato"/>
                <a:cs typeface="Lato"/>
                <a:sym typeface="Lato"/>
              </a:rPr>
              <a:t>IES Abastos									  CE Inteligencia Artificial y Big Data</a:t>
            </a:r>
            <a:endParaRPr>
              <a:latin typeface="Lato"/>
              <a:ea typeface="Lato"/>
              <a:cs typeface="Lato"/>
              <a:sym typeface="Lato"/>
            </a:endParaRPr>
          </a:p>
          <a:p>
            <a:pPr indent="0" lvl="0" marL="0" rtl="0" algn="r">
              <a:spcBef>
                <a:spcPts val="0"/>
              </a:spcBef>
              <a:spcAft>
                <a:spcPts val="0"/>
              </a:spcAft>
              <a:buNone/>
            </a:pPr>
            <a:r>
              <a:rPr lang="es">
                <a:latin typeface="Lato"/>
                <a:ea typeface="Lato"/>
                <a:cs typeface="Lato"/>
                <a:sym typeface="Lato"/>
              </a:rPr>
              <a:t>                                                                                         </a:t>
            </a:r>
            <a:r>
              <a:rPr lang="es">
                <a:latin typeface="Lato"/>
                <a:ea typeface="Lato"/>
                <a:cs typeface="Lato"/>
                <a:sym typeface="Lato"/>
              </a:rPr>
              <a:t>Sistemas de Aprendizaje Automático.</a:t>
            </a:r>
            <a:endParaRPr>
              <a:latin typeface="Lato"/>
              <a:ea typeface="Lato"/>
              <a:cs typeface="Lato"/>
              <a:sym typeface="Lato"/>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
        <p:nvSpPr>
          <p:cNvPr id="31" name="Google Shape;31;p4"/>
          <p:cNvSpPr txBox="1"/>
          <p:nvPr/>
        </p:nvSpPr>
        <p:spPr>
          <a:xfrm>
            <a:off x="729450" y="4631825"/>
            <a:ext cx="7978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000">
                <a:latin typeface="Lato"/>
                <a:ea typeface="Lato"/>
                <a:cs typeface="Lato"/>
                <a:sym typeface="Lato"/>
              </a:rPr>
              <a:t>     </a:t>
            </a:r>
            <a:r>
              <a:rPr lang="es" sz="1000">
                <a:latin typeface="Lato"/>
                <a:ea typeface="Lato"/>
                <a:cs typeface="Lato"/>
                <a:sym typeface="Lato"/>
              </a:rPr>
              <a:t>IES Abastos			  		  		    CE Inteligencia Artificial y Big Data/</a:t>
            </a:r>
            <a:r>
              <a:rPr lang="es" sz="1000">
                <a:latin typeface="Lato"/>
                <a:ea typeface="Lato"/>
                <a:cs typeface="Lato"/>
                <a:sym typeface="Lato"/>
              </a:rPr>
              <a:t>Sistemas de Aprendizaje Automático.</a:t>
            </a:r>
            <a:endParaRPr sz="1000">
              <a:latin typeface="Lato"/>
              <a:ea typeface="Lato"/>
              <a:cs typeface="Lato"/>
              <a:sym typeface="Lato"/>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2" name="Shape 32"/>
        <p:cNvGrpSpPr/>
        <p:nvPr/>
      </p:nvGrpSpPr>
      <p:grpSpPr>
        <a:xfrm>
          <a:off x="0" y="0"/>
          <a:ext cx="0" cy="0"/>
          <a:chOff x="0" y="0"/>
          <a:chExt cx="0" cy="0"/>
        </a:xfrm>
      </p:grpSpPr>
      <p:sp>
        <p:nvSpPr>
          <p:cNvPr id="33" name="Google Shape;33;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 name="Google Shape;34;p5"/>
          <p:cNvGrpSpPr/>
          <p:nvPr/>
        </p:nvGrpSpPr>
        <p:grpSpPr>
          <a:xfrm>
            <a:off x="830392" y="1191256"/>
            <a:ext cx="745763" cy="45826"/>
            <a:chOff x="4580561" y="2589004"/>
            <a:chExt cx="1064464" cy="25200"/>
          </a:xfrm>
        </p:grpSpPr>
        <p:sp>
          <p:nvSpPr>
            <p:cNvPr id="35" name="Google Shape;35;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 name="Google Shape;37;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8" name="Google Shape;38;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0" name="Google Shape;40;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3" name="Google Shape;43;p6"/>
          <p:cNvGrpSpPr/>
          <p:nvPr/>
        </p:nvGrpSpPr>
        <p:grpSpPr>
          <a:xfrm>
            <a:off x="830392" y="1191256"/>
            <a:ext cx="745763" cy="45826"/>
            <a:chOff x="4580561" y="2589004"/>
            <a:chExt cx="1064464" cy="25200"/>
          </a:xfrm>
        </p:grpSpPr>
        <p:sp>
          <p:nvSpPr>
            <p:cNvPr id="44" name="Google Shape;44;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 name="Google Shape;46;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7" name="Google Shape;47;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8" name="Shape 48"/>
        <p:cNvGrpSpPr/>
        <p:nvPr/>
      </p:nvGrpSpPr>
      <p:grpSpPr>
        <a:xfrm>
          <a:off x="0" y="0"/>
          <a:ext cx="0" cy="0"/>
          <a:chOff x="0" y="0"/>
          <a:chExt cx="0" cy="0"/>
        </a:xfrm>
      </p:grpSpPr>
      <p:sp>
        <p:nvSpPr>
          <p:cNvPr id="49" name="Google Shape;49;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0" name="Google Shape;50;p7"/>
          <p:cNvGrpSpPr/>
          <p:nvPr/>
        </p:nvGrpSpPr>
        <p:grpSpPr>
          <a:xfrm>
            <a:off x="830392" y="1191256"/>
            <a:ext cx="745763" cy="45826"/>
            <a:chOff x="4580561" y="2589004"/>
            <a:chExt cx="1064464" cy="25200"/>
          </a:xfrm>
        </p:grpSpPr>
        <p:sp>
          <p:nvSpPr>
            <p:cNvPr id="51" name="Google Shape;51;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3" name="Google Shape;53;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4" name="Google Shape;54;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6" name="Shape 56"/>
        <p:cNvGrpSpPr/>
        <p:nvPr/>
      </p:nvGrpSpPr>
      <p:grpSpPr>
        <a:xfrm>
          <a:off x="0" y="0"/>
          <a:ext cx="0" cy="0"/>
          <a:chOff x="0" y="0"/>
          <a:chExt cx="0" cy="0"/>
        </a:xfrm>
      </p:grpSpPr>
      <p:grpSp>
        <p:nvGrpSpPr>
          <p:cNvPr id="57" name="Google Shape;57;p8"/>
          <p:cNvGrpSpPr/>
          <p:nvPr/>
        </p:nvGrpSpPr>
        <p:grpSpPr>
          <a:xfrm>
            <a:off x="830392" y="4169130"/>
            <a:ext cx="745763" cy="45826"/>
            <a:chOff x="4580561" y="2589004"/>
            <a:chExt cx="1064464" cy="25200"/>
          </a:xfrm>
        </p:grpSpPr>
        <p:sp>
          <p:nvSpPr>
            <p:cNvPr id="58" name="Google Shape;58;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1" name="Google Shape;61;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2" name="Shape 62"/>
        <p:cNvGrpSpPr/>
        <p:nvPr/>
      </p:nvGrpSpPr>
      <p:grpSpPr>
        <a:xfrm>
          <a:off x="0" y="0"/>
          <a:ext cx="0" cy="0"/>
          <a:chOff x="0" y="0"/>
          <a:chExt cx="0" cy="0"/>
        </a:xfrm>
      </p:grpSpPr>
      <p:sp>
        <p:nvSpPr>
          <p:cNvPr id="63" name="Google Shape;63;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4" name="Google Shape;64;p9"/>
          <p:cNvGrpSpPr/>
          <p:nvPr/>
        </p:nvGrpSpPr>
        <p:grpSpPr>
          <a:xfrm>
            <a:off x="830392" y="1191256"/>
            <a:ext cx="745763" cy="45826"/>
            <a:chOff x="4580561" y="2589004"/>
            <a:chExt cx="1064464" cy="25200"/>
          </a:xfrm>
        </p:grpSpPr>
        <p:sp>
          <p:nvSpPr>
            <p:cNvPr id="65" name="Google Shape;65;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7" name="Google Shape;67;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8" name="Google Shape;68;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9" name="Google Shape;69;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0" name="Google Shape;70;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1" name="Shape 71"/>
        <p:cNvGrpSpPr/>
        <p:nvPr/>
      </p:nvGrpSpPr>
      <p:grpSpPr>
        <a:xfrm>
          <a:off x="0" y="0"/>
          <a:ext cx="0" cy="0"/>
          <a:chOff x="0" y="0"/>
          <a:chExt cx="0" cy="0"/>
        </a:xfrm>
      </p:grpSpPr>
      <p:sp>
        <p:nvSpPr>
          <p:cNvPr id="72" name="Google Shape;72;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3" name="Google Shape;73;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4" name="Shape 74"/>
        <p:cNvGrpSpPr/>
        <p:nvPr/>
      </p:nvGrpSpPr>
      <p:grpSpPr>
        <a:xfrm>
          <a:off x="0" y="0"/>
          <a:ext cx="0" cy="0"/>
          <a:chOff x="0" y="0"/>
          <a:chExt cx="0" cy="0"/>
        </a:xfrm>
      </p:grpSpPr>
      <p:grpSp>
        <p:nvGrpSpPr>
          <p:cNvPr id="75" name="Google Shape;75;p11"/>
          <p:cNvGrpSpPr/>
          <p:nvPr/>
        </p:nvGrpSpPr>
        <p:grpSpPr>
          <a:xfrm>
            <a:off x="830392" y="4169130"/>
            <a:ext cx="745763" cy="45826"/>
            <a:chOff x="4580561" y="2589004"/>
            <a:chExt cx="1064464" cy="25200"/>
          </a:xfrm>
        </p:grpSpPr>
        <p:sp>
          <p:nvSpPr>
            <p:cNvPr id="76" name="Google Shape;76;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8" name="Google Shape;78;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9" name="Google Shape;79;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80" name="Google Shape;80;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1" name="Shape 81"/>
        <p:cNvGrpSpPr/>
        <p:nvPr/>
      </p:nvGrpSpPr>
      <p:grpSpPr>
        <a:xfrm>
          <a:off x="0" y="0"/>
          <a:ext cx="0" cy="0"/>
          <a:chOff x="0" y="0"/>
          <a:chExt cx="0" cy="0"/>
        </a:xfrm>
      </p:grpSpPr>
      <p:sp>
        <p:nvSpPr>
          <p:cNvPr id="82" name="Google Shape;82;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jp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8.png"/><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4.png"/><Relationship Id="rId4" Type="http://schemas.openxmlformats.org/officeDocument/2006/relationships/image" Target="../media/image1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4.png"/><Relationship Id="rId4" Type="http://schemas.openxmlformats.org/officeDocument/2006/relationships/image" Target="../media/image1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1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1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1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2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20.png"/><Relationship Id="rId4" Type="http://schemas.openxmlformats.org/officeDocument/2006/relationships/image" Target="../media/image2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1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27.png"/><Relationship Id="rId4" Type="http://schemas.openxmlformats.org/officeDocument/2006/relationships/image" Target="../media/image21.png"/><Relationship Id="rId5" Type="http://schemas.openxmlformats.org/officeDocument/2006/relationships/image" Target="../media/image2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2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26.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28.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32.png"/><Relationship Id="rId4" Type="http://schemas.openxmlformats.org/officeDocument/2006/relationships/image" Target="../media/image30.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32.png"/><Relationship Id="rId4" Type="http://schemas.openxmlformats.org/officeDocument/2006/relationships/image" Target="../media/image46.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38.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36.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33.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35.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3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40.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4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37.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39.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34.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image" Target="../media/image34.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43.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 Id="rId3" Type="http://schemas.openxmlformats.org/officeDocument/2006/relationships/image" Target="../media/image42.png"/><Relationship Id="rId4" Type="http://schemas.openxmlformats.org/officeDocument/2006/relationships/image" Target="../media/image44.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 Id="rId3" Type="http://schemas.openxmlformats.org/officeDocument/2006/relationships/image" Target="../media/image48.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 Id="rId3" Type="http://schemas.openxmlformats.org/officeDocument/2006/relationships/image" Target="../media/image47.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 Id="rId3" Type="http://schemas.openxmlformats.org/officeDocument/2006/relationships/image" Target="../media/image49.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 Id="rId3" Type="http://schemas.openxmlformats.org/officeDocument/2006/relationships/image" Target="../media/image45.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 Id="rId3" Type="http://schemas.openxmlformats.org/officeDocument/2006/relationships/image" Target="../media/image5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3"/>
          <p:cNvSpPr txBox="1"/>
          <p:nvPr>
            <p:ph type="ctrTitle"/>
          </p:nvPr>
        </p:nvSpPr>
        <p:spPr>
          <a:xfrm>
            <a:off x="729450" y="1322450"/>
            <a:ext cx="7688100" cy="1664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UT5. Entrenamiento redes neuronales.</a:t>
            </a:r>
            <a:endParaRPr sz="4650"/>
          </a:p>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title"/>
          </p:nvPr>
        </p:nvSpPr>
        <p:spPr>
          <a:xfrm>
            <a:off x="687150" y="5995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Bloques de la unidad:</a:t>
            </a:r>
            <a:endParaRPr/>
          </a:p>
        </p:txBody>
      </p:sp>
      <p:sp>
        <p:nvSpPr>
          <p:cNvPr id="93" name="Google Shape;93;p14"/>
          <p:cNvSpPr txBox="1"/>
          <p:nvPr>
            <p:ph idx="1" type="body"/>
          </p:nvPr>
        </p:nvSpPr>
        <p:spPr>
          <a:xfrm>
            <a:off x="780200" y="1297375"/>
            <a:ext cx="7688700" cy="3236400"/>
          </a:xfrm>
          <a:prstGeom prst="rect">
            <a:avLst/>
          </a:prstGeom>
        </p:spPr>
        <p:txBody>
          <a:bodyPr anchorCtr="0" anchor="t" bIns="91425" lIns="91425" spcFirstLastPara="1" rIns="91425" wrap="square" tIns="91425">
            <a:normAutofit fontScale="77500" lnSpcReduction="20000"/>
          </a:bodyPr>
          <a:lstStyle/>
          <a:p>
            <a:pPr indent="-331946" lvl="0" marL="457200" rtl="0" algn="l">
              <a:spcBef>
                <a:spcPts val="0"/>
              </a:spcBef>
              <a:spcAft>
                <a:spcPts val="0"/>
              </a:spcAft>
              <a:buSzPct val="100000"/>
              <a:buAutoNum type="arabicPeriod"/>
            </a:pPr>
            <a:r>
              <a:rPr b="1" lang="es" sz="2100"/>
              <a:t>Funciones de coste.</a:t>
            </a:r>
            <a:endParaRPr b="1" sz="2100"/>
          </a:p>
          <a:p>
            <a:pPr indent="-331946" lvl="0" marL="457200" rtl="0" algn="l">
              <a:spcBef>
                <a:spcPts val="0"/>
              </a:spcBef>
              <a:spcAft>
                <a:spcPts val="0"/>
              </a:spcAft>
              <a:buSzPct val="100000"/>
              <a:buAutoNum type="arabicPeriod"/>
            </a:pPr>
            <a:r>
              <a:rPr b="1" lang="es" sz="2100"/>
              <a:t>Entrenamiento con gradient descent.</a:t>
            </a:r>
            <a:endParaRPr b="1" sz="2100"/>
          </a:p>
          <a:p>
            <a:pPr indent="-331946" lvl="0" marL="457200" rtl="0" algn="l">
              <a:spcBef>
                <a:spcPts val="0"/>
              </a:spcBef>
              <a:spcAft>
                <a:spcPts val="0"/>
              </a:spcAft>
              <a:buSzPct val="100000"/>
              <a:buAutoNum type="arabicPeriod"/>
            </a:pPr>
            <a:r>
              <a:rPr b="1" lang="es" sz="2100"/>
              <a:t>Stochastic Gradient Descent (SGD).</a:t>
            </a:r>
            <a:endParaRPr b="1" sz="2100"/>
          </a:p>
          <a:p>
            <a:pPr indent="-331946" lvl="0" marL="457200" rtl="0" algn="l">
              <a:spcBef>
                <a:spcPts val="0"/>
              </a:spcBef>
              <a:spcAft>
                <a:spcPts val="0"/>
              </a:spcAft>
              <a:buSzPct val="100000"/>
              <a:buAutoNum type="arabicPeriod"/>
            </a:pPr>
            <a:r>
              <a:rPr b="1" lang="es" sz="2100"/>
              <a:t>Laboratorio 1.</a:t>
            </a:r>
            <a:endParaRPr b="1" sz="2100"/>
          </a:p>
          <a:p>
            <a:pPr indent="-331946" lvl="0" marL="457200" rtl="0" algn="l">
              <a:spcBef>
                <a:spcPts val="0"/>
              </a:spcBef>
              <a:spcAft>
                <a:spcPts val="0"/>
              </a:spcAft>
              <a:buSzPct val="100000"/>
              <a:buAutoNum type="arabicPeriod"/>
            </a:pPr>
            <a:r>
              <a:rPr b="1" lang="es" sz="2100"/>
              <a:t>Backpropagation.</a:t>
            </a:r>
            <a:endParaRPr b="1" sz="2100"/>
          </a:p>
          <a:p>
            <a:pPr indent="-331946" lvl="0" marL="457200" rtl="0" algn="l">
              <a:spcBef>
                <a:spcPts val="0"/>
              </a:spcBef>
              <a:spcAft>
                <a:spcPts val="0"/>
              </a:spcAft>
              <a:buSzPct val="100000"/>
              <a:buAutoNum type="arabicPeriod"/>
            </a:pPr>
            <a:r>
              <a:rPr b="1" lang="es" sz="2100"/>
              <a:t>Ejercicios regla cadena.</a:t>
            </a:r>
            <a:endParaRPr b="1" sz="2100"/>
          </a:p>
          <a:p>
            <a:pPr indent="-331946" lvl="0" marL="457200" rtl="0" algn="l">
              <a:spcBef>
                <a:spcPts val="0"/>
              </a:spcBef>
              <a:spcAft>
                <a:spcPts val="0"/>
              </a:spcAft>
              <a:buSzPct val="100000"/>
              <a:buAutoNum type="arabicPeriod"/>
            </a:pPr>
            <a:r>
              <a:rPr lang="es" sz="2100"/>
              <a:t>Unidades de activación.</a:t>
            </a:r>
            <a:endParaRPr sz="2100"/>
          </a:p>
          <a:p>
            <a:pPr indent="-331946" lvl="0" marL="457200" rtl="0" algn="l">
              <a:spcBef>
                <a:spcPts val="0"/>
              </a:spcBef>
              <a:spcAft>
                <a:spcPts val="0"/>
              </a:spcAft>
              <a:buSzPct val="100000"/>
              <a:buAutoNum type="arabicPeriod"/>
            </a:pPr>
            <a:r>
              <a:rPr lang="es" sz="2100"/>
              <a:t>Inicialización de parámetros.</a:t>
            </a:r>
            <a:endParaRPr sz="2100"/>
          </a:p>
          <a:p>
            <a:pPr indent="-331946" lvl="0" marL="457200" rtl="0" algn="l">
              <a:spcBef>
                <a:spcPts val="0"/>
              </a:spcBef>
              <a:spcAft>
                <a:spcPts val="0"/>
              </a:spcAft>
              <a:buSzPct val="100000"/>
              <a:buAutoNum type="arabicPeriod"/>
            </a:pPr>
            <a:r>
              <a:rPr lang="es" sz="2100"/>
              <a:t>Batch normalization.</a:t>
            </a:r>
            <a:endParaRPr sz="2100"/>
          </a:p>
          <a:p>
            <a:pPr indent="-331946" lvl="0" marL="457200" rtl="0" algn="l">
              <a:spcBef>
                <a:spcPts val="0"/>
              </a:spcBef>
              <a:spcAft>
                <a:spcPts val="0"/>
              </a:spcAft>
              <a:buSzPct val="100000"/>
              <a:buAutoNum type="arabicPeriod"/>
            </a:pPr>
            <a:r>
              <a:rPr lang="es" sz="2100"/>
              <a:t>Optimización avanzada.</a:t>
            </a:r>
            <a:endParaRPr sz="2100"/>
          </a:p>
          <a:p>
            <a:pPr indent="-331946" lvl="0" marL="457200" rtl="0" algn="l">
              <a:spcBef>
                <a:spcPts val="0"/>
              </a:spcBef>
              <a:spcAft>
                <a:spcPts val="0"/>
              </a:spcAft>
              <a:buSzPct val="100000"/>
              <a:buAutoNum type="arabicPeriod"/>
            </a:pPr>
            <a:r>
              <a:rPr lang="es" sz="2100"/>
              <a:t>Regularización.</a:t>
            </a:r>
            <a:endParaRPr sz="2100"/>
          </a:p>
          <a:p>
            <a:pPr indent="-331946" lvl="0" marL="457200" rtl="0" algn="l">
              <a:spcBef>
                <a:spcPts val="0"/>
              </a:spcBef>
              <a:spcAft>
                <a:spcPts val="0"/>
              </a:spcAft>
              <a:buSzPct val="100000"/>
              <a:buAutoNum type="arabicPeriod"/>
            </a:pPr>
            <a:r>
              <a:rPr lang="es" sz="2100"/>
              <a:t>Laboratorio 2.</a:t>
            </a:r>
            <a:endParaRPr sz="21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5"/>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377190" lvl="0" marL="457200" rtl="0" algn="l">
              <a:spcBef>
                <a:spcPts val="0"/>
              </a:spcBef>
              <a:spcAft>
                <a:spcPts val="0"/>
              </a:spcAft>
              <a:buSzPct val="123809"/>
              <a:buAutoNum type="arabicPeriod"/>
            </a:pPr>
            <a:r>
              <a:rPr lang="es"/>
              <a:t>Funciones de coste:</a:t>
            </a:r>
            <a:endParaRPr b="0" sz="2100">
              <a:solidFill>
                <a:schemeClr val="accent1"/>
              </a:solidFill>
              <a:latin typeface="Lato"/>
              <a:ea typeface="Lato"/>
              <a:cs typeface="Lato"/>
              <a:sym typeface="Lato"/>
            </a:endParaRPr>
          </a:p>
          <a:p>
            <a:pPr indent="0" lvl="0" marL="0" rtl="0" algn="l">
              <a:spcBef>
                <a:spcPts val="0"/>
              </a:spcBef>
              <a:spcAft>
                <a:spcPts val="0"/>
              </a:spcAft>
              <a:buNone/>
            </a:pPr>
            <a:r>
              <a:t/>
            </a:r>
            <a:endParaRPr/>
          </a:p>
        </p:txBody>
      </p:sp>
      <p:sp>
        <p:nvSpPr>
          <p:cNvPr id="99" name="Google Shape;99;p1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pic>
        <p:nvPicPr>
          <p:cNvPr id="100" name="Google Shape;100;p15"/>
          <p:cNvPicPr preferRelativeResize="0"/>
          <p:nvPr/>
        </p:nvPicPr>
        <p:blipFill>
          <a:blip r:embed="rId3">
            <a:alphaModFix/>
          </a:blip>
          <a:stretch>
            <a:fillRect/>
          </a:stretch>
        </p:blipFill>
        <p:spPr>
          <a:xfrm>
            <a:off x="5278675" y="1609675"/>
            <a:ext cx="3482126" cy="2199550"/>
          </a:xfrm>
          <a:prstGeom prst="rect">
            <a:avLst/>
          </a:prstGeom>
          <a:noFill/>
          <a:ln>
            <a:noFill/>
          </a:ln>
        </p:spPr>
      </p:pic>
      <p:pic>
        <p:nvPicPr>
          <p:cNvPr id="101" name="Google Shape;101;p15"/>
          <p:cNvPicPr preferRelativeResize="0"/>
          <p:nvPr/>
        </p:nvPicPr>
        <p:blipFill>
          <a:blip r:embed="rId4">
            <a:alphaModFix/>
          </a:blip>
          <a:stretch>
            <a:fillRect/>
          </a:stretch>
        </p:blipFill>
        <p:spPr>
          <a:xfrm>
            <a:off x="165876" y="1609675"/>
            <a:ext cx="4875024" cy="258819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6"/>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377190" lvl="0" marL="457200" rtl="0" algn="l">
              <a:spcBef>
                <a:spcPts val="0"/>
              </a:spcBef>
              <a:spcAft>
                <a:spcPts val="0"/>
              </a:spcAft>
              <a:buSzPct val="123809"/>
              <a:buAutoNum type="arabicPeriod"/>
            </a:pPr>
            <a:r>
              <a:rPr lang="es"/>
              <a:t>Funciones de coste:</a:t>
            </a:r>
            <a:endParaRPr b="0" sz="2100">
              <a:solidFill>
                <a:schemeClr val="accent1"/>
              </a:solidFill>
              <a:latin typeface="Lato"/>
              <a:ea typeface="Lato"/>
              <a:cs typeface="Lato"/>
              <a:sym typeface="Lato"/>
            </a:endParaRPr>
          </a:p>
          <a:p>
            <a:pPr indent="0" lvl="0" marL="0" rtl="0" algn="l">
              <a:spcBef>
                <a:spcPts val="0"/>
              </a:spcBef>
              <a:spcAft>
                <a:spcPts val="0"/>
              </a:spcAft>
              <a:buNone/>
            </a:pPr>
            <a:r>
              <a:t/>
            </a:r>
            <a:endParaRPr/>
          </a:p>
        </p:txBody>
      </p:sp>
      <p:sp>
        <p:nvSpPr>
          <p:cNvPr id="107" name="Google Shape;107;p1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108" name="Google Shape;108;p16"/>
          <p:cNvSpPr txBox="1"/>
          <p:nvPr/>
        </p:nvSpPr>
        <p:spPr>
          <a:xfrm>
            <a:off x="347550" y="1353550"/>
            <a:ext cx="8295900" cy="2115000"/>
          </a:xfrm>
          <a:prstGeom prst="rect">
            <a:avLst/>
          </a:prstGeom>
          <a:noFill/>
          <a:ln>
            <a:noFill/>
          </a:ln>
        </p:spPr>
        <p:txBody>
          <a:bodyPr anchorCtr="0" anchor="t" bIns="91425" lIns="91425" spcFirstLastPara="1" rIns="91425" wrap="square" tIns="91425">
            <a:spAutoFit/>
          </a:bodyPr>
          <a:lstStyle/>
          <a:p>
            <a:pPr indent="-368300" lvl="0" marL="457200" rtl="0" algn="just">
              <a:lnSpc>
                <a:spcPct val="95000"/>
              </a:lnSpc>
              <a:spcBef>
                <a:spcPts val="0"/>
              </a:spcBef>
              <a:spcAft>
                <a:spcPts val="0"/>
              </a:spcAft>
              <a:buSzPts val="2200"/>
              <a:buChar char="●"/>
            </a:pPr>
            <a:r>
              <a:rPr lang="es" sz="2200"/>
              <a:t>Vamos a ver un ejemplo de red neuronal que sirve para clasificar dígitos manuscritos.</a:t>
            </a:r>
            <a:endParaRPr sz="2200"/>
          </a:p>
          <a:p>
            <a:pPr indent="-368300" lvl="0" marL="457200" rtl="0" algn="just">
              <a:lnSpc>
                <a:spcPct val="95000"/>
              </a:lnSpc>
              <a:spcBef>
                <a:spcPts val="0"/>
              </a:spcBef>
              <a:spcAft>
                <a:spcPts val="0"/>
              </a:spcAft>
              <a:buSzPts val="2200"/>
              <a:buChar char="●"/>
            </a:pPr>
            <a:r>
              <a:rPr lang="es" sz="2200"/>
              <a:t>Para ello, utilizaremos el dataset MNIST, una especie de “Hello world” del aprendizaje automático.</a:t>
            </a:r>
            <a:endParaRPr sz="2200"/>
          </a:p>
          <a:p>
            <a:pPr indent="-368300" lvl="0" marL="457200" rtl="0" algn="just">
              <a:lnSpc>
                <a:spcPct val="95000"/>
              </a:lnSpc>
              <a:spcBef>
                <a:spcPts val="0"/>
              </a:spcBef>
              <a:spcAft>
                <a:spcPts val="0"/>
              </a:spcAft>
              <a:buSzPts val="2200"/>
              <a:buChar char="●"/>
            </a:pPr>
            <a:r>
              <a:rPr lang="es" sz="2200"/>
              <a:t>MNIST es un dataset que contiene números manuscritos del 0 al 9.</a:t>
            </a:r>
            <a:endParaRPr sz="2200"/>
          </a:p>
        </p:txBody>
      </p:sp>
      <p:pic>
        <p:nvPicPr>
          <p:cNvPr id="109" name="Google Shape;109;p16"/>
          <p:cNvPicPr preferRelativeResize="0"/>
          <p:nvPr/>
        </p:nvPicPr>
        <p:blipFill>
          <a:blip r:embed="rId3">
            <a:alphaModFix/>
          </a:blip>
          <a:stretch>
            <a:fillRect/>
          </a:stretch>
        </p:blipFill>
        <p:spPr>
          <a:xfrm>
            <a:off x="2366230" y="3468550"/>
            <a:ext cx="5106270" cy="11062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7"/>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377190" lvl="0" marL="457200" rtl="0" algn="l">
              <a:spcBef>
                <a:spcPts val="0"/>
              </a:spcBef>
              <a:spcAft>
                <a:spcPts val="0"/>
              </a:spcAft>
              <a:buSzPct val="123809"/>
              <a:buAutoNum type="arabicPeriod"/>
            </a:pPr>
            <a:r>
              <a:rPr lang="es"/>
              <a:t>Funciones de coste:</a:t>
            </a:r>
            <a:endParaRPr b="0" sz="2100">
              <a:solidFill>
                <a:schemeClr val="accent1"/>
              </a:solidFill>
              <a:latin typeface="Lato"/>
              <a:ea typeface="Lato"/>
              <a:cs typeface="Lato"/>
              <a:sym typeface="Lato"/>
            </a:endParaRPr>
          </a:p>
          <a:p>
            <a:pPr indent="0" lvl="0" marL="0" rtl="0" algn="l">
              <a:spcBef>
                <a:spcPts val="0"/>
              </a:spcBef>
              <a:spcAft>
                <a:spcPts val="0"/>
              </a:spcAft>
              <a:buNone/>
            </a:pPr>
            <a:r>
              <a:t/>
            </a:r>
            <a:endParaRPr/>
          </a:p>
        </p:txBody>
      </p:sp>
      <p:sp>
        <p:nvSpPr>
          <p:cNvPr id="115" name="Google Shape;115;p1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116" name="Google Shape;116;p17"/>
          <p:cNvSpPr txBox="1"/>
          <p:nvPr/>
        </p:nvSpPr>
        <p:spPr>
          <a:xfrm>
            <a:off x="347550" y="1353550"/>
            <a:ext cx="8295900" cy="1471500"/>
          </a:xfrm>
          <a:prstGeom prst="rect">
            <a:avLst/>
          </a:prstGeom>
          <a:noFill/>
          <a:ln>
            <a:noFill/>
          </a:ln>
        </p:spPr>
        <p:txBody>
          <a:bodyPr anchorCtr="0" anchor="t" bIns="91425" lIns="91425" spcFirstLastPara="1" rIns="91425" wrap="square" tIns="91425">
            <a:spAutoFit/>
          </a:bodyPr>
          <a:lstStyle/>
          <a:p>
            <a:pPr indent="-368300" lvl="0" marL="457200" rtl="0" algn="just">
              <a:lnSpc>
                <a:spcPct val="95000"/>
              </a:lnSpc>
              <a:spcBef>
                <a:spcPts val="0"/>
              </a:spcBef>
              <a:spcAft>
                <a:spcPts val="0"/>
              </a:spcAft>
              <a:buSzPts val="2200"/>
              <a:buChar char="●"/>
            </a:pPr>
            <a:r>
              <a:rPr lang="es" sz="2200"/>
              <a:t>El tamaño del dataset es de 60.000 elementos de training data y 10.000 elementos de test data.</a:t>
            </a:r>
            <a:endParaRPr sz="2200"/>
          </a:p>
          <a:p>
            <a:pPr indent="-368300" lvl="0" marL="457200" rtl="0" algn="just">
              <a:lnSpc>
                <a:spcPct val="95000"/>
              </a:lnSpc>
              <a:spcBef>
                <a:spcPts val="0"/>
              </a:spcBef>
              <a:spcAft>
                <a:spcPts val="0"/>
              </a:spcAft>
              <a:buSzPts val="2200"/>
              <a:buChar char="●"/>
            </a:pPr>
            <a:r>
              <a:rPr lang="es" sz="2200"/>
              <a:t>Tenemos por tanto un problema de clasificación con 10 clases: los números del 0 al 9.</a:t>
            </a:r>
            <a:endParaRPr sz="22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8"/>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377190" lvl="0" marL="457200" rtl="0" algn="l">
              <a:spcBef>
                <a:spcPts val="0"/>
              </a:spcBef>
              <a:spcAft>
                <a:spcPts val="0"/>
              </a:spcAft>
              <a:buSzPct val="123809"/>
              <a:buAutoNum type="arabicPeriod"/>
            </a:pPr>
            <a:r>
              <a:rPr lang="es"/>
              <a:t>Funciones de coste:</a:t>
            </a:r>
            <a:endParaRPr b="0" sz="2100">
              <a:solidFill>
                <a:schemeClr val="accent1"/>
              </a:solidFill>
              <a:latin typeface="Lato"/>
              <a:ea typeface="Lato"/>
              <a:cs typeface="Lato"/>
              <a:sym typeface="Lato"/>
            </a:endParaRPr>
          </a:p>
          <a:p>
            <a:pPr indent="0" lvl="0" marL="0" rtl="0" algn="l">
              <a:spcBef>
                <a:spcPts val="0"/>
              </a:spcBef>
              <a:spcAft>
                <a:spcPts val="0"/>
              </a:spcAft>
              <a:buNone/>
            </a:pPr>
            <a:r>
              <a:t/>
            </a:r>
            <a:endParaRPr/>
          </a:p>
        </p:txBody>
      </p:sp>
      <p:sp>
        <p:nvSpPr>
          <p:cNvPr id="122" name="Google Shape;122;p1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pic>
        <p:nvPicPr>
          <p:cNvPr id="123" name="Google Shape;123;p18"/>
          <p:cNvPicPr preferRelativeResize="0"/>
          <p:nvPr/>
        </p:nvPicPr>
        <p:blipFill>
          <a:blip r:embed="rId3">
            <a:alphaModFix/>
          </a:blip>
          <a:stretch>
            <a:fillRect/>
          </a:stretch>
        </p:blipFill>
        <p:spPr>
          <a:xfrm>
            <a:off x="2156600" y="1100950"/>
            <a:ext cx="5045676" cy="38846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9"/>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377190" lvl="0" marL="457200" rtl="0" algn="l">
              <a:spcBef>
                <a:spcPts val="0"/>
              </a:spcBef>
              <a:spcAft>
                <a:spcPts val="0"/>
              </a:spcAft>
              <a:buSzPct val="123809"/>
              <a:buAutoNum type="arabicPeriod"/>
            </a:pPr>
            <a:r>
              <a:rPr lang="es"/>
              <a:t>Funciones de coste:</a:t>
            </a:r>
            <a:endParaRPr b="0" sz="2100">
              <a:solidFill>
                <a:schemeClr val="accent1"/>
              </a:solidFill>
              <a:latin typeface="Lato"/>
              <a:ea typeface="Lato"/>
              <a:cs typeface="Lato"/>
              <a:sym typeface="Lato"/>
            </a:endParaRPr>
          </a:p>
          <a:p>
            <a:pPr indent="0" lvl="0" marL="0" rtl="0" algn="l">
              <a:spcBef>
                <a:spcPts val="0"/>
              </a:spcBef>
              <a:spcAft>
                <a:spcPts val="0"/>
              </a:spcAft>
              <a:buNone/>
            </a:pPr>
            <a:r>
              <a:t/>
            </a:r>
            <a:endParaRPr/>
          </a:p>
        </p:txBody>
      </p:sp>
      <p:sp>
        <p:nvSpPr>
          <p:cNvPr id="129" name="Google Shape;129;p1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130" name="Google Shape;130;p19"/>
          <p:cNvSpPr txBox="1"/>
          <p:nvPr/>
        </p:nvSpPr>
        <p:spPr>
          <a:xfrm>
            <a:off x="347550" y="1353550"/>
            <a:ext cx="8295900" cy="3066000"/>
          </a:xfrm>
          <a:prstGeom prst="rect">
            <a:avLst/>
          </a:prstGeom>
          <a:noFill/>
          <a:ln>
            <a:noFill/>
          </a:ln>
        </p:spPr>
        <p:txBody>
          <a:bodyPr anchorCtr="0" anchor="t" bIns="91425" lIns="91425" spcFirstLastPara="1" rIns="91425" wrap="square" tIns="91425">
            <a:spAutoFit/>
          </a:bodyPr>
          <a:lstStyle/>
          <a:p>
            <a:pPr indent="0" lvl="0" marL="0" rtl="0" algn="just">
              <a:lnSpc>
                <a:spcPct val="95000"/>
              </a:lnSpc>
              <a:spcBef>
                <a:spcPts val="0"/>
              </a:spcBef>
              <a:spcAft>
                <a:spcPts val="0"/>
              </a:spcAft>
              <a:buNone/>
            </a:pPr>
            <a:r>
              <a:rPr b="1" lang="es" sz="2200"/>
              <a:t>Input layer: </a:t>
            </a:r>
            <a:endParaRPr b="1" sz="2200"/>
          </a:p>
          <a:p>
            <a:pPr indent="-368300" lvl="0" marL="457200" rtl="0" algn="just">
              <a:lnSpc>
                <a:spcPct val="95000"/>
              </a:lnSpc>
              <a:spcBef>
                <a:spcPts val="1200"/>
              </a:spcBef>
              <a:spcAft>
                <a:spcPts val="0"/>
              </a:spcAft>
              <a:buSzPts val="2200"/>
              <a:buChar char="●"/>
            </a:pPr>
            <a:r>
              <a:rPr lang="es" sz="2200"/>
              <a:t>Las imágenes están compuestas por píxeles en blanco y negro de tamaño 28x28.</a:t>
            </a:r>
            <a:endParaRPr sz="2200"/>
          </a:p>
          <a:p>
            <a:pPr indent="-368300" lvl="0" marL="457200" rtl="0" algn="just">
              <a:lnSpc>
                <a:spcPct val="95000"/>
              </a:lnSpc>
              <a:spcBef>
                <a:spcPts val="0"/>
              </a:spcBef>
              <a:spcAft>
                <a:spcPts val="0"/>
              </a:spcAft>
              <a:buSzPts val="2200"/>
              <a:buChar char="●"/>
            </a:pPr>
            <a:r>
              <a:rPr lang="es" sz="2200"/>
              <a:t>Necesitamos un vector para la entrada de nuestra red, por tanto concatenamos todos los píxeles en una fila de 784 elementos. Cada neurona representa el valor de un píxel, con un valor entre 0 y 1 según la oscuridad del píxel.</a:t>
            </a:r>
            <a:endParaRPr sz="2200"/>
          </a:p>
          <a:p>
            <a:pPr indent="0" lvl="0" marL="0" rtl="0" algn="just">
              <a:lnSpc>
                <a:spcPct val="95000"/>
              </a:lnSpc>
              <a:spcBef>
                <a:spcPts val="1200"/>
              </a:spcBef>
              <a:spcAft>
                <a:spcPts val="1200"/>
              </a:spcAft>
              <a:buNone/>
            </a:pPr>
            <a:r>
              <a:t/>
            </a:r>
            <a:endParaRPr sz="22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0"/>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377190" lvl="0" marL="457200" rtl="0" algn="l">
              <a:spcBef>
                <a:spcPts val="0"/>
              </a:spcBef>
              <a:spcAft>
                <a:spcPts val="0"/>
              </a:spcAft>
              <a:buSzPct val="123809"/>
              <a:buAutoNum type="arabicPeriod"/>
            </a:pPr>
            <a:r>
              <a:rPr lang="es"/>
              <a:t>Funciones de coste:</a:t>
            </a:r>
            <a:endParaRPr b="0" sz="2100">
              <a:solidFill>
                <a:schemeClr val="accent1"/>
              </a:solidFill>
              <a:latin typeface="Lato"/>
              <a:ea typeface="Lato"/>
              <a:cs typeface="Lato"/>
              <a:sym typeface="Lato"/>
            </a:endParaRPr>
          </a:p>
          <a:p>
            <a:pPr indent="0" lvl="0" marL="0" rtl="0" algn="l">
              <a:spcBef>
                <a:spcPts val="0"/>
              </a:spcBef>
              <a:spcAft>
                <a:spcPts val="0"/>
              </a:spcAft>
              <a:buNone/>
            </a:pPr>
            <a:r>
              <a:t/>
            </a:r>
            <a:endParaRPr/>
          </a:p>
        </p:txBody>
      </p:sp>
      <p:sp>
        <p:nvSpPr>
          <p:cNvPr id="136" name="Google Shape;136;p2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137" name="Google Shape;137;p20"/>
          <p:cNvSpPr txBox="1"/>
          <p:nvPr/>
        </p:nvSpPr>
        <p:spPr>
          <a:xfrm>
            <a:off x="347550" y="1353550"/>
            <a:ext cx="8295900" cy="2100900"/>
          </a:xfrm>
          <a:prstGeom prst="rect">
            <a:avLst/>
          </a:prstGeom>
          <a:noFill/>
          <a:ln>
            <a:noFill/>
          </a:ln>
        </p:spPr>
        <p:txBody>
          <a:bodyPr anchorCtr="0" anchor="t" bIns="91425" lIns="91425" spcFirstLastPara="1" rIns="91425" wrap="square" tIns="91425">
            <a:spAutoFit/>
          </a:bodyPr>
          <a:lstStyle/>
          <a:p>
            <a:pPr indent="0" lvl="0" marL="0" rtl="0" algn="just">
              <a:lnSpc>
                <a:spcPct val="95000"/>
              </a:lnSpc>
              <a:spcBef>
                <a:spcPts val="0"/>
              </a:spcBef>
              <a:spcAft>
                <a:spcPts val="0"/>
              </a:spcAft>
              <a:buNone/>
            </a:pPr>
            <a:r>
              <a:rPr b="1" lang="es" sz="2200"/>
              <a:t>Hidden </a:t>
            </a:r>
            <a:r>
              <a:rPr b="1" lang="es" sz="2200"/>
              <a:t>layer: </a:t>
            </a:r>
            <a:endParaRPr b="1" sz="2200"/>
          </a:p>
          <a:p>
            <a:pPr indent="-368300" lvl="0" marL="457200" rtl="0" algn="just">
              <a:lnSpc>
                <a:spcPct val="95000"/>
              </a:lnSpc>
              <a:spcBef>
                <a:spcPts val="1200"/>
              </a:spcBef>
              <a:spcAft>
                <a:spcPts val="0"/>
              </a:spcAft>
              <a:buSzPts val="2200"/>
              <a:buChar char="●"/>
            </a:pPr>
            <a:r>
              <a:rPr lang="es" sz="2200"/>
              <a:t>Utilizaremos una única hidden layer (el problema es relativamente fácil) con 15 neuronas. Se puede experimentar con el número de hidden layers y de neuronas.</a:t>
            </a:r>
            <a:endParaRPr sz="2200"/>
          </a:p>
          <a:p>
            <a:pPr indent="0" lvl="0" marL="0" rtl="0" algn="just">
              <a:lnSpc>
                <a:spcPct val="95000"/>
              </a:lnSpc>
              <a:spcBef>
                <a:spcPts val="1200"/>
              </a:spcBef>
              <a:spcAft>
                <a:spcPts val="1200"/>
              </a:spcAft>
              <a:buNone/>
            </a:pPr>
            <a:r>
              <a:t/>
            </a:r>
            <a:endParaRPr sz="22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1"/>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377190" lvl="0" marL="457200" rtl="0" algn="l">
              <a:spcBef>
                <a:spcPts val="0"/>
              </a:spcBef>
              <a:spcAft>
                <a:spcPts val="0"/>
              </a:spcAft>
              <a:buSzPct val="123809"/>
              <a:buAutoNum type="arabicPeriod"/>
            </a:pPr>
            <a:r>
              <a:rPr lang="es"/>
              <a:t>Funciones de coste:</a:t>
            </a:r>
            <a:endParaRPr b="0" sz="2100">
              <a:solidFill>
                <a:schemeClr val="accent1"/>
              </a:solidFill>
              <a:latin typeface="Lato"/>
              <a:ea typeface="Lato"/>
              <a:cs typeface="Lato"/>
              <a:sym typeface="Lato"/>
            </a:endParaRPr>
          </a:p>
          <a:p>
            <a:pPr indent="0" lvl="0" marL="0" rtl="0" algn="l">
              <a:spcBef>
                <a:spcPts val="0"/>
              </a:spcBef>
              <a:spcAft>
                <a:spcPts val="0"/>
              </a:spcAft>
              <a:buNone/>
            </a:pPr>
            <a:r>
              <a:t/>
            </a:r>
            <a:endParaRPr/>
          </a:p>
        </p:txBody>
      </p:sp>
      <p:sp>
        <p:nvSpPr>
          <p:cNvPr id="143" name="Google Shape;143;p2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144" name="Google Shape;144;p21"/>
          <p:cNvSpPr txBox="1"/>
          <p:nvPr/>
        </p:nvSpPr>
        <p:spPr>
          <a:xfrm>
            <a:off x="347550" y="1353550"/>
            <a:ext cx="8295900" cy="2422800"/>
          </a:xfrm>
          <a:prstGeom prst="rect">
            <a:avLst/>
          </a:prstGeom>
          <a:noFill/>
          <a:ln>
            <a:noFill/>
          </a:ln>
        </p:spPr>
        <p:txBody>
          <a:bodyPr anchorCtr="0" anchor="t" bIns="91425" lIns="91425" spcFirstLastPara="1" rIns="91425" wrap="square" tIns="91425">
            <a:spAutoFit/>
          </a:bodyPr>
          <a:lstStyle/>
          <a:p>
            <a:pPr indent="0" lvl="0" marL="0" marR="0" rtl="0" algn="just">
              <a:lnSpc>
                <a:spcPct val="95000"/>
              </a:lnSpc>
              <a:spcBef>
                <a:spcPts val="0"/>
              </a:spcBef>
              <a:spcAft>
                <a:spcPts val="0"/>
              </a:spcAft>
              <a:buNone/>
            </a:pPr>
            <a:r>
              <a:rPr b="1" lang="es" sz="2200"/>
              <a:t>Output </a:t>
            </a:r>
            <a:r>
              <a:rPr b="1" lang="es" sz="2200"/>
              <a:t>layer: </a:t>
            </a:r>
            <a:endParaRPr b="1" sz="2200"/>
          </a:p>
          <a:p>
            <a:pPr indent="-368300" lvl="0" marL="457200" marR="0" rtl="0" algn="just">
              <a:lnSpc>
                <a:spcPct val="95000"/>
              </a:lnSpc>
              <a:spcBef>
                <a:spcPts val="1200"/>
              </a:spcBef>
              <a:spcAft>
                <a:spcPts val="0"/>
              </a:spcAft>
              <a:buSzPts val="2200"/>
              <a:buChar char="●"/>
            </a:pPr>
            <a:r>
              <a:rPr lang="es" sz="2200"/>
              <a:t>Tendremos 10 neuronas de salida, una por cada posible número a clasificar.</a:t>
            </a:r>
            <a:endParaRPr sz="2200"/>
          </a:p>
          <a:p>
            <a:pPr indent="-368300" lvl="0" marL="457200" marR="0" rtl="0" algn="just">
              <a:lnSpc>
                <a:spcPct val="95000"/>
              </a:lnSpc>
              <a:spcBef>
                <a:spcPts val="0"/>
              </a:spcBef>
              <a:spcAft>
                <a:spcPts val="0"/>
              </a:spcAft>
              <a:buSzPts val="2200"/>
              <a:buChar char="●"/>
            </a:pPr>
            <a:r>
              <a:rPr lang="es" sz="2200"/>
              <a:t>La neurona de esta capa que tenga la mayor activación de salida indicará el número resultante.</a:t>
            </a:r>
            <a:endParaRPr sz="2200"/>
          </a:p>
          <a:p>
            <a:pPr indent="0" lvl="0" marL="457200" marR="0" rtl="0" algn="just">
              <a:lnSpc>
                <a:spcPct val="95000"/>
              </a:lnSpc>
              <a:spcBef>
                <a:spcPts val="1200"/>
              </a:spcBef>
              <a:spcAft>
                <a:spcPts val="1200"/>
              </a:spcAft>
              <a:buNone/>
            </a:pPr>
            <a:r>
              <a:t/>
            </a:r>
            <a:endParaRPr sz="22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2"/>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377190" lvl="0" marL="457200" rtl="0" algn="l">
              <a:spcBef>
                <a:spcPts val="0"/>
              </a:spcBef>
              <a:spcAft>
                <a:spcPts val="0"/>
              </a:spcAft>
              <a:buSzPct val="123809"/>
              <a:buAutoNum type="arabicPeriod"/>
            </a:pPr>
            <a:r>
              <a:rPr lang="es"/>
              <a:t>Funciones de coste:</a:t>
            </a:r>
            <a:endParaRPr b="0" sz="2100">
              <a:solidFill>
                <a:schemeClr val="accent1"/>
              </a:solidFill>
              <a:latin typeface="Lato"/>
              <a:ea typeface="Lato"/>
              <a:cs typeface="Lato"/>
              <a:sym typeface="Lato"/>
            </a:endParaRPr>
          </a:p>
          <a:p>
            <a:pPr indent="0" lvl="0" marL="0" rtl="0" algn="l">
              <a:spcBef>
                <a:spcPts val="0"/>
              </a:spcBef>
              <a:spcAft>
                <a:spcPts val="0"/>
              </a:spcAft>
              <a:buNone/>
            </a:pPr>
            <a:r>
              <a:t/>
            </a:r>
            <a:endParaRPr/>
          </a:p>
        </p:txBody>
      </p:sp>
      <p:sp>
        <p:nvSpPr>
          <p:cNvPr id="150" name="Google Shape;150;p2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151" name="Google Shape;151;p22"/>
          <p:cNvSpPr txBox="1"/>
          <p:nvPr/>
        </p:nvSpPr>
        <p:spPr>
          <a:xfrm>
            <a:off x="347550" y="1353550"/>
            <a:ext cx="8295900" cy="3600900"/>
          </a:xfrm>
          <a:prstGeom prst="rect">
            <a:avLst/>
          </a:prstGeom>
          <a:noFill/>
          <a:ln>
            <a:noFill/>
          </a:ln>
        </p:spPr>
        <p:txBody>
          <a:bodyPr anchorCtr="0" anchor="t" bIns="91425" lIns="91425" spcFirstLastPara="1" rIns="91425" wrap="square" tIns="91425">
            <a:spAutoFit/>
          </a:bodyPr>
          <a:lstStyle/>
          <a:p>
            <a:pPr indent="0" lvl="0" marL="0" marR="0" rtl="0" algn="just">
              <a:lnSpc>
                <a:spcPct val="95000"/>
              </a:lnSpc>
              <a:spcBef>
                <a:spcPts val="0"/>
              </a:spcBef>
              <a:spcAft>
                <a:spcPts val="0"/>
              </a:spcAft>
              <a:buNone/>
            </a:pPr>
            <a:r>
              <a:rPr lang="es" sz="2200"/>
              <a:t>Vamos a intentar intuir que </a:t>
            </a:r>
            <a:r>
              <a:rPr lang="es" sz="2200"/>
              <a:t>está</a:t>
            </a:r>
            <a:r>
              <a:rPr lang="es" sz="2200"/>
              <a:t> pasando en la hidden layer:</a:t>
            </a:r>
            <a:endParaRPr sz="2200"/>
          </a:p>
          <a:p>
            <a:pPr indent="0" lvl="0" marL="0" marR="0" rtl="0" algn="just">
              <a:lnSpc>
                <a:spcPct val="95000"/>
              </a:lnSpc>
              <a:spcBef>
                <a:spcPts val="1200"/>
              </a:spcBef>
              <a:spcAft>
                <a:spcPts val="0"/>
              </a:spcAft>
              <a:buNone/>
            </a:pPr>
            <a:r>
              <a:t/>
            </a:r>
            <a:endParaRPr sz="2200"/>
          </a:p>
          <a:p>
            <a:pPr indent="-314325" lvl="0" marL="457200" marR="0" rtl="0" algn="just">
              <a:lnSpc>
                <a:spcPct val="95000"/>
              </a:lnSpc>
              <a:spcBef>
                <a:spcPts val="1200"/>
              </a:spcBef>
              <a:spcAft>
                <a:spcPts val="0"/>
              </a:spcAft>
              <a:buSzPts val="1350"/>
              <a:buChar char="●"/>
            </a:pPr>
            <a:r>
              <a:rPr lang="es" sz="2200"/>
              <a:t>Debería estar claro que al añadir más nodos a esta capa, estamos añadiendo más potencia a la red, ya que a partir de los píxeles de entrada obtenemos más representaciones intermedias.</a:t>
            </a:r>
            <a:endParaRPr sz="2200"/>
          </a:p>
          <a:p>
            <a:pPr indent="0" lvl="0" marL="0" marR="0" rtl="0" algn="just">
              <a:lnSpc>
                <a:spcPct val="95000"/>
              </a:lnSpc>
              <a:spcBef>
                <a:spcPts val="1200"/>
              </a:spcBef>
              <a:spcAft>
                <a:spcPts val="0"/>
              </a:spcAft>
              <a:buNone/>
            </a:pPr>
            <a:r>
              <a:t/>
            </a:r>
            <a:endParaRPr sz="1350"/>
          </a:p>
          <a:p>
            <a:pPr indent="0" lvl="0" marL="457200" marR="0" rtl="0" algn="just">
              <a:lnSpc>
                <a:spcPct val="95000"/>
              </a:lnSpc>
              <a:spcBef>
                <a:spcPts val="1200"/>
              </a:spcBef>
              <a:spcAft>
                <a:spcPts val="0"/>
              </a:spcAft>
              <a:buNone/>
            </a:pPr>
            <a:r>
              <a:t/>
            </a:r>
            <a:endParaRPr b="1" sz="1350"/>
          </a:p>
          <a:p>
            <a:pPr indent="0" lvl="0" marL="457200" marR="0" rtl="0" algn="just">
              <a:lnSpc>
                <a:spcPct val="95000"/>
              </a:lnSpc>
              <a:spcBef>
                <a:spcPts val="1200"/>
              </a:spcBef>
              <a:spcAft>
                <a:spcPts val="1200"/>
              </a:spcAft>
              <a:buNone/>
            </a:pPr>
            <a:r>
              <a:t/>
            </a:r>
            <a:endParaRPr sz="22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3"/>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377190" lvl="0" marL="457200" rtl="0" algn="l">
              <a:spcBef>
                <a:spcPts val="0"/>
              </a:spcBef>
              <a:spcAft>
                <a:spcPts val="0"/>
              </a:spcAft>
              <a:buSzPct val="123809"/>
              <a:buAutoNum type="arabicPeriod"/>
            </a:pPr>
            <a:r>
              <a:rPr lang="es"/>
              <a:t>Funciones de coste:</a:t>
            </a:r>
            <a:endParaRPr b="0" sz="2100">
              <a:solidFill>
                <a:schemeClr val="accent1"/>
              </a:solidFill>
              <a:latin typeface="Lato"/>
              <a:ea typeface="Lato"/>
              <a:cs typeface="Lato"/>
              <a:sym typeface="Lato"/>
            </a:endParaRPr>
          </a:p>
          <a:p>
            <a:pPr indent="0" lvl="0" marL="0" rtl="0" algn="l">
              <a:spcBef>
                <a:spcPts val="0"/>
              </a:spcBef>
              <a:spcAft>
                <a:spcPts val="0"/>
              </a:spcAft>
              <a:buNone/>
            </a:pPr>
            <a:r>
              <a:t/>
            </a:r>
            <a:endParaRPr/>
          </a:p>
        </p:txBody>
      </p:sp>
      <p:sp>
        <p:nvSpPr>
          <p:cNvPr id="157" name="Google Shape;157;p2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158" name="Google Shape;158;p23"/>
          <p:cNvSpPr txBox="1"/>
          <p:nvPr/>
        </p:nvSpPr>
        <p:spPr>
          <a:xfrm>
            <a:off x="347550" y="1353550"/>
            <a:ext cx="8295900" cy="3293100"/>
          </a:xfrm>
          <a:prstGeom prst="rect">
            <a:avLst/>
          </a:prstGeom>
          <a:noFill/>
          <a:ln>
            <a:noFill/>
          </a:ln>
        </p:spPr>
        <p:txBody>
          <a:bodyPr anchorCtr="0" anchor="t" bIns="91425" lIns="91425" spcFirstLastPara="1" rIns="91425" wrap="square" tIns="91425">
            <a:spAutoFit/>
          </a:bodyPr>
          <a:lstStyle/>
          <a:p>
            <a:pPr indent="0" lvl="0" marL="0" marR="0" rtl="0" algn="just">
              <a:lnSpc>
                <a:spcPct val="95000"/>
              </a:lnSpc>
              <a:spcBef>
                <a:spcPts val="0"/>
              </a:spcBef>
              <a:spcAft>
                <a:spcPts val="0"/>
              </a:spcAft>
              <a:buNone/>
            </a:pPr>
            <a:r>
              <a:rPr lang="es" sz="2200"/>
              <a:t>En general, las representaciones intermedias que obtiene una red neuronal no son fáciles de entender y escapan a nuestra comprensión. Sin embargo, en este ejemplo, al ser sobre imágenes, se puede visualizar qué neuronas se activan al ver ciertos números, por lo que podemos deducir qué formas o features está aprendiendo a reconocer la red.</a:t>
            </a:r>
            <a:endParaRPr sz="2200"/>
          </a:p>
          <a:p>
            <a:pPr indent="0" lvl="0" marL="0" marR="0" rtl="0" algn="just">
              <a:lnSpc>
                <a:spcPct val="95000"/>
              </a:lnSpc>
              <a:spcBef>
                <a:spcPts val="1200"/>
              </a:spcBef>
              <a:spcAft>
                <a:spcPts val="0"/>
              </a:spcAft>
              <a:buNone/>
            </a:pPr>
            <a:r>
              <a:t/>
            </a:r>
            <a:endParaRPr sz="1350"/>
          </a:p>
          <a:p>
            <a:pPr indent="0" lvl="0" marL="457200" marR="0" rtl="0" algn="just">
              <a:lnSpc>
                <a:spcPct val="95000"/>
              </a:lnSpc>
              <a:spcBef>
                <a:spcPts val="1200"/>
              </a:spcBef>
              <a:spcAft>
                <a:spcPts val="0"/>
              </a:spcAft>
              <a:buNone/>
            </a:pPr>
            <a:r>
              <a:t/>
            </a:r>
            <a:endParaRPr b="1" sz="1350"/>
          </a:p>
          <a:p>
            <a:pPr indent="0" lvl="0" marL="457200" marR="0" rtl="0" algn="just">
              <a:lnSpc>
                <a:spcPct val="95000"/>
              </a:lnSpc>
              <a:spcBef>
                <a:spcPts val="1200"/>
              </a:spcBef>
              <a:spcAft>
                <a:spcPts val="1200"/>
              </a:spcAft>
              <a:buNone/>
            </a:pPr>
            <a:r>
              <a:t/>
            </a:r>
            <a:endParaRPr sz="22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4"/>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377190" lvl="0" marL="457200" rtl="0" algn="l">
              <a:spcBef>
                <a:spcPts val="0"/>
              </a:spcBef>
              <a:spcAft>
                <a:spcPts val="0"/>
              </a:spcAft>
              <a:buSzPct val="123809"/>
              <a:buAutoNum type="arabicPeriod"/>
            </a:pPr>
            <a:r>
              <a:rPr lang="es"/>
              <a:t>Funciones de coste:</a:t>
            </a:r>
            <a:endParaRPr b="0" sz="2100">
              <a:solidFill>
                <a:schemeClr val="accent1"/>
              </a:solidFill>
              <a:latin typeface="Lato"/>
              <a:ea typeface="Lato"/>
              <a:cs typeface="Lato"/>
              <a:sym typeface="Lato"/>
            </a:endParaRPr>
          </a:p>
          <a:p>
            <a:pPr indent="0" lvl="0" marL="0" rtl="0" algn="l">
              <a:spcBef>
                <a:spcPts val="0"/>
              </a:spcBef>
              <a:spcAft>
                <a:spcPts val="0"/>
              </a:spcAft>
              <a:buNone/>
            </a:pPr>
            <a:r>
              <a:t/>
            </a:r>
            <a:endParaRPr/>
          </a:p>
        </p:txBody>
      </p:sp>
      <p:sp>
        <p:nvSpPr>
          <p:cNvPr id="164" name="Google Shape;164;p2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165" name="Google Shape;165;p24"/>
          <p:cNvSpPr txBox="1"/>
          <p:nvPr/>
        </p:nvSpPr>
        <p:spPr>
          <a:xfrm>
            <a:off x="347550" y="1353550"/>
            <a:ext cx="8295900" cy="3587100"/>
          </a:xfrm>
          <a:prstGeom prst="rect">
            <a:avLst/>
          </a:prstGeom>
          <a:noFill/>
          <a:ln>
            <a:noFill/>
          </a:ln>
        </p:spPr>
        <p:txBody>
          <a:bodyPr anchorCtr="0" anchor="t" bIns="91425" lIns="91425" spcFirstLastPara="1" rIns="91425" wrap="square" tIns="91425">
            <a:spAutoFit/>
          </a:bodyPr>
          <a:lstStyle/>
          <a:p>
            <a:pPr indent="0" lvl="0" marL="0" marR="0" rtl="0" algn="just">
              <a:lnSpc>
                <a:spcPct val="95000"/>
              </a:lnSpc>
              <a:spcBef>
                <a:spcPts val="0"/>
              </a:spcBef>
              <a:spcAft>
                <a:spcPts val="0"/>
              </a:spcAft>
              <a:buNone/>
            </a:pPr>
            <a:r>
              <a:rPr lang="es" sz="2200"/>
              <a:t>Ejemplo de representación de una imagen en la hidden layer.</a:t>
            </a:r>
            <a:endParaRPr sz="2200"/>
          </a:p>
          <a:p>
            <a:pPr indent="0" lvl="0" marL="0" marR="0" rtl="0" algn="just">
              <a:lnSpc>
                <a:spcPct val="95000"/>
              </a:lnSpc>
              <a:spcBef>
                <a:spcPts val="1200"/>
              </a:spcBef>
              <a:spcAft>
                <a:spcPts val="0"/>
              </a:spcAft>
              <a:buNone/>
            </a:pPr>
            <a:r>
              <a:t/>
            </a:r>
            <a:endParaRPr sz="2200"/>
          </a:p>
          <a:p>
            <a:pPr indent="0" lvl="0" marL="0" marR="0" rtl="0" algn="just">
              <a:lnSpc>
                <a:spcPct val="95000"/>
              </a:lnSpc>
              <a:spcBef>
                <a:spcPts val="1200"/>
              </a:spcBef>
              <a:spcAft>
                <a:spcPts val="0"/>
              </a:spcAft>
              <a:buNone/>
            </a:pPr>
            <a:r>
              <a:t/>
            </a:r>
            <a:endParaRPr sz="2200"/>
          </a:p>
          <a:p>
            <a:pPr indent="0" lvl="0" marL="0" marR="0" rtl="0" algn="just">
              <a:lnSpc>
                <a:spcPct val="95000"/>
              </a:lnSpc>
              <a:spcBef>
                <a:spcPts val="1200"/>
              </a:spcBef>
              <a:spcAft>
                <a:spcPts val="0"/>
              </a:spcAft>
              <a:buNone/>
            </a:pPr>
            <a:r>
              <a:t/>
            </a:r>
            <a:endParaRPr sz="2200"/>
          </a:p>
          <a:p>
            <a:pPr indent="0" lvl="0" marL="0" marR="0" rtl="0" algn="just">
              <a:lnSpc>
                <a:spcPct val="95000"/>
              </a:lnSpc>
              <a:spcBef>
                <a:spcPts val="1200"/>
              </a:spcBef>
              <a:spcAft>
                <a:spcPts val="0"/>
              </a:spcAft>
              <a:buNone/>
            </a:pPr>
            <a:r>
              <a:t/>
            </a:r>
            <a:endParaRPr sz="2200"/>
          </a:p>
          <a:p>
            <a:pPr indent="0" lvl="0" marL="0" marR="0" rtl="0" algn="just">
              <a:lnSpc>
                <a:spcPct val="95000"/>
              </a:lnSpc>
              <a:spcBef>
                <a:spcPts val="1200"/>
              </a:spcBef>
              <a:spcAft>
                <a:spcPts val="0"/>
              </a:spcAft>
              <a:buNone/>
            </a:pPr>
            <a:r>
              <a:t/>
            </a:r>
            <a:endParaRPr sz="1350"/>
          </a:p>
          <a:p>
            <a:pPr indent="0" lvl="0" marL="457200" marR="0" rtl="0" algn="just">
              <a:lnSpc>
                <a:spcPct val="95000"/>
              </a:lnSpc>
              <a:spcBef>
                <a:spcPts val="1200"/>
              </a:spcBef>
              <a:spcAft>
                <a:spcPts val="0"/>
              </a:spcAft>
              <a:buNone/>
            </a:pPr>
            <a:r>
              <a:t/>
            </a:r>
            <a:endParaRPr b="1" sz="1350"/>
          </a:p>
          <a:p>
            <a:pPr indent="0" lvl="0" marL="457200" marR="0" rtl="0" algn="just">
              <a:lnSpc>
                <a:spcPct val="95000"/>
              </a:lnSpc>
              <a:spcBef>
                <a:spcPts val="1200"/>
              </a:spcBef>
              <a:spcAft>
                <a:spcPts val="1200"/>
              </a:spcAft>
              <a:buNone/>
            </a:pPr>
            <a:r>
              <a:t/>
            </a:r>
            <a:endParaRPr sz="2200"/>
          </a:p>
        </p:txBody>
      </p:sp>
      <p:pic>
        <p:nvPicPr>
          <p:cNvPr id="166" name="Google Shape;166;p24"/>
          <p:cNvPicPr preferRelativeResize="0"/>
          <p:nvPr/>
        </p:nvPicPr>
        <p:blipFill>
          <a:blip r:embed="rId3">
            <a:alphaModFix/>
          </a:blip>
          <a:stretch>
            <a:fillRect/>
          </a:stretch>
        </p:blipFill>
        <p:spPr>
          <a:xfrm>
            <a:off x="2006488" y="2094450"/>
            <a:ext cx="4333875" cy="1524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5"/>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377190" lvl="0" marL="457200" rtl="0" algn="l">
              <a:spcBef>
                <a:spcPts val="0"/>
              </a:spcBef>
              <a:spcAft>
                <a:spcPts val="0"/>
              </a:spcAft>
              <a:buSzPct val="123809"/>
              <a:buAutoNum type="arabicPeriod"/>
            </a:pPr>
            <a:r>
              <a:rPr lang="es"/>
              <a:t>Funciones de coste:</a:t>
            </a:r>
            <a:endParaRPr b="0" sz="2100">
              <a:solidFill>
                <a:schemeClr val="accent1"/>
              </a:solidFill>
              <a:latin typeface="Lato"/>
              <a:ea typeface="Lato"/>
              <a:cs typeface="Lato"/>
              <a:sym typeface="Lato"/>
            </a:endParaRPr>
          </a:p>
          <a:p>
            <a:pPr indent="0" lvl="0" marL="0" rtl="0" algn="l">
              <a:spcBef>
                <a:spcPts val="0"/>
              </a:spcBef>
              <a:spcAft>
                <a:spcPts val="0"/>
              </a:spcAft>
              <a:buNone/>
            </a:pPr>
            <a:r>
              <a:t/>
            </a:r>
            <a:endParaRPr/>
          </a:p>
        </p:txBody>
      </p:sp>
      <p:sp>
        <p:nvSpPr>
          <p:cNvPr id="172" name="Google Shape;172;p2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173" name="Google Shape;173;p25"/>
          <p:cNvSpPr txBox="1"/>
          <p:nvPr/>
        </p:nvSpPr>
        <p:spPr>
          <a:xfrm>
            <a:off x="347550" y="1353550"/>
            <a:ext cx="8295900" cy="3095700"/>
          </a:xfrm>
          <a:prstGeom prst="rect">
            <a:avLst/>
          </a:prstGeom>
          <a:noFill/>
          <a:ln>
            <a:noFill/>
          </a:ln>
        </p:spPr>
        <p:txBody>
          <a:bodyPr anchorCtr="0" anchor="t" bIns="91425" lIns="91425" spcFirstLastPara="1" rIns="91425" wrap="square" tIns="91425">
            <a:spAutoFit/>
          </a:bodyPr>
          <a:lstStyle/>
          <a:p>
            <a:pPr indent="0" lvl="0" marL="0" marR="0" rtl="0" algn="just">
              <a:lnSpc>
                <a:spcPct val="95000"/>
              </a:lnSpc>
              <a:spcBef>
                <a:spcPts val="0"/>
              </a:spcBef>
              <a:spcAft>
                <a:spcPts val="0"/>
              </a:spcAft>
              <a:buNone/>
            </a:pPr>
            <a:r>
              <a:rPr lang="es" sz="2200"/>
              <a:t>¿Cuántas neuronas necesitamos en la hidden layer?</a:t>
            </a:r>
            <a:endParaRPr sz="1350"/>
          </a:p>
          <a:p>
            <a:pPr indent="0" lvl="0" marL="0" marR="0" rtl="0" algn="just">
              <a:lnSpc>
                <a:spcPct val="95000"/>
              </a:lnSpc>
              <a:spcBef>
                <a:spcPts val="1200"/>
              </a:spcBef>
              <a:spcAft>
                <a:spcPts val="0"/>
              </a:spcAft>
              <a:buNone/>
            </a:pPr>
            <a:r>
              <a:t/>
            </a:r>
            <a:endParaRPr sz="1350"/>
          </a:p>
          <a:p>
            <a:pPr indent="-314325" lvl="0" marL="457200" marR="0" rtl="0" algn="just">
              <a:lnSpc>
                <a:spcPct val="95000"/>
              </a:lnSpc>
              <a:spcBef>
                <a:spcPts val="1200"/>
              </a:spcBef>
              <a:spcAft>
                <a:spcPts val="0"/>
              </a:spcAft>
              <a:buSzPts val="1350"/>
              <a:buChar char="●"/>
            </a:pPr>
            <a:r>
              <a:rPr lang="es" sz="2200"/>
              <a:t>Este número es un </a:t>
            </a:r>
            <a:r>
              <a:rPr b="1" lang="es" sz="2200"/>
              <a:t>hiperparámetro </a:t>
            </a:r>
            <a:r>
              <a:rPr lang="es" sz="2200"/>
              <a:t>de la red y somos libres para elegirlo.</a:t>
            </a:r>
            <a:endParaRPr sz="2200"/>
          </a:p>
          <a:p>
            <a:pPr indent="-317500" lvl="0" marL="457200" marR="0" rtl="0" algn="just">
              <a:lnSpc>
                <a:spcPct val="95000"/>
              </a:lnSpc>
              <a:spcBef>
                <a:spcPts val="0"/>
              </a:spcBef>
              <a:spcAft>
                <a:spcPts val="0"/>
              </a:spcAft>
              <a:buSzPts val="1400"/>
              <a:buChar char="●"/>
            </a:pPr>
            <a:r>
              <a:rPr lang="es" sz="2200"/>
              <a:t>No hay una fórmula exacta. Normalmente se determina de manera empírica mediante una búsqueda de </a:t>
            </a:r>
            <a:r>
              <a:rPr b="1" lang="es" sz="2200"/>
              <a:t>hiperparámetro</a:t>
            </a:r>
            <a:endParaRPr b="1" sz="1350"/>
          </a:p>
          <a:p>
            <a:pPr indent="0" lvl="0" marL="457200" marR="0" rtl="0" algn="just">
              <a:lnSpc>
                <a:spcPct val="95000"/>
              </a:lnSpc>
              <a:spcBef>
                <a:spcPts val="1200"/>
              </a:spcBef>
              <a:spcAft>
                <a:spcPts val="1200"/>
              </a:spcAft>
              <a:buNone/>
            </a:pPr>
            <a:r>
              <a:t/>
            </a:r>
            <a:endParaRPr sz="22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6"/>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377190" lvl="0" marL="457200" rtl="0" algn="l">
              <a:spcBef>
                <a:spcPts val="0"/>
              </a:spcBef>
              <a:spcAft>
                <a:spcPts val="0"/>
              </a:spcAft>
              <a:buSzPct val="123809"/>
              <a:buAutoNum type="arabicPeriod"/>
            </a:pPr>
            <a:r>
              <a:rPr lang="es"/>
              <a:t>Funciones de coste:</a:t>
            </a:r>
            <a:endParaRPr b="0" sz="2100">
              <a:solidFill>
                <a:schemeClr val="accent1"/>
              </a:solidFill>
              <a:latin typeface="Lato"/>
              <a:ea typeface="Lato"/>
              <a:cs typeface="Lato"/>
              <a:sym typeface="Lato"/>
            </a:endParaRPr>
          </a:p>
          <a:p>
            <a:pPr indent="0" lvl="0" marL="0" rtl="0" algn="l">
              <a:spcBef>
                <a:spcPts val="0"/>
              </a:spcBef>
              <a:spcAft>
                <a:spcPts val="0"/>
              </a:spcAft>
              <a:buNone/>
            </a:pPr>
            <a:r>
              <a:t/>
            </a:r>
            <a:endParaRPr/>
          </a:p>
        </p:txBody>
      </p:sp>
      <p:sp>
        <p:nvSpPr>
          <p:cNvPr id="179" name="Google Shape;179;p2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180" name="Google Shape;180;p26"/>
          <p:cNvSpPr txBox="1"/>
          <p:nvPr/>
        </p:nvSpPr>
        <p:spPr>
          <a:xfrm>
            <a:off x="727650" y="1353550"/>
            <a:ext cx="7915800" cy="2898300"/>
          </a:xfrm>
          <a:prstGeom prst="rect">
            <a:avLst/>
          </a:prstGeom>
          <a:noFill/>
          <a:ln>
            <a:noFill/>
          </a:ln>
        </p:spPr>
        <p:txBody>
          <a:bodyPr anchorCtr="0" anchor="t" bIns="91425" lIns="91425" spcFirstLastPara="1" rIns="91425" wrap="square" tIns="91425">
            <a:spAutoFit/>
          </a:bodyPr>
          <a:lstStyle/>
          <a:p>
            <a:pPr indent="0" lvl="0" marL="0" marR="0" rtl="0" algn="just">
              <a:lnSpc>
                <a:spcPct val="95000"/>
              </a:lnSpc>
              <a:spcBef>
                <a:spcPts val="0"/>
              </a:spcBef>
              <a:spcAft>
                <a:spcPts val="0"/>
              </a:spcAft>
              <a:buNone/>
            </a:pPr>
            <a:r>
              <a:rPr b="1" lang="es" sz="2200"/>
              <a:t>x:</a:t>
            </a:r>
            <a:r>
              <a:rPr lang="es" sz="2200"/>
              <a:t> input o training example (en nuestro caso, vector de 784 píxeles).</a:t>
            </a:r>
            <a:endParaRPr sz="2200"/>
          </a:p>
          <a:p>
            <a:pPr indent="0" lvl="0" marL="0" marR="0" rtl="0" algn="just">
              <a:lnSpc>
                <a:spcPct val="95000"/>
              </a:lnSpc>
              <a:spcBef>
                <a:spcPts val="1200"/>
              </a:spcBef>
              <a:spcAft>
                <a:spcPts val="0"/>
              </a:spcAft>
              <a:buNone/>
            </a:pPr>
            <a:r>
              <a:rPr b="1" lang="es" sz="2200"/>
              <a:t>y(x): </a:t>
            </a:r>
            <a:r>
              <a:rPr lang="es" sz="2200"/>
              <a:t>valor deseado de salida de la red, representado como vector de 10 componentes.</a:t>
            </a:r>
            <a:endParaRPr sz="2200"/>
          </a:p>
          <a:p>
            <a:pPr indent="0" lvl="0" marL="457200" marR="0" rtl="0" algn="just">
              <a:lnSpc>
                <a:spcPct val="95000"/>
              </a:lnSpc>
              <a:spcBef>
                <a:spcPts val="1200"/>
              </a:spcBef>
              <a:spcAft>
                <a:spcPts val="0"/>
              </a:spcAft>
              <a:buNone/>
            </a:pPr>
            <a:r>
              <a:rPr lang="es" sz="2200"/>
              <a:t>Ej: y(x) = (0, 0, 0, 1, 0, 0, 0, 0, 0, 0) representa la salida deseada de una imagen que es un 3.</a:t>
            </a:r>
            <a:endParaRPr sz="2200"/>
          </a:p>
          <a:p>
            <a:pPr indent="0" lvl="0" marL="457200" marR="0" rtl="0" algn="just">
              <a:lnSpc>
                <a:spcPct val="95000"/>
              </a:lnSpc>
              <a:spcBef>
                <a:spcPts val="1200"/>
              </a:spcBef>
              <a:spcAft>
                <a:spcPts val="1200"/>
              </a:spcAft>
              <a:buNone/>
            </a:pPr>
            <a:r>
              <a:t/>
            </a:r>
            <a:endParaRPr sz="22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7"/>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377190" lvl="0" marL="457200" rtl="0" algn="l">
              <a:spcBef>
                <a:spcPts val="0"/>
              </a:spcBef>
              <a:spcAft>
                <a:spcPts val="0"/>
              </a:spcAft>
              <a:buSzPct val="123809"/>
              <a:buAutoNum type="arabicPeriod"/>
            </a:pPr>
            <a:r>
              <a:rPr lang="es"/>
              <a:t>Funciones de coste:</a:t>
            </a:r>
            <a:endParaRPr b="0" sz="2100">
              <a:solidFill>
                <a:schemeClr val="accent1"/>
              </a:solidFill>
              <a:latin typeface="Lato"/>
              <a:ea typeface="Lato"/>
              <a:cs typeface="Lato"/>
              <a:sym typeface="Lato"/>
            </a:endParaRPr>
          </a:p>
          <a:p>
            <a:pPr indent="0" lvl="0" marL="0" rtl="0" algn="l">
              <a:spcBef>
                <a:spcPts val="0"/>
              </a:spcBef>
              <a:spcAft>
                <a:spcPts val="0"/>
              </a:spcAft>
              <a:buNone/>
            </a:pPr>
            <a:r>
              <a:t/>
            </a:r>
            <a:endParaRPr/>
          </a:p>
        </p:txBody>
      </p:sp>
      <p:sp>
        <p:nvSpPr>
          <p:cNvPr id="186" name="Google Shape;186;p2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187" name="Google Shape;187;p27"/>
          <p:cNvSpPr txBox="1"/>
          <p:nvPr/>
        </p:nvSpPr>
        <p:spPr>
          <a:xfrm>
            <a:off x="347550" y="1353550"/>
            <a:ext cx="8295900" cy="2744400"/>
          </a:xfrm>
          <a:prstGeom prst="rect">
            <a:avLst/>
          </a:prstGeom>
          <a:noFill/>
          <a:ln>
            <a:noFill/>
          </a:ln>
        </p:spPr>
        <p:txBody>
          <a:bodyPr anchorCtr="0" anchor="t" bIns="91425" lIns="91425" spcFirstLastPara="1" rIns="91425" wrap="square" tIns="91425">
            <a:spAutoFit/>
          </a:bodyPr>
          <a:lstStyle/>
          <a:p>
            <a:pPr indent="0" lvl="0" marL="457200" marR="0" rtl="0" algn="just">
              <a:lnSpc>
                <a:spcPct val="95000"/>
              </a:lnSpc>
              <a:spcBef>
                <a:spcPts val="0"/>
              </a:spcBef>
              <a:spcAft>
                <a:spcPts val="0"/>
              </a:spcAft>
              <a:buNone/>
            </a:pPr>
            <a:r>
              <a:rPr b="1" lang="es" sz="2200"/>
              <a:t>y(x)</a:t>
            </a:r>
            <a:r>
              <a:rPr lang="es" sz="2200"/>
              <a:t> es la función que queremos aprender. Es una función que asocia a cada imagen en forma de píxeles el número correspondiente, en forma de un vector de 10 elementos.</a:t>
            </a:r>
            <a:endParaRPr sz="2200"/>
          </a:p>
          <a:p>
            <a:pPr indent="0" lvl="0" marL="457200" marR="0" rtl="0" algn="just">
              <a:lnSpc>
                <a:spcPct val="95000"/>
              </a:lnSpc>
              <a:spcBef>
                <a:spcPts val="1200"/>
              </a:spcBef>
              <a:spcAft>
                <a:spcPts val="0"/>
              </a:spcAft>
              <a:buNone/>
            </a:pPr>
            <a:r>
              <a:rPr lang="es" sz="2200"/>
              <a:t>La red neuronal también es una función, dependiente de los parámetros </a:t>
            </a:r>
            <a:r>
              <a:rPr b="1" lang="es" sz="2200"/>
              <a:t>w y b</a:t>
            </a:r>
            <a:r>
              <a:rPr lang="es" sz="2200"/>
              <a:t> y de la imagen x. Definiremos esta función como </a:t>
            </a:r>
            <a:r>
              <a:rPr b="1" lang="es" sz="2200"/>
              <a:t>a(x, w, b) </a:t>
            </a:r>
            <a:r>
              <a:rPr lang="es" sz="2200"/>
              <a:t>o como a para simplificar.</a:t>
            </a:r>
            <a:endParaRPr sz="2200"/>
          </a:p>
          <a:p>
            <a:pPr indent="0" lvl="0" marL="457200" marR="0" rtl="0" algn="just">
              <a:lnSpc>
                <a:spcPct val="95000"/>
              </a:lnSpc>
              <a:spcBef>
                <a:spcPts val="1200"/>
              </a:spcBef>
              <a:spcAft>
                <a:spcPts val="1200"/>
              </a:spcAft>
              <a:buNone/>
            </a:pPr>
            <a:r>
              <a:t/>
            </a:r>
            <a:endParaRPr sz="22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8"/>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377190" lvl="0" marL="457200" rtl="0" algn="l">
              <a:spcBef>
                <a:spcPts val="0"/>
              </a:spcBef>
              <a:spcAft>
                <a:spcPts val="0"/>
              </a:spcAft>
              <a:buSzPct val="123809"/>
              <a:buAutoNum type="arabicPeriod"/>
            </a:pPr>
            <a:r>
              <a:rPr lang="es"/>
              <a:t>Funciones de coste:</a:t>
            </a:r>
            <a:endParaRPr b="0" sz="2100">
              <a:solidFill>
                <a:schemeClr val="accent1"/>
              </a:solidFill>
              <a:latin typeface="Lato"/>
              <a:ea typeface="Lato"/>
              <a:cs typeface="Lato"/>
              <a:sym typeface="Lato"/>
            </a:endParaRPr>
          </a:p>
          <a:p>
            <a:pPr indent="0" lvl="0" marL="0" rtl="0" algn="l">
              <a:spcBef>
                <a:spcPts val="0"/>
              </a:spcBef>
              <a:spcAft>
                <a:spcPts val="0"/>
              </a:spcAft>
              <a:buNone/>
            </a:pPr>
            <a:r>
              <a:t/>
            </a:r>
            <a:endParaRPr/>
          </a:p>
        </p:txBody>
      </p:sp>
      <p:sp>
        <p:nvSpPr>
          <p:cNvPr id="193" name="Google Shape;193;p2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194" name="Google Shape;194;p28"/>
          <p:cNvSpPr txBox="1"/>
          <p:nvPr/>
        </p:nvSpPr>
        <p:spPr>
          <a:xfrm>
            <a:off x="347550" y="1353550"/>
            <a:ext cx="8295900" cy="2422800"/>
          </a:xfrm>
          <a:prstGeom prst="rect">
            <a:avLst/>
          </a:prstGeom>
          <a:noFill/>
          <a:ln>
            <a:noFill/>
          </a:ln>
        </p:spPr>
        <p:txBody>
          <a:bodyPr anchorCtr="0" anchor="t" bIns="91425" lIns="91425" spcFirstLastPara="1" rIns="91425" wrap="square" tIns="91425">
            <a:spAutoFit/>
          </a:bodyPr>
          <a:lstStyle/>
          <a:p>
            <a:pPr indent="0" lvl="0" marL="0" marR="0" rtl="0" algn="just">
              <a:lnSpc>
                <a:spcPct val="95000"/>
              </a:lnSpc>
              <a:spcBef>
                <a:spcPts val="0"/>
              </a:spcBef>
              <a:spcAft>
                <a:spcPts val="0"/>
              </a:spcAft>
              <a:buNone/>
            </a:pPr>
            <a:r>
              <a:rPr b="1" lang="es" sz="2200"/>
              <a:t>Objetivo:</a:t>
            </a:r>
            <a:r>
              <a:rPr lang="es" sz="2200"/>
              <a:t> Obtener (“aprender”) los parámetros </a:t>
            </a:r>
            <a:r>
              <a:rPr b="1" lang="es" sz="2200"/>
              <a:t>w </a:t>
            </a:r>
            <a:r>
              <a:rPr lang="es" sz="2200"/>
              <a:t>y </a:t>
            </a:r>
            <a:r>
              <a:rPr b="1" lang="es" sz="2200"/>
              <a:t>b </a:t>
            </a:r>
            <a:r>
              <a:rPr lang="es" sz="2200"/>
              <a:t>de la red neuronal que mejor aproximen la función </a:t>
            </a:r>
            <a:r>
              <a:rPr b="1" lang="es" sz="2200"/>
              <a:t>y(x)</a:t>
            </a:r>
            <a:r>
              <a:rPr lang="es" sz="2200"/>
              <a:t> para todos los valores </a:t>
            </a:r>
            <a:r>
              <a:rPr b="1" lang="es" sz="2200"/>
              <a:t>x</a:t>
            </a:r>
            <a:r>
              <a:rPr lang="es" sz="2200"/>
              <a:t>, esto es, para todos los training examples de nuestro dataset.</a:t>
            </a:r>
            <a:endParaRPr sz="2200"/>
          </a:p>
          <a:p>
            <a:pPr indent="0" lvl="0" marL="0" marR="0" rtl="0" algn="just">
              <a:lnSpc>
                <a:spcPct val="95000"/>
              </a:lnSpc>
              <a:spcBef>
                <a:spcPts val="1200"/>
              </a:spcBef>
              <a:spcAft>
                <a:spcPts val="0"/>
              </a:spcAft>
              <a:buNone/>
            </a:pPr>
            <a:r>
              <a:t/>
            </a:r>
            <a:endParaRPr b="1" sz="2200"/>
          </a:p>
          <a:p>
            <a:pPr indent="0" lvl="0" marL="457200" marR="0" rtl="0" algn="just">
              <a:lnSpc>
                <a:spcPct val="95000"/>
              </a:lnSpc>
              <a:spcBef>
                <a:spcPts val="1200"/>
              </a:spcBef>
              <a:spcAft>
                <a:spcPts val="1200"/>
              </a:spcAft>
              <a:buNone/>
            </a:pPr>
            <a:r>
              <a:t/>
            </a:r>
            <a:endParaRPr sz="22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9"/>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377190" lvl="0" marL="457200" rtl="0" algn="l">
              <a:spcBef>
                <a:spcPts val="0"/>
              </a:spcBef>
              <a:spcAft>
                <a:spcPts val="0"/>
              </a:spcAft>
              <a:buSzPct val="123809"/>
              <a:buAutoNum type="arabicPeriod"/>
            </a:pPr>
            <a:r>
              <a:rPr lang="es"/>
              <a:t>Funciones de coste:</a:t>
            </a:r>
            <a:endParaRPr b="0" sz="2100">
              <a:solidFill>
                <a:schemeClr val="accent1"/>
              </a:solidFill>
              <a:latin typeface="Lato"/>
              <a:ea typeface="Lato"/>
              <a:cs typeface="Lato"/>
              <a:sym typeface="Lato"/>
            </a:endParaRPr>
          </a:p>
          <a:p>
            <a:pPr indent="0" lvl="0" marL="0" rtl="0" algn="l">
              <a:spcBef>
                <a:spcPts val="0"/>
              </a:spcBef>
              <a:spcAft>
                <a:spcPts val="0"/>
              </a:spcAft>
              <a:buNone/>
            </a:pPr>
            <a:r>
              <a:t/>
            </a:r>
            <a:endParaRPr/>
          </a:p>
        </p:txBody>
      </p:sp>
      <p:sp>
        <p:nvSpPr>
          <p:cNvPr id="200" name="Google Shape;200;p2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201" name="Google Shape;201;p29"/>
          <p:cNvSpPr txBox="1"/>
          <p:nvPr/>
        </p:nvSpPr>
        <p:spPr>
          <a:xfrm>
            <a:off x="347550" y="1353550"/>
            <a:ext cx="8295900" cy="1625400"/>
          </a:xfrm>
          <a:prstGeom prst="rect">
            <a:avLst/>
          </a:prstGeom>
          <a:noFill/>
          <a:ln>
            <a:noFill/>
          </a:ln>
        </p:spPr>
        <p:txBody>
          <a:bodyPr anchorCtr="0" anchor="t" bIns="91425" lIns="91425" spcFirstLastPara="1" rIns="91425" wrap="square" tIns="91425">
            <a:spAutoFit/>
          </a:bodyPr>
          <a:lstStyle/>
          <a:p>
            <a:pPr indent="0" lvl="0" marL="0" marR="0" rtl="0" algn="just">
              <a:lnSpc>
                <a:spcPct val="95000"/>
              </a:lnSpc>
              <a:spcBef>
                <a:spcPts val="0"/>
              </a:spcBef>
              <a:spcAft>
                <a:spcPts val="0"/>
              </a:spcAft>
              <a:buNone/>
            </a:pPr>
            <a:r>
              <a:rPr lang="es" sz="2200"/>
              <a:t>Necesitamos cuantificar de algún modo cómo de buena es la aproximación de </a:t>
            </a:r>
            <a:r>
              <a:rPr b="1" lang="es" sz="2200"/>
              <a:t>a(x, w, b) </a:t>
            </a:r>
            <a:r>
              <a:rPr lang="es" sz="2200"/>
              <a:t>a </a:t>
            </a:r>
            <a:r>
              <a:rPr b="1" lang="es" sz="2200"/>
              <a:t>y(x).</a:t>
            </a:r>
            <a:r>
              <a:rPr lang="es" sz="2200"/>
              <a:t> Para ello definimos la función de coste o cost function</a:t>
            </a:r>
            <a:endParaRPr sz="2200"/>
          </a:p>
          <a:p>
            <a:pPr indent="0" lvl="0" marL="457200" marR="0" rtl="0" algn="just">
              <a:lnSpc>
                <a:spcPct val="95000"/>
              </a:lnSpc>
              <a:spcBef>
                <a:spcPts val="1200"/>
              </a:spcBef>
              <a:spcAft>
                <a:spcPts val="1200"/>
              </a:spcAft>
              <a:buNone/>
            </a:pPr>
            <a:r>
              <a:t/>
            </a:r>
            <a:endParaRPr sz="2200"/>
          </a:p>
        </p:txBody>
      </p:sp>
      <p:pic>
        <p:nvPicPr>
          <p:cNvPr id="202" name="Google Shape;202;p29"/>
          <p:cNvPicPr preferRelativeResize="0"/>
          <p:nvPr/>
        </p:nvPicPr>
        <p:blipFill>
          <a:blip r:embed="rId3">
            <a:alphaModFix/>
          </a:blip>
          <a:stretch>
            <a:fillRect/>
          </a:stretch>
        </p:blipFill>
        <p:spPr>
          <a:xfrm>
            <a:off x="1873925" y="2656875"/>
            <a:ext cx="5078575" cy="13326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0"/>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377190" lvl="0" marL="457200" rtl="0" algn="l">
              <a:spcBef>
                <a:spcPts val="0"/>
              </a:spcBef>
              <a:spcAft>
                <a:spcPts val="0"/>
              </a:spcAft>
              <a:buSzPct val="123809"/>
              <a:buAutoNum type="arabicPeriod"/>
            </a:pPr>
            <a:r>
              <a:rPr lang="es"/>
              <a:t>Funciones de coste:</a:t>
            </a:r>
            <a:endParaRPr b="0" sz="2100">
              <a:solidFill>
                <a:schemeClr val="accent1"/>
              </a:solidFill>
              <a:latin typeface="Lato"/>
              <a:ea typeface="Lato"/>
              <a:cs typeface="Lato"/>
              <a:sym typeface="Lato"/>
            </a:endParaRPr>
          </a:p>
          <a:p>
            <a:pPr indent="0" lvl="0" marL="0" rtl="0" algn="l">
              <a:spcBef>
                <a:spcPts val="0"/>
              </a:spcBef>
              <a:spcAft>
                <a:spcPts val="0"/>
              </a:spcAft>
              <a:buNone/>
            </a:pPr>
            <a:r>
              <a:t/>
            </a:r>
            <a:endParaRPr/>
          </a:p>
        </p:txBody>
      </p:sp>
      <p:sp>
        <p:nvSpPr>
          <p:cNvPr id="208" name="Google Shape;208;p3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209" name="Google Shape;209;p30"/>
          <p:cNvSpPr txBox="1"/>
          <p:nvPr/>
        </p:nvSpPr>
        <p:spPr>
          <a:xfrm>
            <a:off x="424063" y="2116225"/>
            <a:ext cx="8295900" cy="2744400"/>
          </a:xfrm>
          <a:prstGeom prst="rect">
            <a:avLst/>
          </a:prstGeom>
          <a:noFill/>
          <a:ln>
            <a:noFill/>
          </a:ln>
        </p:spPr>
        <p:txBody>
          <a:bodyPr anchorCtr="0" anchor="t" bIns="91425" lIns="91425" spcFirstLastPara="1" rIns="91425" wrap="square" tIns="91425">
            <a:spAutoFit/>
          </a:bodyPr>
          <a:lstStyle/>
          <a:p>
            <a:pPr indent="0" lvl="0" marL="0" marR="0" rtl="0" algn="just">
              <a:lnSpc>
                <a:spcPct val="95000"/>
              </a:lnSpc>
              <a:spcBef>
                <a:spcPts val="0"/>
              </a:spcBef>
              <a:spcAft>
                <a:spcPts val="0"/>
              </a:spcAft>
              <a:buNone/>
            </a:pPr>
            <a:r>
              <a:t/>
            </a:r>
            <a:endParaRPr sz="2200"/>
          </a:p>
          <a:p>
            <a:pPr indent="-368300" lvl="0" marL="457200" marR="0" rtl="0" algn="just">
              <a:lnSpc>
                <a:spcPct val="95000"/>
              </a:lnSpc>
              <a:spcBef>
                <a:spcPts val="1200"/>
              </a:spcBef>
              <a:spcAft>
                <a:spcPts val="0"/>
              </a:spcAft>
              <a:buSzPts val="2200"/>
              <a:buChar char="●"/>
            </a:pPr>
            <a:r>
              <a:rPr b="1" lang="es" sz="2200"/>
              <a:t>a </a:t>
            </a:r>
            <a:r>
              <a:rPr lang="es" sz="2200"/>
              <a:t>es la salida de la red para </a:t>
            </a:r>
            <a:r>
              <a:rPr b="1" lang="es" sz="2200"/>
              <a:t>a(x, w, b).</a:t>
            </a:r>
            <a:endParaRPr b="1" sz="2200"/>
          </a:p>
          <a:p>
            <a:pPr indent="-368300" lvl="0" marL="457200" marR="0" rtl="0" algn="just">
              <a:lnSpc>
                <a:spcPct val="95000"/>
              </a:lnSpc>
              <a:spcBef>
                <a:spcPts val="0"/>
              </a:spcBef>
              <a:spcAft>
                <a:spcPts val="0"/>
              </a:spcAft>
              <a:buSzPts val="2200"/>
              <a:buChar char="●"/>
            </a:pPr>
            <a:r>
              <a:rPr b="1" lang="es" sz="2200"/>
              <a:t>n </a:t>
            </a:r>
            <a:r>
              <a:rPr lang="es" sz="2200"/>
              <a:t>es el número de data points en nuestro dataset.</a:t>
            </a:r>
            <a:endParaRPr sz="2200"/>
          </a:p>
          <a:p>
            <a:pPr indent="-368300" lvl="0" marL="457200" marR="0" rtl="0" algn="just">
              <a:lnSpc>
                <a:spcPct val="95000"/>
              </a:lnSpc>
              <a:spcBef>
                <a:spcPts val="0"/>
              </a:spcBef>
              <a:spcAft>
                <a:spcPts val="0"/>
              </a:spcAft>
              <a:buSzPts val="2200"/>
              <a:buChar char="●"/>
            </a:pPr>
            <a:r>
              <a:rPr b="1" lang="es" sz="2200"/>
              <a:t>w y b </a:t>
            </a:r>
            <a:r>
              <a:rPr lang="es" sz="2200"/>
              <a:t>son los parámetros de la red neuronal.</a:t>
            </a:r>
            <a:endParaRPr sz="2200"/>
          </a:p>
          <a:p>
            <a:pPr indent="-368300" lvl="0" marL="457200" marR="0" rtl="0" algn="just">
              <a:lnSpc>
                <a:spcPct val="95000"/>
              </a:lnSpc>
              <a:spcBef>
                <a:spcPts val="0"/>
              </a:spcBef>
              <a:spcAft>
                <a:spcPts val="0"/>
              </a:spcAft>
              <a:buSzPts val="2200"/>
              <a:buChar char="●"/>
            </a:pPr>
            <a:r>
              <a:rPr lang="es" sz="2200"/>
              <a:t>El sumatorio sobre </a:t>
            </a:r>
            <a:r>
              <a:rPr b="1" lang="es" sz="2200"/>
              <a:t>x </a:t>
            </a:r>
            <a:r>
              <a:rPr lang="es" sz="2200"/>
              <a:t>es sobre todos los training examples de nuestro dataset.</a:t>
            </a:r>
            <a:endParaRPr sz="2200"/>
          </a:p>
          <a:p>
            <a:pPr indent="0" lvl="0" marL="457200" marR="0" rtl="0" algn="just">
              <a:lnSpc>
                <a:spcPct val="95000"/>
              </a:lnSpc>
              <a:spcBef>
                <a:spcPts val="1200"/>
              </a:spcBef>
              <a:spcAft>
                <a:spcPts val="1200"/>
              </a:spcAft>
              <a:buNone/>
            </a:pPr>
            <a:r>
              <a:t/>
            </a:r>
            <a:endParaRPr sz="2200"/>
          </a:p>
        </p:txBody>
      </p:sp>
      <p:pic>
        <p:nvPicPr>
          <p:cNvPr id="210" name="Google Shape;210;p30"/>
          <p:cNvPicPr preferRelativeResize="0"/>
          <p:nvPr/>
        </p:nvPicPr>
        <p:blipFill>
          <a:blip r:embed="rId3">
            <a:alphaModFix/>
          </a:blip>
          <a:stretch>
            <a:fillRect/>
          </a:stretch>
        </p:blipFill>
        <p:spPr>
          <a:xfrm>
            <a:off x="2032713" y="1011325"/>
            <a:ext cx="5078575" cy="13326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1"/>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377190" lvl="0" marL="457200" rtl="0" algn="l">
              <a:spcBef>
                <a:spcPts val="0"/>
              </a:spcBef>
              <a:spcAft>
                <a:spcPts val="0"/>
              </a:spcAft>
              <a:buSzPct val="123809"/>
              <a:buAutoNum type="arabicPeriod"/>
            </a:pPr>
            <a:r>
              <a:rPr lang="es"/>
              <a:t>Funciones de coste:</a:t>
            </a:r>
            <a:endParaRPr b="0" sz="2100">
              <a:solidFill>
                <a:schemeClr val="accent1"/>
              </a:solidFill>
              <a:latin typeface="Lato"/>
              <a:ea typeface="Lato"/>
              <a:cs typeface="Lato"/>
              <a:sym typeface="Lato"/>
            </a:endParaRPr>
          </a:p>
          <a:p>
            <a:pPr indent="0" lvl="0" marL="0" rtl="0" algn="l">
              <a:spcBef>
                <a:spcPts val="0"/>
              </a:spcBef>
              <a:spcAft>
                <a:spcPts val="0"/>
              </a:spcAft>
              <a:buNone/>
            </a:pPr>
            <a:r>
              <a:t/>
            </a:r>
            <a:endParaRPr/>
          </a:p>
        </p:txBody>
      </p:sp>
      <p:sp>
        <p:nvSpPr>
          <p:cNvPr id="216" name="Google Shape;216;p3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217" name="Google Shape;217;p31"/>
          <p:cNvSpPr txBox="1"/>
          <p:nvPr/>
        </p:nvSpPr>
        <p:spPr>
          <a:xfrm>
            <a:off x="424038" y="1508875"/>
            <a:ext cx="8295900" cy="2422800"/>
          </a:xfrm>
          <a:prstGeom prst="rect">
            <a:avLst/>
          </a:prstGeom>
          <a:noFill/>
          <a:ln>
            <a:noFill/>
          </a:ln>
        </p:spPr>
        <p:txBody>
          <a:bodyPr anchorCtr="0" anchor="t" bIns="91425" lIns="91425" spcFirstLastPara="1" rIns="91425" wrap="square" tIns="91425">
            <a:spAutoFit/>
          </a:bodyPr>
          <a:lstStyle/>
          <a:p>
            <a:pPr indent="0" lvl="0" marL="0" marR="0" rtl="0" algn="just">
              <a:lnSpc>
                <a:spcPct val="95000"/>
              </a:lnSpc>
              <a:spcBef>
                <a:spcPts val="0"/>
              </a:spcBef>
              <a:spcAft>
                <a:spcPts val="0"/>
              </a:spcAft>
              <a:buNone/>
            </a:pPr>
            <a:r>
              <a:rPr lang="es" sz="2200"/>
              <a:t>Estamos obteniendo el cuadrado de la distancia vectorial, un número siempre </a:t>
            </a:r>
            <a:r>
              <a:rPr b="1" lang="es" sz="2200"/>
              <a:t>positivo</a:t>
            </a:r>
            <a:r>
              <a:rPr lang="es" sz="2200"/>
              <a:t>, entre el </a:t>
            </a:r>
            <a:r>
              <a:rPr b="1" lang="es" sz="2200"/>
              <a:t>valor real de salida </a:t>
            </a:r>
            <a:r>
              <a:rPr lang="es" sz="2200"/>
              <a:t>y </a:t>
            </a:r>
            <a:r>
              <a:rPr b="1" lang="es" sz="2200"/>
              <a:t>la salida de nuestra red.</a:t>
            </a:r>
            <a:endParaRPr b="1" sz="2200"/>
          </a:p>
          <a:p>
            <a:pPr indent="0" lvl="0" marL="457200" marR="0" rtl="0" algn="just">
              <a:lnSpc>
                <a:spcPct val="95000"/>
              </a:lnSpc>
              <a:spcBef>
                <a:spcPts val="1200"/>
              </a:spcBef>
              <a:spcAft>
                <a:spcPts val="0"/>
              </a:spcAft>
              <a:buNone/>
            </a:pPr>
            <a:r>
              <a:t/>
            </a:r>
            <a:endParaRPr sz="2200"/>
          </a:p>
          <a:p>
            <a:pPr indent="-368300" lvl="0" marL="457200" marR="0" rtl="0" algn="just">
              <a:lnSpc>
                <a:spcPct val="95000"/>
              </a:lnSpc>
              <a:spcBef>
                <a:spcPts val="1200"/>
              </a:spcBef>
              <a:spcAft>
                <a:spcPts val="0"/>
              </a:spcAft>
              <a:buSzPts val="2200"/>
              <a:buChar char="●"/>
            </a:pPr>
            <a:r>
              <a:rPr lang="es" sz="2200"/>
              <a:t>¿ Qué es y(x) ?</a:t>
            </a:r>
            <a:endParaRPr sz="2200"/>
          </a:p>
          <a:p>
            <a:pPr indent="-368300" lvl="0" marL="457200" marR="0" rtl="0" algn="just">
              <a:lnSpc>
                <a:spcPct val="95000"/>
              </a:lnSpc>
              <a:spcBef>
                <a:spcPts val="0"/>
              </a:spcBef>
              <a:spcAft>
                <a:spcPts val="0"/>
              </a:spcAft>
              <a:buSzPts val="2200"/>
              <a:buChar char="●"/>
            </a:pPr>
            <a:r>
              <a:rPr lang="es" sz="2200"/>
              <a:t>¿ Qué es x ?</a:t>
            </a:r>
            <a:endParaRPr sz="22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2"/>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377190" lvl="0" marL="457200" rtl="0" algn="l">
              <a:spcBef>
                <a:spcPts val="0"/>
              </a:spcBef>
              <a:spcAft>
                <a:spcPts val="0"/>
              </a:spcAft>
              <a:buSzPct val="123809"/>
              <a:buAutoNum type="arabicPeriod"/>
            </a:pPr>
            <a:r>
              <a:rPr lang="es"/>
              <a:t>Funciones de coste:</a:t>
            </a:r>
            <a:endParaRPr b="0" sz="2100">
              <a:solidFill>
                <a:schemeClr val="accent1"/>
              </a:solidFill>
              <a:latin typeface="Lato"/>
              <a:ea typeface="Lato"/>
              <a:cs typeface="Lato"/>
              <a:sym typeface="Lato"/>
            </a:endParaRPr>
          </a:p>
          <a:p>
            <a:pPr indent="0" lvl="0" marL="0" rtl="0" algn="l">
              <a:spcBef>
                <a:spcPts val="0"/>
              </a:spcBef>
              <a:spcAft>
                <a:spcPts val="0"/>
              </a:spcAft>
              <a:buNone/>
            </a:pPr>
            <a:r>
              <a:t/>
            </a:r>
            <a:endParaRPr/>
          </a:p>
        </p:txBody>
      </p:sp>
      <p:sp>
        <p:nvSpPr>
          <p:cNvPr id="223" name="Google Shape;223;p3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224" name="Google Shape;224;p32"/>
          <p:cNvSpPr txBox="1"/>
          <p:nvPr/>
        </p:nvSpPr>
        <p:spPr>
          <a:xfrm>
            <a:off x="424038" y="1508875"/>
            <a:ext cx="8295900" cy="2884500"/>
          </a:xfrm>
          <a:prstGeom prst="rect">
            <a:avLst/>
          </a:prstGeom>
          <a:noFill/>
          <a:ln>
            <a:noFill/>
          </a:ln>
        </p:spPr>
        <p:txBody>
          <a:bodyPr anchorCtr="0" anchor="t" bIns="91425" lIns="91425" spcFirstLastPara="1" rIns="91425" wrap="square" tIns="91425">
            <a:spAutoFit/>
          </a:bodyPr>
          <a:lstStyle/>
          <a:p>
            <a:pPr indent="0" lvl="0" marL="0" marR="0" rtl="0" algn="just">
              <a:lnSpc>
                <a:spcPct val="95000"/>
              </a:lnSpc>
              <a:spcBef>
                <a:spcPts val="0"/>
              </a:spcBef>
              <a:spcAft>
                <a:spcPts val="0"/>
              </a:spcAft>
              <a:buNone/>
            </a:pPr>
            <a:r>
              <a:rPr lang="es" sz="2200"/>
              <a:t>Ejemplo</a:t>
            </a:r>
            <a:endParaRPr sz="2200"/>
          </a:p>
          <a:p>
            <a:pPr indent="0" lvl="0" marL="0" marR="0" rtl="0" algn="just">
              <a:lnSpc>
                <a:spcPct val="95000"/>
              </a:lnSpc>
              <a:spcBef>
                <a:spcPts val="1200"/>
              </a:spcBef>
              <a:spcAft>
                <a:spcPts val="0"/>
              </a:spcAft>
              <a:buNone/>
            </a:pPr>
            <a:r>
              <a:rPr lang="es" sz="2200"/>
              <a:t>a(x, w, b) = (0.9, 0.1, 0.1, 0.2, 0, 0, 0, 0, 0, 0)</a:t>
            </a:r>
            <a:endParaRPr sz="2200"/>
          </a:p>
          <a:p>
            <a:pPr indent="0" lvl="0" marL="0" marR="0" rtl="0" algn="just">
              <a:lnSpc>
                <a:spcPct val="95000"/>
              </a:lnSpc>
              <a:spcBef>
                <a:spcPts val="1200"/>
              </a:spcBef>
              <a:spcAft>
                <a:spcPts val="0"/>
              </a:spcAft>
              <a:buNone/>
            </a:pPr>
            <a:r>
              <a:rPr lang="es" sz="2200"/>
              <a:t>y(x) = (1, 0, 0, 0, 0, 0, 0, 0, 0, 0)</a:t>
            </a:r>
            <a:endParaRPr sz="2200"/>
          </a:p>
          <a:p>
            <a:pPr indent="0" lvl="0" marL="0" marR="0" rtl="0" algn="just">
              <a:lnSpc>
                <a:spcPct val="95000"/>
              </a:lnSpc>
              <a:spcBef>
                <a:spcPts val="1200"/>
              </a:spcBef>
              <a:spcAft>
                <a:spcPts val="0"/>
              </a:spcAft>
              <a:buNone/>
            </a:pPr>
            <a:r>
              <a:rPr lang="es" sz="2200"/>
              <a:t>■ Para este ejemplo, el error sería:</a:t>
            </a:r>
            <a:endParaRPr sz="2200"/>
          </a:p>
          <a:p>
            <a:pPr indent="0" lvl="0" marL="0" marR="0" rtl="0" algn="just">
              <a:lnSpc>
                <a:spcPct val="95000"/>
              </a:lnSpc>
              <a:spcBef>
                <a:spcPts val="1200"/>
              </a:spcBef>
              <a:spcAft>
                <a:spcPts val="0"/>
              </a:spcAft>
              <a:buNone/>
            </a:pPr>
            <a:r>
              <a:t/>
            </a:r>
            <a:endParaRPr sz="2200"/>
          </a:p>
          <a:p>
            <a:pPr indent="0" lvl="0" marL="0" marR="0" rtl="0" algn="just">
              <a:lnSpc>
                <a:spcPct val="95000"/>
              </a:lnSpc>
              <a:spcBef>
                <a:spcPts val="1200"/>
              </a:spcBef>
              <a:spcAft>
                <a:spcPts val="1200"/>
              </a:spcAft>
              <a:buNone/>
            </a:pPr>
            <a:r>
              <a:rPr lang="es" sz="2200"/>
              <a:t>Sumamos los errores de todos los datos=  c(w,b)=2,27</a:t>
            </a:r>
            <a:endParaRPr sz="2200"/>
          </a:p>
        </p:txBody>
      </p:sp>
      <p:pic>
        <p:nvPicPr>
          <p:cNvPr id="225" name="Google Shape;225;p32"/>
          <p:cNvPicPr preferRelativeResize="0"/>
          <p:nvPr/>
        </p:nvPicPr>
        <p:blipFill>
          <a:blip r:embed="rId3">
            <a:alphaModFix/>
          </a:blip>
          <a:stretch>
            <a:fillRect/>
          </a:stretch>
        </p:blipFill>
        <p:spPr>
          <a:xfrm>
            <a:off x="4650086" y="565750"/>
            <a:ext cx="4355188" cy="1142850"/>
          </a:xfrm>
          <a:prstGeom prst="rect">
            <a:avLst/>
          </a:prstGeom>
          <a:noFill/>
          <a:ln>
            <a:noFill/>
          </a:ln>
        </p:spPr>
      </p:pic>
      <p:pic>
        <p:nvPicPr>
          <p:cNvPr id="226" name="Google Shape;226;p32"/>
          <p:cNvPicPr preferRelativeResize="0"/>
          <p:nvPr/>
        </p:nvPicPr>
        <p:blipFill>
          <a:blip r:embed="rId4">
            <a:alphaModFix/>
          </a:blip>
          <a:stretch>
            <a:fillRect/>
          </a:stretch>
        </p:blipFill>
        <p:spPr>
          <a:xfrm>
            <a:off x="1348075" y="3463950"/>
            <a:ext cx="5467350" cy="4095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3"/>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377190" lvl="0" marL="457200" rtl="0" algn="l">
              <a:spcBef>
                <a:spcPts val="0"/>
              </a:spcBef>
              <a:spcAft>
                <a:spcPts val="0"/>
              </a:spcAft>
              <a:buSzPct val="123809"/>
              <a:buAutoNum type="arabicPeriod"/>
            </a:pPr>
            <a:r>
              <a:rPr lang="es"/>
              <a:t>Funciones de coste:</a:t>
            </a:r>
            <a:endParaRPr b="0" sz="2100">
              <a:solidFill>
                <a:schemeClr val="accent1"/>
              </a:solidFill>
              <a:latin typeface="Lato"/>
              <a:ea typeface="Lato"/>
              <a:cs typeface="Lato"/>
              <a:sym typeface="Lato"/>
            </a:endParaRPr>
          </a:p>
          <a:p>
            <a:pPr indent="0" lvl="0" marL="0" rtl="0" algn="l">
              <a:spcBef>
                <a:spcPts val="0"/>
              </a:spcBef>
              <a:spcAft>
                <a:spcPts val="0"/>
              </a:spcAft>
              <a:buNone/>
            </a:pPr>
            <a:r>
              <a:t/>
            </a:r>
            <a:endParaRPr/>
          </a:p>
        </p:txBody>
      </p:sp>
      <p:sp>
        <p:nvSpPr>
          <p:cNvPr id="232" name="Google Shape;232;p3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233" name="Google Shape;233;p33"/>
          <p:cNvSpPr txBox="1"/>
          <p:nvPr/>
        </p:nvSpPr>
        <p:spPr>
          <a:xfrm>
            <a:off x="638563" y="2211125"/>
            <a:ext cx="8295900" cy="1625400"/>
          </a:xfrm>
          <a:prstGeom prst="rect">
            <a:avLst/>
          </a:prstGeom>
          <a:noFill/>
          <a:ln>
            <a:noFill/>
          </a:ln>
        </p:spPr>
        <p:txBody>
          <a:bodyPr anchorCtr="0" anchor="t" bIns="91425" lIns="91425" spcFirstLastPara="1" rIns="91425" wrap="square" tIns="91425">
            <a:spAutoFit/>
          </a:bodyPr>
          <a:lstStyle/>
          <a:p>
            <a:pPr indent="0" lvl="0" marL="0" marR="0" rtl="0" algn="just">
              <a:lnSpc>
                <a:spcPct val="95000"/>
              </a:lnSpc>
              <a:spcBef>
                <a:spcPts val="0"/>
              </a:spcBef>
              <a:spcAft>
                <a:spcPts val="0"/>
              </a:spcAft>
              <a:buNone/>
            </a:pPr>
            <a:r>
              <a:rPr lang="es" sz="2200"/>
              <a:t>Nuestro objetivo al entrenar la red neuronal es conseguir que nuestra aproximación al objetivo real sea lo mejor posible, esto es, minimizar en la medida de lo posible C(w, b).</a:t>
            </a:r>
            <a:endParaRPr sz="2200"/>
          </a:p>
          <a:p>
            <a:pPr indent="0" lvl="0" marL="0" marR="0" rtl="0" algn="just">
              <a:lnSpc>
                <a:spcPct val="95000"/>
              </a:lnSpc>
              <a:spcBef>
                <a:spcPts val="1200"/>
              </a:spcBef>
              <a:spcAft>
                <a:spcPts val="1200"/>
              </a:spcAft>
              <a:buNone/>
            </a:pPr>
            <a:r>
              <a:rPr lang="es" sz="2200"/>
              <a:t>Ejemplo de aproximación correcta:</a:t>
            </a:r>
            <a:endParaRPr sz="2200"/>
          </a:p>
        </p:txBody>
      </p:sp>
      <p:pic>
        <p:nvPicPr>
          <p:cNvPr id="234" name="Google Shape;234;p33"/>
          <p:cNvPicPr preferRelativeResize="0"/>
          <p:nvPr/>
        </p:nvPicPr>
        <p:blipFill>
          <a:blip r:embed="rId3">
            <a:alphaModFix/>
          </a:blip>
          <a:stretch>
            <a:fillRect/>
          </a:stretch>
        </p:blipFill>
        <p:spPr>
          <a:xfrm>
            <a:off x="2562975" y="1194063"/>
            <a:ext cx="3600450" cy="923925"/>
          </a:xfrm>
          <a:prstGeom prst="rect">
            <a:avLst/>
          </a:prstGeom>
          <a:noFill/>
          <a:ln>
            <a:noFill/>
          </a:ln>
        </p:spPr>
      </p:pic>
      <p:sp>
        <p:nvSpPr>
          <p:cNvPr id="235" name="Google Shape;235;p33"/>
          <p:cNvSpPr txBox="1"/>
          <p:nvPr/>
        </p:nvSpPr>
        <p:spPr>
          <a:xfrm>
            <a:off x="930000" y="3682075"/>
            <a:ext cx="7486200" cy="828000"/>
          </a:xfrm>
          <a:prstGeom prst="rect">
            <a:avLst/>
          </a:prstGeom>
          <a:noFill/>
          <a:ln>
            <a:noFill/>
          </a:ln>
        </p:spPr>
        <p:txBody>
          <a:bodyPr anchorCtr="0" anchor="t" bIns="91425" lIns="91425" spcFirstLastPara="1" rIns="91425" wrap="square" tIns="91425">
            <a:spAutoFit/>
          </a:bodyPr>
          <a:lstStyle/>
          <a:p>
            <a:pPr indent="-368300" lvl="0" marL="457200" rtl="0" algn="just">
              <a:lnSpc>
                <a:spcPct val="95000"/>
              </a:lnSpc>
              <a:spcBef>
                <a:spcPts val="0"/>
              </a:spcBef>
              <a:spcAft>
                <a:spcPts val="0"/>
              </a:spcAft>
              <a:buSzPts val="2200"/>
              <a:buChar char="●"/>
            </a:pPr>
            <a:r>
              <a:rPr lang="es" sz="2200"/>
              <a:t>a(x, w, b) = (1, 0, 0, 0, 0, 0, 0, 0, 0, 0)</a:t>
            </a:r>
            <a:endParaRPr sz="2200"/>
          </a:p>
          <a:p>
            <a:pPr indent="-368300" lvl="0" marL="457200" rtl="0" algn="just">
              <a:lnSpc>
                <a:spcPct val="95000"/>
              </a:lnSpc>
              <a:spcBef>
                <a:spcPts val="0"/>
              </a:spcBef>
              <a:spcAft>
                <a:spcPts val="0"/>
              </a:spcAft>
              <a:buSzPts val="2200"/>
              <a:buChar char="●"/>
            </a:pPr>
            <a:r>
              <a:rPr lang="es" sz="2200"/>
              <a:t>c(w,b) =0</a:t>
            </a:r>
            <a:endParaRPr sz="22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4"/>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377190" lvl="0" marL="457200" rtl="0" algn="l">
              <a:spcBef>
                <a:spcPts val="0"/>
              </a:spcBef>
              <a:spcAft>
                <a:spcPts val="0"/>
              </a:spcAft>
              <a:buSzPct val="123809"/>
              <a:buAutoNum type="arabicPeriod"/>
            </a:pPr>
            <a:r>
              <a:rPr lang="es"/>
              <a:t>Funciones de coste:</a:t>
            </a:r>
            <a:endParaRPr b="0" sz="2100">
              <a:solidFill>
                <a:schemeClr val="accent1"/>
              </a:solidFill>
              <a:latin typeface="Lato"/>
              <a:ea typeface="Lato"/>
              <a:cs typeface="Lato"/>
              <a:sym typeface="Lato"/>
            </a:endParaRPr>
          </a:p>
          <a:p>
            <a:pPr indent="0" lvl="0" marL="0" rtl="0" algn="l">
              <a:spcBef>
                <a:spcPts val="0"/>
              </a:spcBef>
              <a:spcAft>
                <a:spcPts val="0"/>
              </a:spcAft>
              <a:buNone/>
            </a:pPr>
            <a:r>
              <a:t/>
            </a:r>
            <a:endParaRPr/>
          </a:p>
        </p:txBody>
      </p:sp>
      <p:sp>
        <p:nvSpPr>
          <p:cNvPr id="241" name="Google Shape;241;p3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242" name="Google Shape;242;p34"/>
          <p:cNvSpPr txBox="1"/>
          <p:nvPr/>
        </p:nvSpPr>
        <p:spPr>
          <a:xfrm>
            <a:off x="647013" y="1399000"/>
            <a:ext cx="8295900" cy="2302800"/>
          </a:xfrm>
          <a:prstGeom prst="rect">
            <a:avLst/>
          </a:prstGeom>
          <a:noFill/>
          <a:ln>
            <a:noFill/>
          </a:ln>
        </p:spPr>
        <p:txBody>
          <a:bodyPr anchorCtr="0" anchor="t" bIns="91425" lIns="91425" spcFirstLastPara="1" rIns="91425" wrap="square" tIns="91425">
            <a:spAutoFit/>
          </a:bodyPr>
          <a:lstStyle/>
          <a:p>
            <a:pPr indent="0" lvl="0" marL="0" marR="0" rtl="0" algn="just">
              <a:lnSpc>
                <a:spcPct val="95000"/>
              </a:lnSpc>
              <a:spcBef>
                <a:spcPts val="0"/>
              </a:spcBef>
              <a:spcAft>
                <a:spcPts val="0"/>
              </a:spcAft>
              <a:buNone/>
            </a:pPr>
            <a:r>
              <a:rPr lang="es" sz="2200"/>
              <a:t>Existen distintas </a:t>
            </a:r>
            <a:r>
              <a:rPr b="1" lang="es" sz="2200"/>
              <a:t>funciones de pérdida</a:t>
            </a:r>
            <a:r>
              <a:rPr lang="es" sz="2200"/>
              <a:t> o </a:t>
            </a:r>
            <a:r>
              <a:rPr b="1" lang="es" sz="2200"/>
              <a:t>loss functions</a:t>
            </a:r>
            <a:r>
              <a:rPr lang="es" sz="2200"/>
              <a:t> para medir el error en el que está incurriendo el modelo. En este caso estamos utilizando la función de pérdida conocida como Mean Squared Error (MSE).</a:t>
            </a:r>
            <a:endParaRPr sz="2200"/>
          </a:p>
          <a:p>
            <a:pPr indent="0" lvl="0" marL="0" marR="0" rtl="0" algn="just">
              <a:lnSpc>
                <a:spcPct val="100000"/>
              </a:lnSpc>
              <a:spcBef>
                <a:spcPts val="1200"/>
              </a:spcBef>
              <a:spcAft>
                <a:spcPts val="1200"/>
              </a:spcAft>
              <a:buNone/>
            </a:pPr>
            <a:r>
              <a:rPr lang="es" sz="2200"/>
              <a:t>Normalmente, para problemas de clasificación se utiliza </a:t>
            </a:r>
            <a:r>
              <a:rPr b="1" lang="es" sz="2200"/>
              <a:t>cross-entropy loss</a:t>
            </a:r>
            <a:r>
              <a:rPr lang="es" sz="2200"/>
              <a:t>.</a:t>
            </a:r>
            <a:endParaRPr sz="22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5"/>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377190" lvl="0" marL="457200" rtl="0" algn="l">
              <a:spcBef>
                <a:spcPts val="0"/>
              </a:spcBef>
              <a:spcAft>
                <a:spcPts val="0"/>
              </a:spcAft>
              <a:buSzPct val="123809"/>
              <a:buAutoNum type="arabicPeriod"/>
            </a:pPr>
            <a:r>
              <a:rPr lang="es"/>
              <a:t>Funciones de coste:</a:t>
            </a:r>
            <a:endParaRPr b="0" sz="2100">
              <a:solidFill>
                <a:schemeClr val="accent1"/>
              </a:solidFill>
              <a:latin typeface="Lato"/>
              <a:ea typeface="Lato"/>
              <a:cs typeface="Lato"/>
              <a:sym typeface="Lato"/>
            </a:endParaRPr>
          </a:p>
          <a:p>
            <a:pPr indent="0" lvl="0" marL="0" rtl="0" algn="l">
              <a:spcBef>
                <a:spcPts val="0"/>
              </a:spcBef>
              <a:spcAft>
                <a:spcPts val="0"/>
              </a:spcAft>
              <a:buNone/>
            </a:pPr>
            <a:r>
              <a:t/>
            </a:r>
            <a:endParaRPr/>
          </a:p>
        </p:txBody>
      </p:sp>
      <p:sp>
        <p:nvSpPr>
          <p:cNvPr id="248" name="Google Shape;248;p3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249" name="Google Shape;249;p35"/>
          <p:cNvSpPr txBox="1"/>
          <p:nvPr/>
        </p:nvSpPr>
        <p:spPr>
          <a:xfrm>
            <a:off x="647013" y="1399000"/>
            <a:ext cx="8295900" cy="20319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None/>
            </a:pPr>
            <a:r>
              <a:rPr lang="es" sz="2200"/>
              <a:t>Durante el curso, utilizaremos los términos de coste y pérdida de</a:t>
            </a:r>
            <a:endParaRPr sz="2200"/>
          </a:p>
          <a:p>
            <a:pPr indent="0" lvl="0" marL="0" marR="0" rtl="0" algn="just">
              <a:lnSpc>
                <a:spcPct val="100000"/>
              </a:lnSpc>
              <a:spcBef>
                <a:spcPts val="1200"/>
              </a:spcBef>
              <a:spcAft>
                <a:spcPts val="1200"/>
              </a:spcAft>
              <a:buNone/>
            </a:pPr>
            <a:r>
              <a:rPr lang="es" sz="2200"/>
              <a:t>manera intercambiable. Técnicamente, podríamos decir que la diferencia está en que </a:t>
            </a:r>
            <a:r>
              <a:rPr b="1" lang="es" sz="2200"/>
              <a:t>la loss function mide el error en un ejemplo</a:t>
            </a:r>
            <a:r>
              <a:rPr lang="es" sz="2200"/>
              <a:t> mientras que la </a:t>
            </a:r>
            <a:r>
              <a:rPr b="1" lang="es" sz="2200"/>
              <a:t>función de coste</a:t>
            </a:r>
            <a:r>
              <a:rPr lang="es" sz="2200"/>
              <a:t> es la suma de errores de todos los ejemplos.</a:t>
            </a:r>
            <a:endParaRPr sz="22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6"/>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377190" lvl="0" marL="457200" rtl="0" algn="l">
              <a:spcBef>
                <a:spcPts val="0"/>
              </a:spcBef>
              <a:spcAft>
                <a:spcPts val="0"/>
              </a:spcAft>
              <a:buSzPct val="123809"/>
              <a:buAutoNum type="arabicPeriod"/>
            </a:pPr>
            <a:r>
              <a:rPr lang="es"/>
              <a:t>Funciones de coste:</a:t>
            </a:r>
            <a:endParaRPr b="0" sz="2100">
              <a:solidFill>
                <a:schemeClr val="accent1"/>
              </a:solidFill>
              <a:latin typeface="Lato"/>
              <a:ea typeface="Lato"/>
              <a:cs typeface="Lato"/>
              <a:sym typeface="Lato"/>
            </a:endParaRPr>
          </a:p>
          <a:p>
            <a:pPr indent="0" lvl="0" marL="0" rtl="0" algn="l">
              <a:spcBef>
                <a:spcPts val="0"/>
              </a:spcBef>
              <a:spcAft>
                <a:spcPts val="0"/>
              </a:spcAft>
              <a:buNone/>
            </a:pPr>
            <a:r>
              <a:t/>
            </a:r>
            <a:endParaRPr/>
          </a:p>
        </p:txBody>
      </p:sp>
      <p:sp>
        <p:nvSpPr>
          <p:cNvPr id="255" name="Google Shape;255;p3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256" name="Google Shape;256;p36"/>
          <p:cNvSpPr txBox="1"/>
          <p:nvPr/>
        </p:nvSpPr>
        <p:spPr>
          <a:xfrm>
            <a:off x="592013" y="1144575"/>
            <a:ext cx="8295900" cy="38790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None/>
            </a:pPr>
            <a:r>
              <a:rPr b="1" lang="es" sz="2200"/>
              <a:t>REPASO</a:t>
            </a:r>
            <a:endParaRPr b="1" sz="2200"/>
          </a:p>
          <a:p>
            <a:pPr indent="-368300" lvl="0" marL="457200" marR="0" rtl="0" algn="just">
              <a:lnSpc>
                <a:spcPct val="100000"/>
              </a:lnSpc>
              <a:spcBef>
                <a:spcPts val="1200"/>
              </a:spcBef>
              <a:spcAft>
                <a:spcPts val="0"/>
              </a:spcAft>
              <a:buSzPts val="2200"/>
              <a:buChar char="●"/>
            </a:pPr>
            <a:r>
              <a:rPr lang="es" sz="2200"/>
              <a:t>Hemos definido una función y(x) que modela el problema a solucionar.</a:t>
            </a:r>
            <a:endParaRPr sz="2200"/>
          </a:p>
          <a:p>
            <a:pPr indent="-368300" lvl="0" marL="457200" marR="0" rtl="0" algn="just">
              <a:lnSpc>
                <a:spcPct val="100000"/>
              </a:lnSpc>
              <a:spcBef>
                <a:spcPts val="0"/>
              </a:spcBef>
              <a:spcAft>
                <a:spcPts val="0"/>
              </a:spcAft>
              <a:buSzPts val="2200"/>
              <a:buChar char="●"/>
            </a:pPr>
            <a:r>
              <a:rPr lang="es" sz="2200"/>
              <a:t>Buscamos encontrar una función que aproxime y de la mejor manera posible. Utilizamos una red neuronal modelada con parámetros w y b para ello: a(x, w, b).</a:t>
            </a:r>
            <a:endParaRPr sz="2200"/>
          </a:p>
          <a:p>
            <a:pPr indent="-368300" lvl="0" marL="457200" marR="0" rtl="0" algn="just">
              <a:lnSpc>
                <a:spcPct val="100000"/>
              </a:lnSpc>
              <a:spcBef>
                <a:spcPts val="0"/>
              </a:spcBef>
              <a:spcAft>
                <a:spcPts val="0"/>
              </a:spcAft>
              <a:buSzPts val="2200"/>
              <a:buChar char="●"/>
            </a:pPr>
            <a:r>
              <a:rPr lang="es" sz="2200"/>
              <a:t>Para cuantificar esta aproximación, definimos una función de coste C que nos da una medida del error que comete nuestra red neuronal a partir de los datos a utilizar.</a:t>
            </a:r>
            <a:endParaRPr sz="2200"/>
          </a:p>
          <a:p>
            <a:pPr indent="0" lvl="0" marL="0" marR="0" rtl="0" algn="just">
              <a:lnSpc>
                <a:spcPct val="100000"/>
              </a:lnSpc>
              <a:spcBef>
                <a:spcPts val="1200"/>
              </a:spcBef>
              <a:spcAft>
                <a:spcPts val="1200"/>
              </a:spcAft>
              <a:buNone/>
            </a:pPr>
            <a:r>
              <a:t/>
            </a:r>
            <a:endParaRPr b="1" sz="22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7"/>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377190" lvl="0" marL="457200" rtl="0" algn="l">
              <a:spcBef>
                <a:spcPts val="0"/>
              </a:spcBef>
              <a:spcAft>
                <a:spcPts val="0"/>
              </a:spcAft>
              <a:buSzPct val="123809"/>
              <a:buAutoNum type="arabicPeriod"/>
            </a:pPr>
            <a:r>
              <a:rPr lang="es"/>
              <a:t>Funciones de coste:</a:t>
            </a:r>
            <a:endParaRPr b="0" sz="2100">
              <a:solidFill>
                <a:schemeClr val="accent1"/>
              </a:solidFill>
              <a:latin typeface="Lato"/>
              <a:ea typeface="Lato"/>
              <a:cs typeface="Lato"/>
              <a:sym typeface="Lato"/>
            </a:endParaRPr>
          </a:p>
          <a:p>
            <a:pPr indent="0" lvl="0" marL="0" rtl="0" algn="l">
              <a:spcBef>
                <a:spcPts val="0"/>
              </a:spcBef>
              <a:spcAft>
                <a:spcPts val="0"/>
              </a:spcAft>
              <a:buNone/>
            </a:pPr>
            <a:r>
              <a:t/>
            </a:r>
            <a:endParaRPr/>
          </a:p>
        </p:txBody>
      </p:sp>
      <p:sp>
        <p:nvSpPr>
          <p:cNvPr id="262" name="Google Shape;262;p3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263" name="Google Shape;263;p37"/>
          <p:cNvSpPr txBox="1"/>
          <p:nvPr/>
        </p:nvSpPr>
        <p:spPr>
          <a:xfrm>
            <a:off x="592027" y="1144575"/>
            <a:ext cx="4512000" cy="23703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None/>
            </a:pPr>
            <a:r>
              <a:rPr lang="es" sz="2200"/>
              <a:t>Entrenar la red neuronal se convierte en un problema de optimización: Queremos encontrar los valores de los parámetros </a:t>
            </a:r>
            <a:r>
              <a:rPr b="1" lang="es" sz="2200"/>
              <a:t>w </a:t>
            </a:r>
            <a:r>
              <a:rPr lang="es" sz="2200"/>
              <a:t>y </a:t>
            </a:r>
            <a:r>
              <a:rPr b="1" lang="es" sz="2200"/>
              <a:t>b </a:t>
            </a:r>
            <a:r>
              <a:rPr lang="es" sz="2200"/>
              <a:t>que minimizan </a:t>
            </a:r>
            <a:r>
              <a:rPr b="1" lang="es" sz="2200"/>
              <a:t>C</a:t>
            </a:r>
            <a:r>
              <a:rPr lang="es" sz="2200"/>
              <a:t>.</a:t>
            </a:r>
            <a:endParaRPr sz="2200"/>
          </a:p>
          <a:p>
            <a:pPr indent="0" lvl="0" marL="0" marR="0" rtl="0" algn="just">
              <a:lnSpc>
                <a:spcPct val="100000"/>
              </a:lnSpc>
              <a:spcBef>
                <a:spcPts val="1200"/>
              </a:spcBef>
              <a:spcAft>
                <a:spcPts val="1200"/>
              </a:spcAft>
              <a:buNone/>
            </a:pPr>
            <a:r>
              <a:t/>
            </a:r>
            <a:endParaRPr b="1" sz="2200"/>
          </a:p>
        </p:txBody>
      </p:sp>
      <p:pic>
        <p:nvPicPr>
          <p:cNvPr id="264" name="Google Shape;264;p37"/>
          <p:cNvPicPr preferRelativeResize="0"/>
          <p:nvPr/>
        </p:nvPicPr>
        <p:blipFill>
          <a:blip r:embed="rId3">
            <a:alphaModFix/>
          </a:blip>
          <a:stretch>
            <a:fillRect/>
          </a:stretch>
        </p:blipFill>
        <p:spPr>
          <a:xfrm>
            <a:off x="5634226" y="762325"/>
            <a:ext cx="2934276" cy="34092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8"/>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2.   Entrenamiento con gradient descent:</a:t>
            </a:r>
            <a:endParaRPr b="0" sz="2100">
              <a:solidFill>
                <a:schemeClr val="accent1"/>
              </a:solidFill>
              <a:latin typeface="Lato"/>
              <a:ea typeface="Lato"/>
              <a:cs typeface="Lato"/>
              <a:sym typeface="Lato"/>
            </a:endParaRPr>
          </a:p>
          <a:p>
            <a:pPr indent="0" lvl="0" marL="0" rtl="0" algn="l">
              <a:spcBef>
                <a:spcPts val="0"/>
              </a:spcBef>
              <a:spcAft>
                <a:spcPts val="0"/>
              </a:spcAft>
              <a:buNone/>
            </a:pPr>
            <a:r>
              <a:t/>
            </a:r>
            <a:endParaRPr/>
          </a:p>
        </p:txBody>
      </p:sp>
      <p:sp>
        <p:nvSpPr>
          <p:cNvPr id="270" name="Google Shape;270;p3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271" name="Google Shape;271;p38"/>
          <p:cNvSpPr txBox="1"/>
          <p:nvPr/>
        </p:nvSpPr>
        <p:spPr>
          <a:xfrm>
            <a:off x="495438" y="1522900"/>
            <a:ext cx="8295900" cy="33555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None/>
            </a:pPr>
            <a:r>
              <a:t/>
            </a:r>
            <a:endParaRPr b="1" sz="2200"/>
          </a:p>
          <a:p>
            <a:pPr indent="0" lvl="0" marL="0" marR="0" rtl="0" algn="just">
              <a:lnSpc>
                <a:spcPct val="100000"/>
              </a:lnSpc>
              <a:spcBef>
                <a:spcPts val="1200"/>
              </a:spcBef>
              <a:spcAft>
                <a:spcPts val="0"/>
              </a:spcAft>
              <a:buNone/>
            </a:pPr>
            <a:r>
              <a:rPr lang="es" sz="2200"/>
              <a:t>Vamos a ver primero cómo minimizar una función general C(v), donde v puede ser un vector de varias variables.</a:t>
            </a:r>
            <a:endParaRPr sz="2200"/>
          </a:p>
          <a:p>
            <a:pPr indent="0" lvl="0" marL="0" marR="0" rtl="0" algn="just">
              <a:lnSpc>
                <a:spcPct val="100000"/>
              </a:lnSpc>
              <a:spcBef>
                <a:spcPts val="1200"/>
              </a:spcBef>
              <a:spcAft>
                <a:spcPts val="0"/>
              </a:spcAft>
              <a:buNone/>
            </a:pPr>
            <a:r>
              <a:rPr lang="es" sz="2200"/>
              <a:t>Una forma de obtener el mínimo de una función es calcular analíticamente mediante la derivada: C’(v) = 0. Sin embargo, esto no va a ser factible para funciones tan complejas y con tantos parámetros como el coste asociado a una red neuronal.</a:t>
            </a:r>
            <a:endParaRPr sz="2200"/>
          </a:p>
          <a:p>
            <a:pPr indent="0" lvl="0" marL="0" marR="0" rtl="0" algn="just">
              <a:lnSpc>
                <a:spcPct val="100000"/>
              </a:lnSpc>
              <a:spcBef>
                <a:spcPts val="1200"/>
              </a:spcBef>
              <a:spcAft>
                <a:spcPts val="1200"/>
              </a:spcAft>
              <a:buNone/>
            </a:pPr>
            <a:r>
              <a:t/>
            </a:r>
            <a:endParaRPr b="1" sz="2200"/>
          </a:p>
        </p:txBody>
      </p:sp>
      <p:pic>
        <p:nvPicPr>
          <p:cNvPr id="272" name="Google Shape;272;p38"/>
          <p:cNvPicPr preferRelativeResize="0"/>
          <p:nvPr/>
        </p:nvPicPr>
        <p:blipFill>
          <a:blip r:embed="rId3">
            <a:alphaModFix/>
          </a:blip>
          <a:stretch>
            <a:fillRect/>
          </a:stretch>
        </p:blipFill>
        <p:spPr>
          <a:xfrm>
            <a:off x="2522925" y="1230575"/>
            <a:ext cx="3695700" cy="8953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9"/>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2.   </a:t>
            </a:r>
            <a:r>
              <a:rPr lang="es"/>
              <a:t>Entrenamiento con gradient descent</a:t>
            </a:r>
            <a:r>
              <a:rPr lang="es"/>
              <a:t>:</a:t>
            </a:r>
            <a:endParaRPr b="0" sz="2100">
              <a:solidFill>
                <a:schemeClr val="accent1"/>
              </a:solidFill>
              <a:latin typeface="Lato"/>
              <a:ea typeface="Lato"/>
              <a:cs typeface="Lato"/>
              <a:sym typeface="Lato"/>
            </a:endParaRPr>
          </a:p>
          <a:p>
            <a:pPr indent="0" lvl="0" marL="0" rtl="0" algn="l">
              <a:spcBef>
                <a:spcPts val="0"/>
              </a:spcBef>
              <a:spcAft>
                <a:spcPts val="0"/>
              </a:spcAft>
              <a:buNone/>
            </a:pPr>
            <a:r>
              <a:t/>
            </a:r>
            <a:endParaRPr/>
          </a:p>
        </p:txBody>
      </p:sp>
      <p:sp>
        <p:nvSpPr>
          <p:cNvPr id="278" name="Google Shape;278;p3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279" name="Google Shape;279;p39"/>
          <p:cNvSpPr txBox="1"/>
          <p:nvPr/>
        </p:nvSpPr>
        <p:spPr>
          <a:xfrm>
            <a:off x="454501" y="1321650"/>
            <a:ext cx="4117500" cy="3309300"/>
          </a:xfrm>
          <a:prstGeom prst="rect">
            <a:avLst/>
          </a:prstGeom>
          <a:noFill/>
          <a:ln>
            <a:noFill/>
          </a:ln>
        </p:spPr>
        <p:txBody>
          <a:bodyPr anchorCtr="0" anchor="t" bIns="91425" lIns="91425" spcFirstLastPara="1" rIns="91425" wrap="square" tIns="91425">
            <a:spAutoFit/>
          </a:bodyPr>
          <a:lstStyle/>
          <a:p>
            <a:pPr indent="-349250" lvl="0" marL="457200" marR="0" rtl="0" algn="just">
              <a:lnSpc>
                <a:spcPct val="100000"/>
              </a:lnSpc>
              <a:spcBef>
                <a:spcPts val="0"/>
              </a:spcBef>
              <a:spcAft>
                <a:spcPts val="0"/>
              </a:spcAft>
              <a:buSzPts val="1900"/>
              <a:buChar char="●"/>
            </a:pPr>
            <a:r>
              <a:rPr lang="es" sz="1900"/>
              <a:t>Empezamos en un punto (v1, v2 ) al azar.</a:t>
            </a:r>
            <a:endParaRPr sz="1900"/>
          </a:p>
          <a:p>
            <a:pPr indent="-349250" lvl="0" marL="457200" marR="0" rtl="0" algn="just">
              <a:lnSpc>
                <a:spcPct val="100000"/>
              </a:lnSpc>
              <a:spcBef>
                <a:spcPts val="0"/>
              </a:spcBef>
              <a:spcAft>
                <a:spcPts val="0"/>
              </a:spcAft>
              <a:buSzPts val="1900"/>
              <a:buChar char="●"/>
            </a:pPr>
            <a:r>
              <a:rPr lang="es" sz="1900"/>
              <a:t>Encontramos la dirección de máxima pendiente hacia abajo.</a:t>
            </a:r>
            <a:endParaRPr sz="1900"/>
          </a:p>
          <a:p>
            <a:pPr indent="-349250" lvl="0" marL="457200" marR="0" rtl="0" algn="just">
              <a:lnSpc>
                <a:spcPct val="100000"/>
              </a:lnSpc>
              <a:spcBef>
                <a:spcPts val="0"/>
              </a:spcBef>
              <a:spcAft>
                <a:spcPts val="0"/>
              </a:spcAft>
              <a:buSzPts val="1900"/>
              <a:buChar char="●"/>
            </a:pPr>
            <a:r>
              <a:rPr lang="es" sz="1900"/>
              <a:t>Damos un pequeño paso en esa dirección.</a:t>
            </a:r>
            <a:endParaRPr sz="1900"/>
          </a:p>
          <a:p>
            <a:pPr indent="-349250" lvl="0" marL="457200" marR="0" rtl="0" algn="just">
              <a:lnSpc>
                <a:spcPct val="100000"/>
              </a:lnSpc>
              <a:spcBef>
                <a:spcPts val="0"/>
              </a:spcBef>
              <a:spcAft>
                <a:spcPts val="0"/>
              </a:spcAft>
              <a:buSzPts val="1900"/>
              <a:buChar char="●"/>
            </a:pPr>
            <a:r>
              <a:rPr lang="es" sz="1900"/>
              <a:t>Repetimos el proceso desde el nuevo punto obtenido hasta llegar a un mínimo.</a:t>
            </a:r>
            <a:endParaRPr b="1" sz="1900"/>
          </a:p>
          <a:p>
            <a:pPr indent="0" lvl="0" marL="0" marR="0" rtl="0" algn="just">
              <a:lnSpc>
                <a:spcPct val="100000"/>
              </a:lnSpc>
              <a:spcBef>
                <a:spcPts val="1200"/>
              </a:spcBef>
              <a:spcAft>
                <a:spcPts val="1200"/>
              </a:spcAft>
              <a:buNone/>
            </a:pPr>
            <a:r>
              <a:t/>
            </a:r>
            <a:endParaRPr b="1" sz="2200"/>
          </a:p>
        </p:txBody>
      </p:sp>
      <p:pic>
        <p:nvPicPr>
          <p:cNvPr id="280" name="Google Shape;280;p39"/>
          <p:cNvPicPr preferRelativeResize="0"/>
          <p:nvPr/>
        </p:nvPicPr>
        <p:blipFill>
          <a:blip r:embed="rId3">
            <a:alphaModFix/>
          </a:blip>
          <a:stretch>
            <a:fillRect/>
          </a:stretch>
        </p:blipFill>
        <p:spPr>
          <a:xfrm>
            <a:off x="4941750" y="1478225"/>
            <a:ext cx="3733875" cy="22606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40"/>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2.   Entrenamiento con gradient descent:</a:t>
            </a:r>
            <a:endParaRPr b="0" sz="2100">
              <a:solidFill>
                <a:schemeClr val="accent1"/>
              </a:solidFill>
              <a:latin typeface="Lato"/>
              <a:ea typeface="Lato"/>
              <a:cs typeface="Lato"/>
              <a:sym typeface="Lato"/>
            </a:endParaRPr>
          </a:p>
          <a:p>
            <a:pPr indent="0" lvl="0" marL="0" rtl="0" algn="l">
              <a:spcBef>
                <a:spcPts val="0"/>
              </a:spcBef>
              <a:spcAft>
                <a:spcPts val="0"/>
              </a:spcAft>
              <a:buNone/>
            </a:pPr>
            <a:r>
              <a:t/>
            </a:r>
            <a:endParaRPr/>
          </a:p>
        </p:txBody>
      </p:sp>
      <p:sp>
        <p:nvSpPr>
          <p:cNvPr id="286" name="Google Shape;286;p4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287" name="Google Shape;287;p40"/>
          <p:cNvSpPr txBox="1"/>
          <p:nvPr/>
        </p:nvSpPr>
        <p:spPr>
          <a:xfrm>
            <a:off x="454499" y="1321650"/>
            <a:ext cx="8630400" cy="4770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1200"/>
              </a:spcAft>
              <a:buNone/>
            </a:pPr>
            <a:r>
              <a:rPr lang="es" sz="1900"/>
              <a:t>Se puede complicar la base matemática</a:t>
            </a:r>
            <a:endParaRPr sz="2200"/>
          </a:p>
        </p:txBody>
      </p:sp>
      <p:pic>
        <p:nvPicPr>
          <p:cNvPr id="288" name="Google Shape;288;p40"/>
          <p:cNvPicPr preferRelativeResize="0"/>
          <p:nvPr/>
        </p:nvPicPr>
        <p:blipFill>
          <a:blip r:embed="rId3">
            <a:alphaModFix/>
          </a:blip>
          <a:stretch>
            <a:fillRect/>
          </a:stretch>
        </p:blipFill>
        <p:spPr>
          <a:xfrm>
            <a:off x="289225" y="1757875"/>
            <a:ext cx="4679371" cy="2438225"/>
          </a:xfrm>
          <a:prstGeom prst="rect">
            <a:avLst/>
          </a:prstGeom>
          <a:noFill/>
          <a:ln>
            <a:noFill/>
          </a:ln>
        </p:spPr>
      </p:pic>
      <p:pic>
        <p:nvPicPr>
          <p:cNvPr id="289" name="Google Shape;289;p40"/>
          <p:cNvPicPr preferRelativeResize="0"/>
          <p:nvPr/>
        </p:nvPicPr>
        <p:blipFill>
          <a:blip r:embed="rId4">
            <a:alphaModFix/>
          </a:blip>
          <a:stretch>
            <a:fillRect/>
          </a:stretch>
        </p:blipFill>
        <p:spPr>
          <a:xfrm>
            <a:off x="5075974" y="1894725"/>
            <a:ext cx="3763226" cy="230138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41"/>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2.   Entrenamiento con gradient descent:</a:t>
            </a:r>
            <a:endParaRPr b="0" sz="2100">
              <a:solidFill>
                <a:schemeClr val="accent1"/>
              </a:solidFill>
              <a:latin typeface="Lato"/>
              <a:ea typeface="Lato"/>
              <a:cs typeface="Lato"/>
              <a:sym typeface="Lato"/>
            </a:endParaRPr>
          </a:p>
          <a:p>
            <a:pPr indent="0" lvl="0" marL="0" rtl="0" algn="l">
              <a:spcBef>
                <a:spcPts val="0"/>
              </a:spcBef>
              <a:spcAft>
                <a:spcPts val="0"/>
              </a:spcAft>
              <a:buNone/>
            </a:pPr>
            <a:r>
              <a:t/>
            </a:r>
            <a:endParaRPr/>
          </a:p>
        </p:txBody>
      </p:sp>
      <p:sp>
        <p:nvSpPr>
          <p:cNvPr id="295" name="Google Shape;295;p4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296" name="Google Shape;296;p41"/>
          <p:cNvSpPr txBox="1"/>
          <p:nvPr/>
        </p:nvSpPr>
        <p:spPr>
          <a:xfrm>
            <a:off x="454499" y="1321650"/>
            <a:ext cx="8630400" cy="4770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1200"/>
              </a:spcAft>
              <a:buNone/>
            </a:pPr>
            <a:r>
              <a:rPr lang="es" sz="1900"/>
              <a:t>Se puede complicar la base matemática</a:t>
            </a:r>
            <a:endParaRPr sz="2200"/>
          </a:p>
        </p:txBody>
      </p:sp>
      <p:pic>
        <p:nvPicPr>
          <p:cNvPr id="297" name="Google Shape;297;p41"/>
          <p:cNvPicPr preferRelativeResize="0"/>
          <p:nvPr/>
        </p:nvPicPr>
        <p:blipFill>
          <a:blip r:embed="rId3">
            <a:alphaModFix/>
          </a:blip>
          <a:stretch>
            <a:fillRect/>
          </a:stretch>
        </p:blipFill>
        <p:spPr>
          <a:xfrm>
            <a:off x="1249851" y="1798650"/>
            <a:ext cx="2465450" cy="2678350"/>
          </a:xfrm>
          <a:prstGeom prst="rect">
            <a:avLst/>
          </a:prstGeom>
          <a:noFill/>
          <a:ln>
            <a:noFill/>
          </a:ln>
        </p:spPr>
      </p:pic>
      <p:pic>
        <p:nvPicPr>
          <p:cNvPr id="298" name="Google Shape;298;p41"/>
          <p:cNvPicPr preferRelativeResize="0"/>
          <p:nvPr/>
        </p:nvPicPr>
        <p:blipFill>
          <a:blip r:embed="rId4">
            <a:alphaModFix/>
          </a:blip>
          <a:stretch>
            <a:fillRect/>
          </a:stretch>
        </p:blipFill>
        <p:spPr>
          <a:xfrm>
            <a:off x="5149050" y="2494888"/>
            <a:ext cx="2600325" cy="12858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2"/>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2.   Entrenamiento con gradient descent:</a:t>
            </a:r>
            <a:endParaRPr b="0" sz="2100">
              <a:solidFill>
                <a:schemeClr val="accent1"/>
              </a:solidFill>
              <a:latin typeface="Lato"/>
              <a:ea typeface="Lato"/>
              <a:cs typeface="Lato"/>
              <a:sym typeface="Lato"/>
            </a:endParaRPr>
          </a:p>
          <a:p>
            <a:pPr indent="0" lvl="0" marL="0" rtl="0" algn="l">
              <a:spcBef>
                <a:spcPts val="0"/>
              </a:spcBef>
              <a:spcAft>
                <a:spcPts val="0"/>
              </a:spcAft>
              <a:buNone/>
            </a:pPr>
            <a:r>
              <a:t/>
            </a:r>
            <a:endParaRPr/>
          </a:p>
        </p:txBody>
      </p:sp>
      <p:sp>
        <p:nvSpPr>
          <p:cNvPr id="304" name="Google Shape;304;p4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305" name="Google Shape;305;p42"/>
          <p:cNvSpPr txBox="1"/>
          <p:nvPr/>
        </p:nvSpPr>
        <p:spPr>
          <a:xfrm>
            <a:off x="454499" y="1321650"/>
            <a:ext cx="8630400" cy="18009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None/>
            </a:pPr>
            <a:r>
              <a:rPr lang="es" sz="1900"/>
              <a:t>Pero a nosotros sólo nos va a preocupar para optimizar el </a:t>
            </a:r>
            <a:r>
              <a:rPr b="1" lang="es" sz="1900"/>
              <a:t>learning rate.</a:t>
            </a:r>
            <a:endParaRPr b="1" sz="1900"/>
          </a:p>
          <a:p>
            <a:pPr indent="0" lvl="0" marL="0" marR="0" rtl="0" algn="l">
              <a:lnSpc>
                <a:spcPct val="100000"/>
              </a:lnSpc>
              <a:spcBef>
                <a:spcPts val="1200"/>
              </a:spcBef>
              <a:spcAft>
                <a:spcPts val="1200"/>
              </a:spcAft>
              <a:buNone/>
            </a:pPr>
            <a:r>
              <a:rPr lang="es" sz="1900"/>
              <a:t>El learning rate η, como su propio nombre indica, define en cierta medida la velocidad a la que gradient descent funciona. Tiene que ser lo suficientemente pequeño para que la aproximación local que define la derivada sea correcta y la derivación anterior sea cierta.</a:t>
            </a:r>
            <a:endParaRPr sz="19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43"/>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2.   Entrenamiento con gradient descent:</a:t>
            </a:r>
            <a:endParaRPr b="0" sz="2100">
              <a:solidFill>
                <a:schemeClr val="accent1"/>
              </a:solidFill>
              <a:latin typeface="Lato"/>
              <a:ea typeface="Lato"/>
              <a:cs typeface="Lato"/>
              <a:sym typeface="Lato"/>
            </a:endParaRPr>
          </a:p>
          <a:p>
            <a:pPr indent="0" lvl="0" marL="0" rtl="0" algn="l">
              <a:spcBef>
                <a:spcPts val="0"/>
              </a:spcBef>
              <a:spcAft>
                <a:spcPts val="0"/>
              </a:spcAft>
              <a:buNone/>
            </a:pPr>
            <a:r>
              <a:t/>
            </a:r>
            <a:endParaRPr/>
          </a:p>
        </p:txBody>
      </p:sp>
      <p:sp>
        <p:nvSpPr>
          <p:cNvPr id="311" name="Google Shape;311;p4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312" name="Google Shape;312;p43"/>
          <p:cNvSpPr txBox="1"/>
          <p:nvPr/>
        </p:nvSpPr>
        <p:spPr>
          <a:xfrm>
            <a:off x="446450" y="1469550"/>
            <a:ext cx="3957300" cy="23859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None/>
            </a:pPr>
            <a:r>
              <a:rPr lang="es" sz="1900"/>
              <a:t>Si η es demasiado </a:t>
            </a:r>
            <a:r>
              <a:rPr b="1" lang="es" sz="1900"/>
              <a:t>grande</a:t>
            </a:r>
            <a:r>
              <a:rPr lang="es" sz="1900"/>
              <a:t>, podríamos no encontrar el mínimo o incluso divergir a valores de C mayores.</a:t>
            </a:r>
            <a:endParaRPr sz="1900"/>
          </a:p>
          <a:p>
            <a:pPr indent="0" lvl="0" marL="0" marR="0" rtl="0" algn="just">
              <a:lnSpc>
                <a:spcPct val="100000"/>
              </a:lnSpc>
              <a:spcBef>
                <a:spcPts val="1200"/>
              </a:spcBef>
              <a:spcAft>
                <a:spcPts val="1200"/>
              </a:spcAft>
              <a:buNone/>
            </a:pPr>
            <a:r>
              <a:rPr lang="es" sz="1900"/>
              <a:t>Por otro lado, un valor </a:t>
            </a:r>
            <a:r>
              <a:rPr b="1" lang="es" sz="1900"/>
              <a:t>demasiado pequeño</a:t>
            </a:r>
            <a:r>
              <a:rPr lang="es" sz="1900"/>
              <a:t> haría que el algoritmo avanzara de forma muy lenta.</a:t>
            </a:r>
            <a:endParaRPr b="1" sz="1900"/>
          </a:p>
        </p:txBody>
      </p:sp>
      <p:pic>
        <p:nvPicPr>
          <p:cNvPr id="313" name="Google Shape;313;p43"/>
          <p:cNvPicPr preferRelativeResize="0"/>
          <p:nvPr/>
        </p:nvPicPr>
        <p:blipFill>
          <a:blip r:embed="rId3">
            <a:alphaModFix/>
          </a:blip>
          <a:stretch>
            <a:fillRect/>
          </a:stretch>
        </p:blipFill>
        <p:spPr>
          <a:xfrm>
            <a:off x="4364075" y="1469538"/>
            <a:ext cx="4681875" cy="220442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4"/>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2.   Entrenamiento con gradient descent:</a:t>
            </a:r>
            <a:endParaRPr b="0" sz="2100">
              <a:solidFill>
                <a:schemeClr val="accent1"/>
              </a:solidFill>
              <a:latin typeface="Lato"/>
              <a:ea typeface="Lato"/>
              <a:cs typeface="Lato"/>
              <a:sym typeface="Lato"/>
            </a:endParaRPr>
          </a:p>
          <a:p>
            <a:pPr indent="0" lvl="0" marL="0" rtl="0" algn="l">
              <a:spcBef>
                <a:spcPts val="0"/>
              </a:spcBef>
              <a:spcAft>
                <a:spcPts val="0"/>
              </a:spcAft>
              <a:buNone/>
            </a:pPr>
            <a:r>
              <a:t/>
            </a:r>
            <a:endParaRPr/>
          </a:p>
        </p:txBody>
      </p:sp>
      <p:sp>
        <p:nvSpPr>
          <p:cNvPr id="319" name="Google Shape;319;p4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320" name="Google Shape;320;p44"/>
          <p:cNvSpPr txBox="1"/>
          <p:nvPr/>
        </p:nvSpPr>
        <p:spPr>
          <a:xfrm>
            <a:off x="446450" y="1324700"/>
            <a:ext cx="8295900" cy="4770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1200"/>
              </a:spcAft>
              <a:buNone/>
            </a:pPr>
            <a:r>
              <a:rPr b="1" lang="es" sz="1900"/>
              <a:t>Resumen de conceptos</a:t>
            </a:r>
            <a:r>
              <a:rPr b="1" lang="es" sz="1900"/>
              <a:t> vistos hasta ahora.</a:t>
            </a:r>
            <a:endParaRPr b="1" sz="2200"/>
          </a:p>
        </p:txBody>
      </p:sp>
      <p:graphicFrame>
        <p:nvGraphicFramePr>
          <p:cNvPr id="321" name="Google Shape;321;p44"/>
          <p:cNvGraphicFramePr/>
          <p:nvPr/>
        </p:nvGraphicFramePr>
        <p:xfrm>
          <a:off x="446450" y="1962700"/>
          <a:ext cx="3000000" cy="3000000"/>
        </p:xfrm>
        <a:graphic>
          <a:graphicData uri="http://schemas.openxmlformats.org/drawingml/2006/table">
            <a:tbl>
              <a:tblPr>
                <a:noFill/>
                <a:tableStyleId>{86F80FEE-F9E0-4C4E-AB6B-162AB331F4A5}</a:tableStyleId>
              </a:tblPr>
              <a:tblGrid>
                <a:gridCol w="4219175"/>
                <a:gridCol w="4219175"/>
              </a:tblGrid>
              <a:tr h="2416600">
                <a:tc>
                  <a:txBody>
                    <a:bodyPr/>
                    <a:lstStyle/>
                    <a:p>
                      <a:pPr indent="0" lvl="0" marL="0" marR="0" rtl="0" algn="just">
                        <a:lnSpc>
                          <a:spcPct val="100000"/>
                        </a:lnSpc>
                        <a:spcBef>
                          <a:spcPts val="0"/>
                        </a:spcBef>
                        <a:spcAft>
                          <a:spcPts val="0"/>
                        </a:spcAft>
                        <a:buNone/>
                      </a:pPr>
                      <a:r>
                        <a:rPr lang="es" sz="1900"/>
                        <a:t>Input layer.</a:t>
                      </a:r>
                      <a:endParaRPr sz="1900"/>
                    </a:p>
                    <a:p>
                      <a:pPr indent="0" lvl="0" marL="0" marR="0" rtl="0" algn="just">
                        <a:lnSpc>
                          <a:spcPct val="100000"/>
                        </a:lnSpc>
                        <a:spcBef>
                          <a:spcPts val="1200"/>
                        </a:spcBef>
                        <a:spcAft>
                          <a:spcPts val="0"/>
                        </a:spcAft>
                        <a:buNone/>
                      </a:pPr>
                      <a:r>
                        <a:rPr lang="es" sz="1900"/>
                        <a:t>Hidden layer.</a:t>
                      </a:r>
                      <a:endParaRPr sz="1900"/>
                    </a:p>
                    <a:p>
                      <a:pPr indent="0" lvl="0" marL="0" marR="0" rtl="0" algn="just">
                        <a:lnSpc>
                          <a:spcPct val="100000"/>
                        </a:lnSpc>
                        <a:spcBef>
                          <a:spcPts val="1200"/>
                        </a:spcBef>
                        <a:spcAft>
                          <a:spcPts val="0"/>
                        </a:spcAft>
                        <a:buNone/>
                      </a:pPr>
                      <a:r>
                        <a:rPr lang="es" sz="1900"/>
                        <a:t>Número de capas ocultas.</a:t>
                      </a:r>
                      <a:endParaRPr sz="1900"/>
                    </a:p>
                    <a:p>
                      <a:pPr indent="0" lvl="0" marL="0" marR="0" rtl="0" algn="just">
                        <a:lnSpc>
                          <a:spcPct val="100000"/>
                        </a:lnSpc>
                        <a:spcBef>
                          <a:spcPts val="1200"/>
                        </a:spcBef>
                        <a:spcAft>
                          <a:spcPts val="0"/>
                        </a:spcAft>
                        <a:buNone/>
                      </a:pPr>
                      <a:r>
                        <a:rPr lang="es" sz="1900"/>
                        <a:t>Output layer.</a:t>
                      </a:r>
                      <a:endParaRPr sz="1900"/>
                    </a:p>
                    <a:p>
                      <a:pPr indent="0" lvl="0" marL="0" marR="0" rtl="0" algn="just">
                        <a:lnSpc>
                          <a:spcPct val="100000"/>
                        </a:lnSpc>
                        <a:spcBef>
                          <a:spcPts val="1200"/>
                        </a:spcBef>
                        <a:spcAft>
                          <a:spcPts val="1200"/>
                        </a:spcAft>
                        <a:buNone/>
                      </a:pPr>
                      <a:r>
                        <a:rPr lang="es" sz="1900"/>
                        <a:t>Función de coste.</a:t>
                      </a:r>
                      <a:endParaRPr sz="1900"/>
                    </a:p>
                  </a:txBody>
                  <a:tcPr marT="91425" marB="91425" marR="91425" marL="91425"/>
                </a:tc>
                <a:tc>
                  <a:txBody>
                    <a:bodyPr/>
                    <a:lstStyle/>
                    <a:p>
                      <a:pPr indent="0" lvl="0" marL="0" rtl="0" algn="just">
                        <a:spcBef>
                          <a:spcPts val="0"/>
                        </a:spcBef>
                        <a:spcAft>
                          <a:spcPts val="0"/>
                        </a:spcAft>
                        <a:buNone/>
                      </a:pPr>
                      <a:r>
                        <a:rPr lang="es" sz="1900"/>
                        <a:t>Loss function.</a:t>
                      </a:r>
                      <a:endParaRPr sz="1900"/>
                    </a:p>
                    <a:p>
                      <a:pPr indent="0" lvl="0" marL="0" marR="0" rtl="0" algn="just">
                        <a:lnSpc>
                          <a:spcPct val="100000"/>
                        </a:lnSpc>
                        <a:spcBef>
                          <a:spcPts val="1200"/>
                        </a:spcBef>
                        <a:spcAft>
                          <a:spcPts val="0"/>
                        </a:spcAft>
                        <a:buNone/>
                      </a:pPr>
                      <a:r>
                        <a:rPr lang="es" sz="1900"/>
                        <a:t>Mean Squared Error (MSE)</a:t>
                      </a:r>
                      <a:endParaRPr sz="1900"/>
                    </a:p>
                    <a:p>
                      <a:pPr indent="0" lvl="0" marL="0" marR="0" rtl="0" algn="just">
                        <a:lnSpc>
                          <a:spcPct val="100000"/>
                        </a:lnSpc>
                        <a:spcBef>
                          <a:spcPts val="1200"/>
                        </a:spcBef>
                        <a:spcAft>
                          <a:spcPts val="0"/>
                        </a:spcAft>
                        <a:buNone/>
                      </a:pPr>
                      <a:r>
                        <a:rPr lang="es" sz="1900"/>
                        <a:t>Cross-entropy loss.</a:t>
                      </a:r>
                      <a:endParaRPr sz="1900"/>
                    </a:p>
                    <a:p>
                      <a:pPr indent="0" lvl="0" marL="0" marR="0" rtl="0" algn="just">
                        <a:lnSpc>
                          <a:spcPct val="100000"/>
                        </a:lnSpc>
                        <a:spcBef>
                          <a:spcPts val="1200"/>
                        </a:spcBef>
                        <a:spcAft>
                          <a:spcPts val="0"/>
                        </a:spcAft>
                        <a:buNone/>
                      </a:pPr>
                      <a:r>
                        <a:rPr lang="es" sz="1900"/>
                        <a:t>Gradient descent.</a:t>
                      </a:r>
                      <a:endParaRPr sz="1900"/>
                    </a:p>
                    <a:p>
                      <a:pPr indent="0" lvl="0" marL="0" rtl="0" algn="just">
                        <a:spcBef>
                          <a:spcPts val="1200"/>
                        </a:spcBef>
                        <a:spcAft>
                          <a:spcPts val="1200"/>
                        </a:spcAft>
                        <a:buNone/>
                      </a:pPr>
                      <a:r>
                        <a:rPr lang="es" sz="1900"/>
                        <a:t>L</a:t>
                      </a:r>
                      <a:r>
                        <a:rPr lang="es" sz="1900"/>
                        <a:t>earning rate</a:t>
                      </a:r>
                      <a:endParaRPr sz="1900"/>
                    </a:p>
                  </a:txBody>
                  <a:tcPr marT="91425" marB="91425" marR="91425" marL="91425"/>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45"/>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3</a:t>
            </a:r>
            <a:r>
              <a:rPr lang="es"/>
              <a:t>.   </a:t>
            </a:r>
            <a:r>
              <a:rPr lang="es"/>
              <a:t>Stochastic Gradient Descent (SGD)</a:t>
            </a:r>
            <a:endParaRPr b="0" sz="2100">
              <a:solidFill>
                <a:schemeClr val="accent1"/>
              </a:solidFill>
              <a:latin typeface="Lato"/>
              <a:ea typeface="Lato"/>
              <a:cs typeface="Lato"/>
              <a:sym typeface="Lato"/>
            </a:endParaRPr>
          </a:p>
          <a:p>
            <a:pPr indent="0" lvl="0" marL="0" rtl="0" algn="l">
              <a:spcBef>
                <a:spcPts val="0"/>
              </a:spcBef>
              <a:spcAft>
                <a:spcPts val="0"/>
              </a:spcAft>
              <a:buNone/>
            </a:pPr>
            <a:r>
              <a:t/>
            </a:r>
            <a:endParaRPr/>
          </a:p>
        </p:txBody>
      </p:sp>
      <p:sp>
        <p:nvSpPr>
          <p:cNvPr id="327" name="Google Shape;327;p4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328" name="Google Shape;328;p45"/>
          <p:cNvSpPr txBox="1"/>
          <p:nvPr/>
        </p:nvSpPr>
        <p:spPr>
          <a:xfrm>
            <a:off x="454500" y="1321650"/>
            <a:ext cx="8489100" cy="26781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None/>
            </a:pPr>
            <a:r>
              <a:rPr lang="es" sz="1900"/>
              <a:t>En la práctica, una red neuronal no se entrena calculando el gradiente completo, sino una estimación del mismo obtenido con una muestra aleatoria de training examples.</a:t>
            </a:r>
            <a:endParaRPr sz="1900"/>
          </a:p>
          <a:p>
            <a:pPr indent="0" lvl="0" marL="0" marR="0" rtl="0" algn="just">
              <a:lnSpc>
                <a:spcPct val="100000"/>
              </a:lnSpc>
              <a:spcBef>
                <a:spcPts val="1200"/>
              </a:spcBef>
              <a:spcAft>
                <a:spcPts val="1200"/>
              </a:spcAft>
              <a:buNone/>
            </a:pPr>
            <a:r>
              <a:rPr lang="es" sz="1900"/>
              <a:t>En vez del gradiente completo, hacemos una media de gradientes a partir de una pequeña muestra de ejemplos, por ejemplo 128, lo cual es una gran diferencia para datasets con miles o millones de puntos. Podemos pensar en ello como una especie de </a:t>
            </a:r>
            <a:r>
              <a:rPr b="1" lang="es" sz="1900"/>
              <a:t>encuesta electoral</a:t>
            </a:r>
            <a:r>
              <a:rPr lang="es" sz="1900"/>
              <a:t> donde nos hacemos una idea del valor del gradiente.</a:t>
            </a:r>
            <a:endParaRPr sz="19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46"/>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3.   Stochastic Gradient Descent (SGD)</a:t>
            </a:r>
            <a:endParaRPr b="0" sz="2100">
              <a:solidFill>
                <a:schemeClr val="accent1"/>
              </a:solidFill>
              <a:latin typeface="Lato"/>
              <a:ea typeface="Lato"/>
              <a:cs typeface="Lato"/>
              <a:sym typeface="Lato"/>
            </a:endParaRPr>
          </a:p>
          <a:p>
            <a:pPr indent="0" lvl="0" marL="0" rtl="0" algn="l">
              <a:spcBef>
                <a:spcPts val="0"/>
              </a:spcBef>
              <a:spcAft>
                <a:spcPts val="0"/>
              </a:spcAft>
              <a:buNone/>
            </a:pPr>
            <a:r>
              <a:t/>
            </a:r>
            <a:endParaRPr/>
          </a:p>
        </p:txBody>
      </p:sp>
      <p:sp>
        <p:nvSpPr>
          <p:cNvPr id="334" name="Google Shape;334;p4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335" name="Google Shape;335;p46"/>
          <p:cNvSpPr txBox="1"/>
          <p:nvPr/>
        </p:nvSpPr>
        <p:spPr>
          <a:xfrm>
            <a:off x="454500" y="1321650"/>
            <a:ext cx="8489100" cy="26937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None/>
            </a:pPr>
            <a:r>
              <a:rPr lang="es" sz="1900"/>
              <a:t>Elegimos </a:t>
            </a:r>
            <a:r>
              <a:rPr b="1" lang="es" sz="1900"/>
              <a:t>m </a:t>
            </a:r>
            <a:r>
              <a:rPr lang="es" sz="1900"/>
              <a:t>examples del dataset: X1, X2, … , Xm. Este conjunto de </a:t>
            </a:r>
            <a:r>
              <a:rPr b="1" lang="es" sz="1900"/>
              <a:t>m </a:t>
            </a:r>
            <a:r>
              <a:rPr lang="es" sz="1900"/>
              <a:t>puntos se denomina batch o mini-batch.</a:t>
            </a:r>
            <a:endParaRPr sz="1900"/>
          </a:p>
          <a:p>
            <a:pPr indent="0" lvl="0" marL="0" marR="0" rtl="0" algn="just">
              <a:lnSpc>
                <a:spcPct val="100000"/>
              </a:lnSpc>
              <a:spcBef>
                <a:spcPts val="1200"/>
              </a:spcBef>
              <a:spcAft>
                <a:spcPts val="0"/>
              </a:spcAft>
              <a:buNone/>
            </a:pPr>
            <a:r>
              <a:rPr lang="es" sz="1900"/>
              <a:t>Tamaños comunes para una mini-batch: 16, 32, 64, 128, 256, 512… A valores mayores, mejor aproximación, pero más operaciones. (Como de grandes son mis </a:t>
            </a:r>
            <a:r>
              <a:rPr lang="es" sz="1900"/>
              <a:t>encuestas</a:t>
            </a:r>
            <a:r>
              <a:rPr lang="es" sz="1900"/>
              <a:t>)</a:t>
            </a:r>
            <a:endParaRPr sz="1900"/>
          </a:p>
          <a:p>
            <a:pPr indent="0" lvl="0" marL="0" marR="0" rtl="0" algn="just">
              <a:lnSpc>
                <a:spcPct val="100000"/>
              </a:lnSpc>
              <a:spcBef>
                <a:spcPts val="1200"/>
              </a:spcBef>
              <a:spcAft>
                <a:spcPts val="0"/>
              </a:spcAft>
              <a:buNone/>
            </a:pPr>
            <a:r>
              <a:t/>
            </a:r>
            <a:endParaRPr sz="1900"/>
          </a:p>
          <a:p>
            <a:pPr indent="0" lvl="0" marL="0" marR="0" rtl="0" algn="just">
              <a:lnSpc>
                <a:spcPct val="100000"/>
              </a:lnSpc>
              <a:spcBef>
                <a:spcPts val="1200"/>
              </a:spcBef>
              <a:spcAft>
                <a:spcPts val="1200"/>
              </a:spcAft>
              <a:buNone/>
            </a:pPr>
            <a:r>
              <a:rPr b="1" lang="es" sz="1900"/>
              <a:t>                          ¿ Por qué hacemos más operaciones ?</a:t>
            </a:r>
            <a:endParaRPr b="1" sz="19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47"/>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3.   Stochastic Gradient Descent (SGD)</a:t>
            </a:r>
            <a:endParaRPr b="0" sz="2100">
              <a:solidFill>
                <a:schemeClr val="accent1"/>
              </a:solidFill>
              <a:latin typeface="Lato"/>
              <a:ea typeface="Lato"/>
              <a:cs typeface="Lato"/>
              <a:sym typeface="Lato"/>
            </a:endParaRPr>
          </a:p>
          <a:p>
            <a:pPr indent="0" lvl="0" marL="0" rtl="0" algn="l">
              <a:spcBef>
                <a:spcPts val="0"/>
              </a:spcBef>
              <a:spcAft>
                <a:spcPts val="0"/>
              </a:spcAft>
              <a:buNone/>
            </a:pPr>
            <a:r>
              <a:t/>
            </a:r>
            <a:endParaRPr/>
          </a:p>
        </p:txBody>
      </p:sp>
      <p:sp>
        <p:nvSpPr>
          <p:cNvPr id="341" name="Google Shape;341;p4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342" name="Google Shape;342;p47"/>
          <p:cNvSpPr txBox="1"/>
          <p:nvPr/>
        </p:nvSpPr>
        <p:spPr>
          <a:xfrm>
            <a:off x="454500" y="1321650"/>
            <a:ext cx="8489100" cy="10620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1200"/>
              </a:spcAft>
              <a:buNone/>
            </a:pPr>
            <a:r>
              <a:rPr lang="es" sz="1900"/>
              <a:t>El entrenamiento ocurre </a:t>
            </a:r>
            <a:r>
              <a:rPr b="1" lang="es" sz="1900"/>
              <a:t>batch </a:t>
            </a:r>
            <a:r>
              <a:rPr lang="es" sz="1900"/>
              <a:t>a </a:t>
            </a:r>
            <a:r>
              <a:rPr b="1" lang="es" sz="1900"/>
              <a:t>batch </a:t>
            </a:r>
            <a:r>
              <a:rPr lang="es" sz="1900"/>
              <a:t>(elegidas aleatoriamente) hasta completar todos los elementos del dataset. Cuando hemos utilizado todos los valores del dataset en </a:t>
            </a:r>
            <a:r>
              <a:rPr b="1" lang="es" sz="1900"/>
              <a:t>batches</a:t>
            </a:r>
            <a:r>
              <a:rPr lang="es" sz="1900"/>
              <a:t>, decimos que hemos entrenado una epoch.</a:t>
            </a:r>
            <a:endParaRPr sz="1900"/>
          </a:p>
        </p:txBody>
      </p:sp>
      <p:pic>
        <p:nvPicPr>
          <p:cNvPr id="343" name="Google Shape;343;p47"/>
          <p:cNvPicPr preferRelativeResize="0"/>
          <p:nvPr/>
        </p:nvPicPr>
        <p:blipFill>
          <a:blip r:embed="rId3">
            <a:alphaModFix/>
          </a:blip>
          <a:stretch>
            <a:fillRect/>
          </a:stretch>
        </p:blipFill>
        <p:spPr>
          <a:xfrm>
            <a:off x="152400" y="2536050"/>
            <a:ext cx="8489100" cy="1732836"/>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48"/>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3.   Stochastic Gradient Descent (SGD)</a:t>
            </a:r>
            <a:endParaRPr b="0" sz="2100">
              <a:solidFill>
                <a:schemeClr val="accent1"/>
              </a:solidFill>
              <a:latin typeface="Lato"/>
              <a:ea typeface="Lato"/>
              <a:cs typeface="Lato"/>
              <a:sym typeface="Lato"/>
            </a:endParaRPr>
          </a:p>
          <a:p>
            <a:pPr indent="0" lvl="0" marL="0" rtl="0" algn="l">
              <a:spcBef>
                <a:spcPts val="0"/>
              </a:spcBef>
              <a:spcAft>
                <a:spcPts val="0"/>
              </a:spcAft>
              <a:buNone/>
            </a:pPr>
            <a:r>
              <a:t/>
            </a:r>
            <a:endParaRPr/>
          </a:p>
        </p:txBody>
      </p:sp>
      <p:sp>
        <p:nvSpPr>
          <p:cNvPr id="349" name="Google Shape;349;p4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350" name="Google Shape;350;p48"/>
          <p:cNvSpPr txBox="1"/>
          <p:nvPr/>
        </p:nvSpPr>
        <p:spPr>
          <a:xfrm>
            <a:off x="454500" y="1321650"/>
            <a:ext cx="8489100" cy="22473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None/>
            </a:pPr>
            <a:r>
              <a:rPr lang="es" sz="1900"/>
              <a:t>Ejemplo: </a:t>
            </a:r>
            <a:endParaRPr sz="1900"/>
          </a:p>
          <a:p>
            <a:pPr indent="-349250" lvl="0" marL="457200" marR="0" rtl="0" algn="just">
              <a:lnSpc>
                <a:spcPct val="100000"/>
              </a:lnSpc>
              <a:spcBef>
                <a:spcPts val="1200"/>
              </a:spcBef>
              <a:spcAft>
                <a:spcPts val="0"/>
              </a:spcAft>
              <a:buSzPts val="1900"/>
              <a:buAutoNum type="alphaLcParenR"/>
            </a:pPr>
            <a:r>
              <a:rPr lang="es" sz="1900"/>
              <a:t>Un dataset de 10.240  elementos con un mini-batch de 512. ¿Cuantos ajustes de gradientes realizaremos por cada </a:t>
            </a:r>
            <a:r>
              <a:rPr lang="es" sz="1900"/>
              <a:t>época</a:t>
            </a:r>
            <a:r>
              <a:rPr lang="es" sz="1900"/>
              <a:t> ?</a:t>
            </a:r>
            <a:endParaRPr sz="1900"/>
          </a:p>
          <a:p>
            <a:pPr indent="-349250" lvl="0" marL="457200" marR="0" rtl="0" algn="just">
              <a:lnSpc>
                <a:spcPct val="100000"/>
              </a:lnSpc>
              <a:spcBef>
                <a:spcPts val="0"/>
              </a:spcBef>
              <a:spcAft>
                <a:spcPts val="0"/>
              </a:spcAft>
              <a:buSzPts val="1900"/>
              <a:buAutoNum type="alphaLcParenR"/>
            </a:pPr>
            <a:r>
              <a:rPr lang="es" sz="1900"/>
              <a:t>Y </a:t>
            </a:r>
            <a:r>
              <a:rPr lang="es" sz="1900"/>
              <a:t>si no</a:t>
            </a:r>
            <a:r>
              <a:rPr lang="es" sz="1900"/>
              <a:t> </a:t>
            </a:r>
            <a:r>
              <a:rPr lang="es" sz="1900"/>
              <a:t>utilizáramos</a:t>
            </a:r>
            <a:r>
              <a:rPr lang="es" sz="1900"/>
              <a:t> SGD. </a:t>
            </a:r>
            <a:r>
              <a:rPr lang="es" sz="1900"/>
              <a:t>¿Cuántos ajustes de gradientes realizaremos por cada época ?</a:t>
            </a:r>
            <a:endParaRPr sz="1900"/>
          </a:p>
          <a:p>
            <a:pPr indent="0" lvl="0" marL="0" marR="0" rtl="0" algn="just">
              <a:lnSpc>
                <a:spcPct val="100000"/>
              </a:lnSpc>
              <a:spcBef>
                <a:spcPts val="1200"/>
              </a:spcBef>
              <a:spcAft>
                <a:spcPts val="1200"/>
              </a:spcAft>
              <a:buNone/>
            </a:pPr>
            <a:r>
              <a:t/>
            </a:r>
            <a:endParaRPr sz="19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49"/>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3.   Stochastic Gradient Descent (SGD)</a:t>
            </a:r>
            <a:endParaRPr b="0" sz="2100">
              <a:solidFill>
                <a:schemeClr val="accent1"/>
              </a:solidFill>
              <a:latin typeface="Lato"/>
              <a:ea typeface="Lato"/>
              <a:cs typeface="Lato"/>
              <a:sym typeface="Lato"/>
            </a:endParaRPr>
          </a:p>
          <a:p>
            <a:pPr indent="0" lvl="0" marL="0" rtl="0" algn="l">
              <a:spcBef>
                <a:spcPts val="0"/>
              </a:spcBef>
              <a:spcAft>
                <a:spcPts val="0"/>
              </a:spcAft>
              <a:buNone/>
            </a:pPr>
            <a:r>
              <a:t/>
            </a:r>
            <a:endParaRPr/>
          </a:p>
        </p:txBody>
      </p:sp>
      <p:sp>
        <p:nvSpPr>
          <p:cNvPr id="356" name="Google Shape;356;p4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357" name="Google Shape;357;p49"/>
          <p:cNvSpPr txBox="1"/>
          <p:nvPr/>
        </p:nvSpPr>
        <p:spPr>
          <a:xfrm>
            <a:off x="454500" y="1321650"/>
            <a:ext cx="8081700" cy="12159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None/>
            </a:pPr>
            <a:r>
              <a:rPr lang="es" sz="1900"/>
              <a:t>¿ Cuál es el máximo número de elementos en el conjunto de entrenamiento   ? </a:t>
            </a:r>
            <a:endParaRPr sz="1900"/>
          </a:p>
          <a:p>
            <a:pPr indent="0" lvl="0" marL="0" marR="0" rtl="0" algn="just">
              <a:lnSpc>
                <a:spcPct val="100000"/>
              </a:lnSpc>
              <a:spcBef>
                <a:spcPts val="1200"/>
              </a:spcBef>
              <a:spcAft>
                <a:spcPts val="1200"/>
              </a:spcAft>
              <a:buNone/>
            </a:pPr>
            <a:r>
              <a:t/>
            </a:r>
            <a:endParaRPr sz="1900"/>
          </a:p>
        </p:txBody>
      </p:sp>
      <p:pic>
        <p:nvPicPr>
          <p:cNvPr id="358" name="Google Shape;358;p49"/>
          <p:cNvPicPr preferRelativeResize="0"/>
          <p:nvPr/>
        </p:nvPicPr>
        <p:blipFill>
          <a:blip r:embed="rId3">
            <a:alphaModFix/>
          </a:blip>
          <a:stretch>
            <a:fillRect/>
          </a:stretch>
        </p:blipFill>
        <p:spPr>
          <a:xfrm>
            <a:off x="621625" y="2184625"/>
            <a:ext cx="8320200" cy="21677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50"/>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4.  Laboratorio</a:t>
            </a:r>
            <a:endParaRPr b="0" sz="2100">
              <a:solidFill>
                <a:schemeClr val="accent1"/>
              </a:solidFill>
              <a:latin typeface="Lato"/>
              <a:ea typeface="Lato"/>
              <a:cs typeface="Lato"/>
              <a:sym typeface="Lato"/>
            </a:endParaRPr>
          </a:p>
          <a:p>
            <a:pPr indent="0" lvl="0" marL="0" rtl="0" algn="l">
              <a:spcBef>
                <a:spcPts val="0"/>
              </a:spcBef>
              <a:spcAft>
                <a:spcPts val="0"/>
              </a:spcAft>
              <a:buNone/>
            </a:pPr>
            <a:r>
              <a:t/>
            </a:r>
            <a:endParaRPr/>
          </a:p>
        </p:txBody>
      </p:sp>
      <p:sp>
        <p:nvSpPr>
          <p:cNvPr id="364" name="Google Shape;364;p5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365" name="Google Shape;365;p50"/>
          <p:cNvSpPr txBox="1"/>
          <p:nvPr/>
        </p:nvSpPr>
        <p:spPr>
          <a:xfrm>
            <a:off x="421075" y="1293325"/>
            <a:ext cx="8489100" cy="29862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None/>
            </a:pPr>
            <a:r>
              <a:rPr lang="es" sz="1900"/>
              <a:t>Normalmente al entrenar una red neuronal dividimos los datos en </a:t>
            </a:r>
            <a:r>
              <a:rPr b="1" lang="es" sz="1900"/>
              <a:t>training data</a:t>
            </a:r>
            <a:r>
              <a:rPr lang="es" sz="1900"/>
              <a:t> y </a:t>
            </a:r>
            <a:r>
              <a:rPr b="1" lang="es" sz="1900"/>
              <a:t>validation data</a:t>
            </a:r>
            <a:r>
              <a:rPr lang="es" sz="1900"/>
              <a:t>.</a:t>
            </a:r>
            <a:endParaRPr sz="1900"/>
          </a:p>
          <a:p>
            <a:pPr indent="0" lvl="0" marL="0" marR="0" rtl="0" algn="just">
              <a:lnSpc>
                <a:spcPct val="100000"/>
              </a:lnSpc>
              <a:spcBef>
                <a:spcPts val="1200"/>
              </a:spcBef>
              <a:spcAft>
                <a:spcPts val="0"/>
              </a:spcAft>
              <a:buNone/>
            </a:pPr>
            <a:r>
              <a:rPr lang="es" sz="1900"/>
              <a:t>Los test data los utilizaremos para tunear los hiperparámetros a partir de la estimación final de las </a:t>
            </a:r>
            <a:r>
              <a:rPr lang="es" sz="1900"/>
              <a:t>métricas</a:t>
            </a:r>
            <a:r>
              <a:rPr lang="es" sz="1900"/>
              <a:t> de nuestro modelo.</a:t>
            </a:r>
            <a:endParaRPr sz="1900"/>
          </a:p>
          <a:p>
            <a:pPr indent="0" lvl="0" marL="0" marR="0" rtl="0" algn="just">
              <a:lnSpc>
                <a:spcPct val="100000"/>
              </a:lnSpc>
              <a:spcBef>
                <a:spcPts val="1200"/>
              </a:spcBef>
              <a:spcAft>
                <a:spcPts val="0"/>
              </a:spcAft>
              <a:buNone/>
            </a:pPr>
            <a:r>
              <a:rPr lang="es" sz="1900"/>
              <a:t>Generalmente:</a:t>
            </a:r>
            <a:endParaRPr sz="1900"/>
          </a:p>
          <a:p>
            <a:pPr indent="-349250" lvl="0" marL="457200" marR="0" rtl="0" algn="just">
              <a:lnSpc>
                <a:spcPct val="100000"/>
              </a:lnSpc>
              <a:spcBef>
                <a:spcPts val="1200"/>
              </a:spcBef>
              <a:spcAft>
                <a:spcPts val="0"/>
              </a:spcAft>
              <a:buSzPts val="1900"/>
              <a:buChar char="-"/>
            </a:pPr>
            <a:r>
              <a:rPr lang="es" sz="1900"/>
              <a:t>70 % Train.</a:t>
            </a:r>
            <a:endParaRPr sz="1900"/>
          </a:p>
          <a:p>
            <a:pPr indent="-349250" lvl="0" marL="457200" marR="0" rtl="0" algn="just">
              <a:lnSpc>
                <a:spcPct val="100000"/>
              </a:lnSpc>
              <a:spcBef>
                <a:spcPts val="0"/>
              </a:spcBef>
              <a:spcAft>
                <a:spcPts val="0"/>
              </a:spcAft>
              <a:buSzPts val="1900"/>
              <a:buChar char="-"/>
            </a:pPr>
            <a:r>
              <a:rPr lang="es" sz="1900"/>
              <a:t>20 % Validation.</a:t>
            </a:r>
            <a:endParaRPr sz="1900"/>
          </a:p>
          <a:p>
            <a:pPr indent="-349250" lvl="0" marL="457200" marR="0" rtl="0" algn="just">
              <a:lnSpc>
                <a:spcPct val="100000"/>
              </a:lnSpc>
              <a:spcBef>
                <a:spcPts val="0"/>
              </a:spcBef>
              <a:spcAft>
                <a:spcPts val="0"/>
              </a:spcAft>
              <a:buSzPts val="1900"/>
              <a:buChar char="-"/>
            </a:pPr>
            <a:r>
              <a:rPr lang="es" sz="1900"/>
              <a:t>10 % Test.</a:t>
            </a:r>
            <a:endParaRPr sz="19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51"/>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4.  Laboratorio</a:t>
            </a:r>
            <a:endParaRPr b="0" sz="2100">
              <a:solidFill>
                <a:schemeClr val="accent1"/>
              </a:solidFill>
              <a:latin typeface="Lato"/>
              <a:ea typeface="Lato"/>
              <a:cs typeface="Lato"/>
              <a:sym typeface="Lato"/>
            </a:endParaRPr>
          </a:p>
          <a:p>
            <a:pPr indent="0" lvl="0" marL="0" rtl="0" algn="l">
              <a:spcBef>
                <a:spcPts val="0"/>
              </a:spcBef>
              <a:spcAft>
                <a:spcPts val="0"/>
              </a:spcAft>
              <a:buNone/>
            </a:pPr>
            <a:r>
              <a:t/>
            </a:r>
            <a:endParaRPr/>
          </a:p>
        </p:txBody>
      </p:sp>
      <p:sp>
        <p:nvSpPr>
          <p:cNvPr id="371" name="Google Shape;371;p5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372" name="Google Shape;372;p51"/>
          <p:cNvSpPr txBox="1"/>
          <p:nvPr/>
        </p:nvSpPr>
        <p:spPr>
          <a:xfrm>
            <a:off x="421075" y="1293325"/>
            <a:ext cx="8489100" cy="7695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1200"/>
              </a:spcAft>
              <a:buNone/>
            </a:pPr>
            <a:r>
              <a:rPr lang="es" sz="1900"/>
              <a:t>Durante el entrenamiento es muy importante seguir las </a:t>
            </a:r>
            <a:r>
              <a:rPr lang="es" sz="1900"/>
              <a:t>métricas</a:t>
            </a:r>
            <a:r>
              <a:rPr lang="es" sz="1900"/>
              <a:t>, en especial la </a:t>
            </a:r>
            <a:r>
              <a:rPr b="1" i="1" lang="es" sz="1900"/>
              <a:t>loss</a:t>
            </a:r>
            <a:r>
              <a:rPr i="1" lang="es" sz="1900"/>
              <a:t>, </a:t>
            </a:r>
            <a:r>
              <a:rPr lang="es" sz="1900"/>
              <a:t>para verificar que todo es correcto</a:t>
            </a:r>
            <a:r>
              <a:rPr i="1" lang="es" sz="1900"/>
              <a:t>.</a:t>
            </a:r>
            <a:endParaRPr i="1" sz="1900"/>
          </a:p>
        </p:txBody>
      </p:sp>
      <p:pic>
        <p:nvPicPr>
          <p:cNvPr id="373" name="Google Shape;373;p51"/>
          <p:cNvPicPr preferRelativeResize="0"/>
          <p:nvPr/>
        </p:nvPicPr>
        <p:blipFill>
          <a:blip r:embed="rId3">
            <a:alphaModFix/>
          </a:blip>
          <a:stretch>
            <a:fillRect/>
          </a:stretch>
        </p:blipFill>
        <p:spPr>
          <a:xfrm>
            <a:off x="2741231" y="2062825"/>
            <a:ext cx="2720020" cy="249832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52"/>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4.  Laboratorio</a:t>
            </a:r>
            <a:endParaRPr b="0" sz="2100">
              <a:solidFill>
                <a:schemeClr val="accent1"/>
              </a:solidFill>
              <a:latin typeface="Lato"/>
              <a:ea typeface="Lato"/>
              <a:cs typeface="Lato"/>
              <a:sym typeface="Lato"/>
            </a:endParaRPr>
          </a:p>
          <a:p>
            <a:pPr indent="0" lvl="0" marL="0" rtl="0" algn="l">
              <a:spcBef>
                <a:spcPts val="0"/>
              </a:spcBef>
              <a:spcAft>
                <a:spcPts val="0"/>
              </a:spcAft>
              <a:buNone/>
            </a:pPr>
            <a:r>
              <a:t/>
            </a:r>
            <a:endParaRPr/>
          </a:p>
        </p:txBody>
      </p:sp>
      <p:sp>
        <p:nvSpPr>
          <p:cNvPr id="379" name="Google Shape;379;p5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380" name="Google Shape;380;p52"/>
          <p:cNvSpPr txBox="1"/>
          <p:nvPr/>
        </p:nvSpPr>
        <p:spPr>
          <a:xfrm>
            <a:off x="421075" y="1293325"/>
            <a:ext cx="8489100" cy="4770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1200"/>
              </a:spcAft>
              <a:buNone/>
            </a:pPr>
            <a:r>
              <a:rPr lang="es" sz="1900"/>
              <a:t>Si tenemos una learning rate baja. Necesita muchas Epoch (Bien escaso)</a:t>
            </a:r>
            <a:endParaRPr i="1" sz="1900"/>
          </a:p>
        </p:txBody>
      </p:sp>
      <p:pic>
        <p:nvPicPr>
          <p:cNvPr id="381" name="Google Shape;381;p52"/>
          <p:cNvPicPr preferRelativeResize="0"/>
          <p:nvPr/>
        </p:nvPicPr>
        <p:blipFill>
          <a:blip r:embed="rId3">
            <a:alphaModFix/>
          </a:blip>
          <a:stretch>
            <a:fillRect/>
          </a:stretch>
        </p:blipFill>
        <p:spPr>
          <a:xfrm>
            <a:off x="205100" y="1831925"/>
            <a:ext cx="8733799" cy="2674726"/>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53"/>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4.  Laboratorio</a:t>
            </a:r>
            <a:endParaRPr b="0" sz="2100">
              <a:solidFill>
                <a:schemeClr val="accent1"/>
              </a:solidFill>
              <a:latin typeface="Lato"/>
              <a:ea typeface="Lato"/>
              <a:cs typeface="Lato"/>
              <a:sym typeface="Lato"/>
            </a:endParaRPr>
          </a:p>
          <a:p>
            <a:pPr indent="0" lvl="0" marL="0" rtl="0" algn="l">
              <a:spcBef>
                <a:spcPts val="0"/>
              </a:spcBef>
              <a:spcAft>
                <a:spcPts val="0"/>
              </a:spcAft>
              <a:buNone/>
            </a:pPr>
            <a:r>
              <a:t/>
            </a:r>
            <a:endParaRPr/>
          </a:p>
        </p:txBody>
      </p:sp>
      <p:sp>
        <p:nvSpPr>
          <p:cNvPr id="387" name="Google Shape;387;p5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388" name="Google Shape;388;p53"/>
          <p:cNvSpPr txBox="1"/>
          <p:nvPr/>
        </p:nvSpPr>
        <p:spPr>
          <a:xfrm>
            <a:off x="421075" y="1293325"/>
            <a:ext cx="8489100" cy="4770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1200"/>
              </a:spcAft>
              <a:buNone/>
            </a:pPr>
            <a:r>
              <a:rPr lang="es" sz="1900"/>
              <a:t>Si tenemos una learning rate alta. No llegamos a una solución </a:t>
            </a:r>
            <a:r>
              <a:rPr lang="es" sz="1900"/>
              <a:t>óptima</a:t>
            </a:r>
            <a:r>
              <a:rPr lang="es" sz="1900"/>
              <a:t>.</a:t>
            </a:r>
            <a:endParaRPr i="1" sz="1900"/>
          </a:p>
        </p:txBody>
      </p:sp>
      <p:pic>
        <p:nvPicPr>
          <p:cNvPr id="389" name="Google Shape;389;p53"/>
          <p:cNvPicPr preferRelativeResize="0"/>
          <p:nvPr/>
        </p:nvPicPr>
        <p:blipFill>
          <a:blip r:embed="rId3">
            <a:alphaModFix/>
          </a:blip>
          <a:stretch>
            <a:fillRect/>
          </a:stretch>
        </p:blipFill>
        <p:spPr>
          <a:xfrm>
            <a:off x="1118350" y="1922750"/>
            <a:ext cx="3238500" cy="2657475"/>
          </a:xfrm>
          <a:prstGeom prst="rect">
            <a:avLst/>
          </a:prstGeom>
          <a:noFill/>
          <a:ln>
            <a:noFill/>
          </a:ln>
        </p:spPr>
      </p:pic>
      <p:pic>
        <p:nvPicPr>
          <p:cNvPr id="390" name="Google Shape;390;p53"/>
          <p:cNvPicPr preferRelativeResize="0"/>
          <p:nvPr/>
        </p:nvPicPr>
        <p:blipFill>
          <a:blip r:embed="rId4">
            <a:alphaModFix/>
          </a:blip>
          <a:stretch>
            <a:fillRect/>
          </a:stretch>
        </p:blipFill>
        <p:spPr>
          <a:xfrm>
            <a:off x="5036725" y="1873250"/>
            <a:ext cx="2887977" cy="270697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54"/>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4.  Laboratorio</a:t>
            </a:r>
            <a:endParaRPr b="0" sz="2100">
              <a:solidFill>
                <a:schemeClr val="accent1"/>
              </a:solidFill>
              <a:latin typeface="Lato"/>
              <a:ea typeface="Lato"/>
              <a:cs typeface="Lato"/>
              <a:sym typeface="Lato"/>
            </a:endParaRPr>
          </a:p>
          <a:p>
            <a:pPr indent="0" lvl="0" marL="0" rtl="0" algn="l">
              <a:spcBef>
                <a:spcPts val="0"/>
              </a:spcBef>
              <a:spcAft>
                <a:spcPts val="0"/>
              </a:spcAft>
              <a:buNone/>
            </a:pPr>
            <a:r>
              <a:t/>
            </a:r>
            <a:endParaRPr/>
          </a:p>
        </p:txBody>
      </p:sp>
      <p:sp>
        <p:nvSpPr>
          <p:cNvPr id="396" name="Google Shape;396;p5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397" name="Google Shape;397;p54"/>
          <p:cNvSpPr txBox="1"/>
          <p:nvPr/>
        </p:nvSpPr>
        <p:spPr>
          <a:xfrm>
            <a:off x="421075" y="1293325"/>
            <a:ext cx="8489100" cy="7695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1200"/>
              </a:spcAft>
              <a:buNone/>
            </a:pPr>
            <a:r>
              <a:rPr lang="es" sz="1900"/>
              <a:t>Caso especial: Es muy probable que esto se deba a la </a:t>
            </a:r>
            <a:r>
              <a:rPr lang="es" sz="1900"/>
              <a:t>inicialización</a:t>
            </a:r>
            <a:r>
              <a:rPr lang="es" sz="1900"/>
              <a:t> de los </a:t>
            </a:r>
            <a:r>
              <a:rPr lang="es" sz="1900"/>
              <a:t>parámetros</a:t>
            </a:r>
            <a:r>
              <a:rPr lang="es" sz="1900"/>
              <a:t>. Lo veremos en la segunda parte del tema.</a:t>
            </a:r>
            <a:endParaRPr i="1" sz="1900"/>
          </a:p>
        </p:txBody>
      </p:sp>
      <p:pic>
        <p:nvPicPr>
          <p:cNvPr id="398" name="Google Shape;398;p54"/>
          <p:cNvPicPr preferRelativeResize="0"/>
          <p:nvPr/>
        </p:nvPicPr>
        <p:blipFill>
          <a:blip r:embed="rId3">
            <a:alphaModFix/>
          </a:blip>
          <a:stretch>
            <a:fillRect/>
          </a:stretch>
        </p:blipFill>
        <p:spPr>
          <a:xfrm>
            <a:off x="2642475" y="2220950"/>
            <a:ext cx="3013125" cy="2458075"/>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55"/>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4.  Laboratorio</a:t>
            </a:r>
            <a:endParaRPr b="0" sz="2100">
              <a:solidFill>
                <a:schemeClr val="accent1"/>
              </a:solidFill>
              <a:latin typeface="Lato"/>
              <a:ea typeface="Lato"/>
              <a:cs typeface="Lato"/>
              <a:sym typeface="Lato"/>
            </a:endParaRPr>
          </a:p>
          <a:p>
            <a:pPr indent="0" lvl="0" marL="0" rtl="0" algn="l">
              <a:spcBef>
                <a:spcPts val="0"/>
              </a:spcBef>
              <a:spcAft>
                <a:spcPts val="0"/>
              </a:spcAft>
              <a:buNone/>
            </a:pPr>
            <a:r>
              <a:t/>
            </a:r>
            <a:endParaRPr/>
          </a:p>
        </p:txBody>
      </p:sp>
      <p:sp>
        <p:nvSpPr>
          <p:cNvPr id="404" name="Google Shape;404;p5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405" name="Google Shape;405;p55"/>
          <p:cNvSpPr txBox="1"/>
          <p:nvPr/>
        </p:nvSpPr>
        <p:spPr>
          <a:xfrm>
            <a:off x="421075" y="1293325"/>
            <a:ext cx="8489100" cy="4770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1200"/>
              </a:spcAft>
              <a:buNone/>
            </a:pPr>
            <a:r>
              <a:rPr lang="es" sz="1900"/>
              <a:t>La función de </a:t>
            </a:r>
            <a:r>
              <a:rPr lang="es" sz="1900"/>
              <a:t>pérdida</a:t>
            </a:r>
            <a:r>
              <a:rPr lang="es" sz="1900"/>
              <a:t> ayuda al overfitting</a:t>
            </a:r>
            <a:endParaRPr i="1" sz="1900"/>
          </a:p>
        </p:txBody>
      </p:sp>
      <p:pic>
        <p:nvPicPr>
          <p:cNvPr id="406" name="Google Shape;406;p55"/>
          <p:cNvPicPr preferRelativeResize="0"/>
          <p:nvPr/>
        </p:nvPicPr>
        <p:blipFill>
          <a:blip r:embed="rId3">
            <a:alphaModFix/>
          </a:blip>
          <a:stretch>
            <a:fillRect/>
          </a:stretch>
        </p:blipFill>
        <p:spPr>
          <a:xfrm>
            <a:off x="532350" y="1840150"/>
            <a:ext cx="2654075" cy="2257950"/>
          </a:xfrm>
          <a:prstGeom prst="rect">
            <a:avLst/>
          </a:prstGeom>
          <a:noFill/>
          <a:ln>
            <a:noFill/>
          </a:ln>
        </p:spPr>
      </p:pic>
      <p:pic>
        <p:nvPicPr>
          <p:cNvPr id="407" name="Google Shape;407;p55"/>
          <p:cNvPicPr preferRelativeResize="0"/>
          <p:nvPr/>
        </p:nvPicPr>
        <p:blipFill>
          <a:blip r:embed="rId4">
            <a:alphaModFix/>
          </a:blip>
          <a:stretch>
            <a:fillRect/>
          </a:stretch>
        </p:blipFill>
        <p:spPr>
          <a:xfrm>
            <a:off x="3338575" y="1864550"/>
            <a:ext cx="2654075" cy="2209150"/>
          </a:xfrm>
          <a:prstGeom prst="rect">
            <a:avLst/>
          </a:prstGeom>
          <a:noFill/>
          <a:ln>
            <a:noFill/>
          </a:ln>
        </p:spPr>
      </p:pic>
      <p:pic>
        <p:nvPicPr>
          <p:cNvPr id="408" name="Google Shape;408;p55"/>
          <p:cNvPicPr preferRelativeResize="0"/>
          <p:nvPr/>
        </p:nvPicPr>
        <p:blipFill>
          <a:blip r:embed="rId5">
            <a:alphaModFix/>
          </a:blip>
          <a:stretch>
            <a:fillRect/>
          </a:stretch>
        </p:blipFill>
        <p:spPr>
          <a:xfrm>
            <a:off x="6299900" y="1864550"/>
            <a:ext cx="2410643" cy="220915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56"/>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4.  Laboratorio</a:t>
            </a:r>
            <a:endParaRPr b="0" sz="2100">
              <a:solidFill>
                <a:schemeClr val="accent1"/>
              </a:solidFill>
              <a:latin typeface="Lato"/>
              <a:ea typeface="Lato"/>
              <a:cs typeface="Lato"/>
              <a:sym typeface="Lato"/>
            </a:endParaRPr>
          </a:p>
          <a:p>
            <a:pPr indent="0" lvl="0" marL="0" rtl="0" algn="l">
              <a:spcBef>
                <a:spcPts val="0"/>
              </a:spcBef>
              <a:spcAft>
                <a:spcPts val="0"/>
              </a:spcAft>
              <a:buNone/>
            </a:pPr>
            <a:r>
              <a:t/>
            </a:r>
            <a:endParaRPr/>
          </a:p>
        </p:txBody>
      </p:sp>
      <p:sp>
        <p:nvSpPr>
          <p:cNvPr id="414" name="Google Shape;414;p5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415" name="Google Shape;415;p56"/>
          <p:cNvSpPr txBox="1"/>
          <p:nvPr/>
        </p:nvSpPr>
        <p:spPr>
          <a:xfrm>
            <a:off x="421075" y="1293325"/>
            <a:ext cx="8489100" cy="4770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1200"/>
              </a:spcAft>
              <a:buNone/>
            </a:pPr>
            <a:r>
              <a:rPr lang="es" sz="1900"/>
              <a:t>Por último si se solapan nos quiere decir que hacen falta más capas.</a:t>
            </a:r>
            <a:endParaRPr i="1" sz="1900"/>
          </a:p>
        </p:txBody>
      </p:sp>
      <p:pic>
        <p:nvPicPr>
          <p:cNvPr id="416" name="Google Shape;416;p56"/>
          <p:cNvPicPr preferRelativeResize="0"/>
          <p:nvPr/>
        </p:nvPicPr>
        <p:blipFill>
          <a:blip r:embed="rId3">
            <a:alphaModFix/>
          </a:blip>
          <a:stretch>
            <a:fillRect/>
          </a:stretch>
        </p:blipFill>
        <p:spPr>
          <a:xfrm>
            <a:off x="2593675" y="1823650"/>
            <a:ext cx="2964775" cy="264450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57"/>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4.  Laboratorio</a:t>
            </a:r>
            <a:endParaRPr b="0" sz="2100">
              <a:solidFill>
                <a:schemeClr val="accent1"/>
              </a:solidFill>
              <a:latin typeface="Lato"/>
              <a:ea typeface="Lato"/>
              <a:cs typeface="Lato"/>
              <a:sym typeface="Lato"/>
            </a:endParaRPr>
          </a:p>
          <a:p>
            <a:pPr indent="0" lvl="0" marL="0" rtl="0" algn="l">
              <a:spcBef>
                <a:spcPts val="0"/>
              </a:spcBef>
              <a:spcAft>
                <a:spcPts val="0"/>
              </a:spcAft>
              <a:buNone/>
            </a:pPr>
            <a:r>
              <a:t/>
            </a:r>
            <a:endParaRPr/>
          </a:p>
        </p:txBody>
      </p:sp>
      <p:sp>
        <p:nvSpPr>
          <p:cNvPr id="422" name="Google Shape;422;p5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423" name="Google Shape;423;p57"/>
          <p:cNvSpPr txBox="1"/>
          <p:nvPr/>
        </p:nvSpPr>
        <p:spPr>
          <a:xfrm>
            <a:off x="421075" y="1293325"/>
            <a:ext cx="8489100" cy="4770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1200"/>
              </a:spcAft>
              <a:buNone/>
            </a:pPr>
            <a:r>
              <a:rPr lang="es" sz="1900"/>
              <a:t>Es muy </a:t>
            </a:r>
            <a:r>
              <a:rPr lang="es" sz="1900"/>
              <a:t>importante</a:t>
            </a:r>
            <a:r>
              <a:rPr lang="es" sz="1900"/>
              <a:t> que relacionemos los vistos en clase.</a:t>
            </a:r>
            <a:endParaRPr sz="1900"/>
          </a:p>
        </p:txBody>
      </p:sp>
      <p:graphicFrame>
        <p:nvGraphicFramePr>
          <p:cNvPr id="424" name="Google Shape;424;p57"/>
          <p:cNvGraphicFramePr/>
          <p:nvPr/>
        </p:nvGraphicFramePr>
        <p:xfrm>
          <a:off x="471825" y="1841950"/>
          <a:ext cx="3000000" cy="3000000"/>
        </p:xfrm>
        <a:graphic>
          <a:graphicData uri="http://schemas.openxmlformats.org/drawingml/2006/table">
            <a:tbl>
              <a:tblPr>
                <a:noFill/>
                <a:tableStyleId>{86F80FEE-F9E0-4C4E-AB6B-162AB331F4A5}</a:tableStyleId>
              </a:tblPr>
              <a:tblGrid>
                <a:gridCol w="4219175"/>
                <a:gridCol w="4219175"/>
              </a:tblGrid>
              <a:tr h="2961925">
                <a:tc>
                  <a:txBody>
                    <a:bodyPr/>
                    <a:lstStyle/>
                    <a:p>
                      <a:pPr indent="0" lvl="0" marL="0" marR="0" rtl="0" algn="just">
                        <a:lnSpc>
                          <a:spcPct val="100000"/>
                        </a:lnSpc>
                        <a:spcBef>
                          <a:spcPts val="0"/>
                        </a:spcBef>
                        <a:spcAft>
                          <a:spcPts val="0"/>
                        </a:spcAft>
                        <a:buNone/>
                      </a:pPr>
                      <a:r>
                        <a:rPr lang="es" sz="1900"/>
                        <a:t>Input layer.</a:t>
                      </a:r>
                      <a:endParaRPr sz="1900"/>
                    </a:p>
                    <a:p>
                      <a:pPr indent="0" lvl="0" marL="0" marR="0" rtl="0" algn="just">
                        <a:lnSpc>
                          <a:spcPct val="100000"/>
                        </a:lnSpc>
                        <a:spcBef>
                          <a:spcPts val="1200"/>
                        </a:spcBef>
                        <a:spcAft>
                          <a:spcPts val="0"/>
                        </a:spcAft>
                        <a:buNone/>
                      </a:pPr>
                      <a:r>
                        <a:rPr lang="es" sz="1900"/>
                        <a:t>Hidden layer.</a:t>
                      </a:r>
                      <a:endParaRPr sz="1900"/>
                    </a:p>
                    <a:p>
                      <a:pPr indent="0" lvl="0" marL="0" marR="0" rtl="0" algn="just">
                        <a:lnSpc>
                          <a:spcPct val="100000"/>
                        </a:lnSpc>
                        <a:spcBef>
                          <a:spcPts val="1200"/>
                        </a:spcBef>
                        <a:spcAft>
                          <a:spcPts val="0"/>
                        </a:spcAft>
                        <a:buNone/>
                      </a:pPr>
                      <a:r>
                        <a:rPr lang="es" sz="1900"/>
                        <a:t>Número de capas ocultas.</a:t>
                      </a:r>
                      <a:endParaRPr sz="1900"/>
                    </a:p>
                    <a:p>
                      <a:pPr indent="0" lvl="0" marL="0" marR="0" rtl="0" algn="just">
                        <a:lnSpc>
                          <a:spcPct val="100000"/>
                        </a:lnSpc>
                        <a:spcBef>
                          <a:spcPts val="1200"/>
                        </a:spcBef>
                        <a:spcAft>
                          <a:spcPts val="0"/>
                        </a:spcAft>
                        <a:buNone/>
                      </a:pPr>
                      <a:r>
                        <a:rPr lang="es" sz="1900"/>
                        <a:t>Output layer.</a:t>
                      </a:r>
                      <a:endParaRPr sz="1900"/>
                    </a:p>
                    <a:p>
                      <a:pPr indent="0" lvl="0" marL="0" marR="0" rtl="0" algn="just">
                        <a:lnSpc>
                          <a:spcPct val="100000"/>
                        </a:lnSpc>
                        <a:spcBef>
                          <a:spcPts val="1200"/>
                        </a:spcBef>
                        <a:spcAft>
                          <a:spcPts val="0"/>
                        </a:spcAft>
                        <a:buNone/>
                      </a:pPr>
                      <a:r>
                        <a:rPr lang="es" sz="1900"/>
                        <a:t>Función de coste.</a:t>
                      </a:r>
                      <a:endParaRPr sz="1900"/>
                    </a:p>
                    <a:p>
                      <a:pPr indent="0" lvl="0" marL="0" rtl="0" algn="just">
                        <a:spcBef>
                          <a:spcPts val="1200"/>
                        </a:spcBef>
                        <a:spcAft>
                          <a:spcPts val="0"/>
                        </a:spcAft>
                        <a:buNone/>
                      </a:pPr>
                      <a:r>
                        <a:rPr lang="es" sz="1900"/>
                        <a:t>Loss function.</a:t>
                      </a:r>
                      <a:endParaRPr sz="1900"/>
                    </a:p>
                    <a:p>
                      <a:pPr indent="0" lvl="0" marL="0" marR="0" rtl="0" algn="just">
                        <a:lnSpc>
                          <a:spcPct val="100000"/>
                        </a:lnSpc>
                        <a:spcBef>
                          <a:spcPts val="1200"/>
                        </a:spcBef>
                        <a:spcAft>
                          <a:spcPts val="1200"/>
                        </a:spcAft>
                        <a:buNone/>
                      </a:pPr>
                      <a:r>
                        <a:t/>
                      </a:r>
                      <a:endParaRPr sz="1900"/>
                    </a:p>
                  </a:txBody>
                  <a:tcPr marT="91425" marB="91425" marR="91425" marL="91425"/>
                </a:tc>
                <a:tc>
                  <a:txBody>
                    <a:bodyPr/>
                    <a:lstStyle/>
                    <a:p>
                      <a:pPr indent="0" lvl="0" marL="0" marR="0" rtl="0" algn="just">
                        <a:lnSpc>
                          <a:spcPct val="100000"/>
                        </a:lnSpc>
                        <a:spcBef>
                          <a:spcPts val="0"/>
                        </a:spcBef>
                        <a:spcAft>
                          <a:spcPts val="0"/>
                        </a:spcAft>
                        <a:buNone/>
                      </a:pPr>
                      <a:r>
                        <a:rPr lang="es" sz="1900"/>
                        <a:t>Mean Squared Error (MSE)</a:t>
                      </a:r>
                      <a:endParaRPr sz="1900"/>
                    </a:p>
                    <a:p>
                      <a:pPr indent="0" lvl="0" marL="0" marR="0" rtl="0" algn="just">
                        <a:lnSpc>
                          <a:spcPct val="100000"/>
                        </a:lnSpc>
                        <a:spcBef>
                          <a:spcPts val="1200"/>
                        </a:spcBef>
                        <a:spcAft>
                          <a:spcPts val="0"/>
                        </a:spcAft>
                        <a:buNone/>
                      </a:pPr>
                      <a:r>
                        <a:rPr lang="es" sz="1900"/>
                        <a:t>Cross-entropy loss.</a:t>
                      </a:r>
                      <a:endParaRPr sz="1900"/>
                    </a:p>
                    <a:p>
                      <a:pPr indent="0" lvl="0" marL="0" marR="0" rtl="0" algn="just">
                        <a:lnSpc>
                          <a:spcPct val="100000"/>
                        </a:lnSpc>
                        <a:spcBef>
                          <a:spcPts val="1200"/>
                        </a:spcBef>
                        <a:spcAft>
                          <a:spcPts val="0"/>
                        </a:spcAft>
                        <a:buNone/>
                      </a:pPr>
                      <a:r>
                        <a:rPr lang="es" sz="1900"/>
                        <a:t>Gradient descent.</a:t>
                      </a:r>
                      <a:endParaRPr sz="1900"/>
                    </a:p>
                    <a:p>
                      <a:pPr indent="0" lvl="0" marL="0" rtl="0" algn="just">
                        <a:spcBef>
                          <a:spcPts val="1200"/>
                        </a:spcBef>
                        <a:spcAft>
                          <a:spcPts val="0"/>
                        </a:spcAft>
                        <a:buNone/>
                      </a:pPr>
                      <a:r>
                        <a:rPr lang="es" sz="1900"/>
                        <a:t>Learning rate</a:t>
                      </a:r>
                      <a:endParaRPr sz="1900"/>
                    </a:p>
                    <a:p>
                      <a:pPr indent="0" lvl="0" marL="0" rtl="0" algn="just">
                        <a:spcBef>
                          <a:spcPts val="1200"/>
                        </a:spcBef>
                        <a:spcAft>
                          <a:spcPts val="0"/>
                        </a:spcAft>
                        <a:buNone/>
                      </a:pPr>
                      <a:r>
                        <a:rPr lang="es" sz="1900"/>
                        <a:t>Batch / Epoch</a:t>
                      </a:r>
                      <a:endParaRPr sz="1900"/>
                    </a:p>
                    <a:p>
                      <a:pPr indent="0" lvl="0" marL="0" rtl="0" algn="just">
                        <a:spcBef>
                          <a:spcPts val="1200"/>
                        </a:spcBef>
                        <a:spcAft>
                          <a:spcPts val="1200"/>
                        </a:spcAft>
                        <a:buNone/>
                      </a:pPr>
                      <a:r>
                        <a:rPr lang="es" sz="1900"/>
                        <a:t>SGD</a:t>
                      </a:r>
                      <a:endParaRPr sz="1900"/>
                    </a:p>
                  </a:txBody>
                  <a:tcPr marT="91425" marB="91425" marR="91425" marL="91425"/>
                </a:tc>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58"/>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4.  Laboratorio</a:t>
            </a:r>
            <a:endParaRPr b="0" sz="2100">
              <a:solidFill>
                <a:schemeClr val="accent1"/>
              </a:solidFill>
              <a:latin typeface="Lato"/>
              <a:ea typeface="Lato"/>
              <a:cs typeface="Lato"/>
              <a:sym typeface="Lato"/>
            </a:endParaRPr>
          </a:p>
          <a:p>
            <a:pPr indent="0" lvl="0" marL="0" rtl="0" algn="l">
              <a:spcBef>
                <a:spcPts val="0"/>
              </a:spcBef>
              <a:spcAft>
                <a:spcPts val="0"/>
              </a:spcAft>
              <a:buNone/>
            </a:pPr>
            <a:r>
              <a:t/>
            </a:r>
            <a:endParaRPr/>
          </a:p>
        </p:txBody>
      </p:sp>
      <p:sp>
        <p:nvSpPr>
          <p:cNvPr id="430" name="Google Shape;430;p5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431" name="Google Shape;431;p58"/>
          <p:cNvSpPr txBox="1"/>
          <p:nvPr/>
        </p:nvSpPr>
        <p:spPr>
          <a:xfrm>
            <a:off x="421075" y="1293325"/>
            <a:ext cx="8489100" cy="4770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1200"/>
              </a:spcAft>
              <a:buNone/>
            </a:pPr>
            <a:r>
              <a:rPr lang="es" sz="1900"/>
              <a:t>Ahora vamos a realizar el Colab: Entrenamiento_Redes_Neuronales.ipynb</a:t>
            </a:r>
            <a:endParaRPr sz="1900"/>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59"/>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5. </a:t>
            </a:r>
            <a:r>
              <a:rPr lang="es"/>
              <a:t>Backpropagation</a:t>
            </a:r>
            <a:endParaRPr b="0" sz="2100">
              <a:solidFill>
                <a:schemeClr val="accent1"/>
              </a:solidFill>
              <a:latin typeface="Lato"/>
              <a:ea typeface="Lato"/>
              <a:cs typeface="Lato"/>
              <a:sym typeface="Lato"/>
            </a:endParaRPr>
          </a:p>
          <a:p>
            <a:pPr indent="0" lvl="0" marL="0" rtl="0" algn="l">
              <a:spcBef>
                <a:spcPts val="0"/>
              </a:spcBef>
              <a:spcAft>
                <a:spcPts val="0"/>
              </a:spcAft>
              <a:buNone/>
            </a:pPr>
            <a:r>
              <a:t/>
            </a:r>
            <a:endParaRPr/>
          </a:p>
        </p:txBody>
      </p:sp>
      <p:sp>
        <p:nvSpPr>
          <p:cNvPr id="437" name="Google Shape;437;p5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438" name="Google Shape;438;p59"/>
          <p:cNvSpPr txBox="1"/>
          <p:nvPr/>
        </p:nvSpPr>
        <p:spPr>
          <a:xfrm>
            <a:off x="421075" y="1293325"/>
            <a:ext cx="8489100" cy="25398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None/>
            </a:pPr>
            <a:r>
              <a:rPr lang="es" sz="1900"/>
              <a:t>SGD, un algoritmo que permite entrenar una red neuronal a partir de los gradientes respecto a cada parámetro de la red.</a:t>
            </a:r>
            <a:endParaRPr sz="1900"/>
          </a:p>
          <a:p>
            <a:pPr indent="0" lvl="0" marL="0" marR="0" rtl="0" algn="just">
              <a:lnSpc>
                <a:spcPct val="100000"/>
              </a:lnSpc>
              <a:spcBef>
                <a:spcPts val="1200"/>
              </a:spcBef>
              <a:spcAft>
                <a:spcPts val="0"/>
              </a:spcAft>
              <a:buNone/>
            </a:pPr>
            <a:r>
              <a:rPr lang="es" sz="1900"/>
              <a:t>En este apartado vamos a ver cómo calcular estos gradientes.</a:t>
            </a:r>
            <a:endParaRPr sz="1900"/>
          </a:p>
          <a:p>
            <a:pPr indent="0" lvl="0" marL="0" marR="0" rtl="0" algn="just">
              <a:lnSpc>
                <a:spcPct val="100000"/>
              </a:lnSpc>
              <a:spcBef>
                <a:spcPts val="1200"/>
              </a:spcBef>
              <a:spcAft>
                <a:spcPts val="1200"/>
              </a:spcAft>
              <a:buNone/>
            </a:pPr>
            <a:r>
              <a:rPr lang="es" sz="1900"/>
              <a:t>Una primera idea para calcular los gradientes sería obtener una solución analítica (derivar a mano la función de la red respecto a cada parámetro). Pero esto se hace </a:t>
            </a:r>
            <a:r>
              <a:rPr b="1" lang="es" sz="1900"/>
              <a:t>extremadamente complejo</a:t>
            </a:r>
            <a:r>
              <a:rPr lang="es" sz="1900"/>
              <a:t> para redes neuronales de gran tamaño.</a:t>
            </a:r>
            <a:endParaRPr sz="1900"/>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60"/>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5. Backpropagation</a:t>
            </a:r>
            <a:endParaRPr b="0" sz="2100">
              <a:solidFill>
                <a:schemeClr val="accent1"/>
              </a:solidFill>
              <a:latin typeface="Lato"/>
              <a:ea typeface="Lato"/>
              <a:cs typeface="Lato"/>
              <a:sym typeface="Lato"/>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444" name="Google Shape;444;p6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445" name="Google Shape;445;p60"/>
          <p:cNvSpPr txBox="1"/>
          <p:nvPr/>
        </p:nvSpPr>
        <p:spPr>
          <a:xfrm>
            <a:off x="421075" y="1293325"/>
            <a:ext cx="8489100" cy="18009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None/>
            </a:pPr>
            <a:r>
              <a:rPr lang="es" sz="1900"/>
              <a:t>El concepto básico sobre el que se asienta el algoritmo de backpropagation es el de la regla de la cadena. Esta nos permite derivar funciones complejas que se componen de otras funciones.</a:t>
            </a:r>
            <a:endParaRPr sz="1900"/>
          </a:p>
          <a:p>
            <a:pPr indent="0" lvl="0" marL="0" marR="0" rtl="0" algn="just">
              <a:lnSpc>
                <a:spcPct val="100000"/>
              </a:lnSpc>
              <a:spcBef>
                <a:spcPts val="1200"/>
              </a:spcBef>
              <a:spcAft>
                <a:spcPts val="1200"/>
              </a:spcAft>
              <a:buNone/>
            </a:pPr>
            <a:r>
              <a:rPr lang="es" sz="1900"/>
              <a:t>Por ejemplo, f(x, y, z) = (x + y)z podría ser escrita como f = qz si definimos q = x + y. La regla de la cadena nos dice que:</a:t>
            </a:r>
            <a:endParaRPr sz="1900"/>
          </a:p>
        </p:txBody>
      </p:sp>
      <p:pic>
        <p:nvPicPr>
          <p:cNvPr id="446" name="Google Shape;446;p60"/>
          <p:cNvPicPr preferRelativeResize="0"/>
          <p:nvPr/>
        </p:nvPicPr>
        <p:blipFill>
          <a:blip r:embed="rId3">
            <a:alphaModFix/>
          </a:blip>
          <a:stretch>
            <a:fillRect/>
          </a:stretch>
        </p:blipFill>
        <p:spPr>
          <a:xfrm>
            <a:off x="3596050" y="3094225"/>
            <a:ext cx="1660200" cy="875525"/>
          </a:xfrm>
          <a:prstGeom prst="rect">
            <a:avLst/>
          </a:prstGeom>
          <a:noFill/>
          <a:ln>
            <a:noFill/>
          </a:ln>
        </p:spPr>
      </p:pic>
      <p:sp>
        <p:nvSpPr>
          <p:cNvPr id="447" name="Google Shape;447;p60"/>
          <p:cNvSpPr txBox="1"/>
          <p:nvPr/>
        </p:nvSpPr>
        <p:spPr>
          <a:xfrm>
            <a:off x="464400" y="3823775"/>
            <a:ext cx="8215200" cy="7695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1200"/>
              </a:spcAft>
              <a:buNone/>
            </a:pPr>
            <a:r>
              <a:rPr lang="es" sz="1900"/>
              <a:t>De este modo, obtenemos la derivada parcial de f respecto de x mediante el producto de dos derivadas más sencillas.</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61"/>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5. Backpropagation</a:t>
            </a:r>
            <a:endParaRPr b="0" sz="2100">
              <a:solidFill>
                <a:schemeClr val="accent1"/>
              </a:solidFill>
              <a:latin typeface="Lato"/>
              <a:ea typeface="Lato"/>
              <a:cs typeface="Lato"/>
              <a:sym typeface="Lato"/>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453" name="Google Shape;453;p6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454" name="Google Shape;454;p61"/>
          <p:cNvSpPr txBox="1"/>
          <p:nvPr/>
        </p:nvSpPr>
        <p:spPr>
          <a:xfrm>
            <a:off x="412625" y="1225650"/>
            <a:ext cx="5408400" cy="34170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None/>
            </a:pPr>
            <a:r>
              <a:rPr lang="es" sz="1900"/>
              <a:t>Resumen hasta ahora:</a:t>
            </a:r>
            <a:endParaRPr sz="1900"/>
          </a:p>
          <a:p>
            <a:pPr indent="-349250" lvl="0" marL="457200" marR="0" rtl="0" algn="just">
              <a:lnSpc>
                <a:spcPct val="100000"/>
              </a:lnSpc>
              <a:spcBef>
                <a:spcPts val="1200"/>
              </a:spcBef>
              <a:spcAft>
                <a:spcPts val="0"/>
              </a:spcAft>
              <a:buSzPts val="1900"/>
              <a:buChar char="●"/>
            </a:pPr>
            <a:r>
              <a:rPr lang="es" sz="1900"/>
              <a:t>Calcular los gradientes es una tarea muy compleja incluso en los tiempos que vivimos donde disponemos infinidad de GPU.</a:t>
            </a:r>
            <a:endParaRPr sz="1900"/>
          </a:p>
          <a:p>
            <a:pPr indent="-349250" lvl="0" marL="457200" marR="0" rtl="0" algn="just">
              <a:lnSpc>
                <a:spcPct val="100000"/>
              </a:lnSpc>
              <a:spcBef>
                <a:spcPts val="0"/>
              </a:spcBef>
              <a:spcAft>
                <a:spcPts val="0"/>
              </a:spcAft>
              <a:buSzPts val="1900"/>
              <a:buChar char="●"/>
            </a:pPr>
            <a:r>
              <a:rPr lang="es" sz="1900"/>
              <a:t>Recordar que utilizamos GPU en vez de CPU </a:t>
            </a:r>
            <a:r>
              <a:rPr lang="es" sz="1900"/>
              <a:t>porque</a:t>
            </a:r>
            <a:r>
              <a:rPr lang="es" sz="1900"/>
              <a:t> </a:t>
            </a:r>
            <a:r>
              <a:rPr lang="es" sz="1900"/>
              <a:t>básicamente</a:t>
            </a:r>
            <a:r>
              <a:rPr lang="es" sz="1900"/>
              <a:t> </a:t>
            </a:r>
            <a:r>
              <a:rPr lang="es" sz="1900"/>
              <a:t>están</a:t>
            </a:r>
            <a:r>
              <a:rPr lang="es" sz="1900"/>
              <a:t> compuestas por ALU’s en paralelo.</a:t>
            </a:r>
            <a:endParaRPr sz="1900"/>
          </a:p>
          <a:p>
            <a:pPr indent="-349250" lvl="0" marL="457200" marR="0" rtl="0" algn="just">
              <a:lnSpc>
                <a:spcPct val="100000"/>
              </a:lnSpc>
              <a:spcBef>
                <a:spcPts val="0"/>
              </a:spcBef>
              <a:spcAft>
                <a:spcPts val="0"/>
              </a:spcAft>
              <a:buSzPts val="1900"/>
              <a:buChar char="●"/>
            </a:pPr>
            <a:r>
              <a:rPr lang="es" sz="1900"/>
              <a:t>Para solucionar este problema utilizamos la regla de cadena. </a:t>
            </a:r>
            <a:endParaRPr sz="1900"/>
          </a:p>
          <a:p>
            <a:pPr indent="0" lvl="0" marL="0" marR="0" rtl="0" algn="just">
              <a:lnSpc>
                <a:spcPct val="100000"/>
              </a:lnSpc>
              <a:spcBef>
                <a:spcPts val="1200"/>
              </a:spcBef>
              <a:spcAft>
                <a:spcPts val="1200"/>
              </a:spcAft>
              <a:buNone/>
            </a:pPr>
            <a:r>
              <a:t/>
            </a:r>
            <a:endParaRPr sz="1900"/>
          </a:p>
        </p:txBody>
      </p:sp>
      <p:pic>
        <p:nvPicPr>
          <p:cNvPr id="455" name="Google Shape;455;p61"/>
          <p:cNvPicPr preferRelativeResize="0"/>
          <p:nvPr/>
        </p:nvPicPr>
        <p:blipFill>
          <a:blip r:embed="rId3">
            <a:alphaModFix/>
          </a:blip>
          <a:stretch>
            <a:fillRect/>
          </a:stretch>
        </p:blipFill>
        <p:spPr>
          <a:xfrm>
            <a:off x="5973425" y="1225650"/>
            <a:ext cx="3018175" cy="3018175"/>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62"/>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5. Backpropagation</a:t>
            </a:r>
            <a:endParaRPr b="0" sz="2100">
              <a:solidFill>
                <a:schemeClr val="accent1"/>
              </a:solidFill>
              <a:latin typeface="Lato"/>
              <a:ea typeface="Lato"/>
              <a:cs typeface="Lato"/>
              <a:sym typeface="Lato"/>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461" name="Google Shape;461;p6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462" name="Google Shape;462;p62"/>
          <p:cNvSpPr txBox="1"/>
          <p:nvPr/>
        </p:nvSpPr>
        <p:spPr>
          <a:xfrm>
            <a:off x="421075" y="1293325"/>
            <a:ext cx="8489100" cy="16623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None/>
            </a:pPr>
            <a:r>
              <a:rPr lang="es" sz="1900"/>
              <a:t>Nuestras redes neuronales van a ser grafos de computación, Tensorflow por dentro </a:t>
            </a:r>
            <a:r>
              <a:rPr lang="es" sz="1900"/>
              <a:t>está</a:t>
            </a:r>
            <a:r>
              <a:rPr lang="es" sz="1900"/>
              <a:t> formado por estos.</a:t>
            </a:r>
            <a:endParaRPr sz="1900"/>
          </a:p>
          <a:p>
            <a:pPr indent="0" lvl="0" marL="0" rtl="0" algn="just">
              <a:spcBef>
                <a:spcPts val="1200"/>
              </a:spcBef>
              <a:spcAft>
                <a:spcPts val="0"/>
              </a:spcAft>
              <a:buNone/>
            </a:pPr>
            <a:r>
              <a:rPr lang="es" sz="1900"/>
              <a:t>Ejemplo de backpropagation</a:t>
            </a:r>
            <a:endParaRPr sz="1900"/>
          </a:p>
          <a:p>
            <a:pPr indent="0" lvl="0" marL="0" marR="0" rtl="0" algn="just">
              <a:lnSpc>
                <a:spcPct val="100000"/>
              </a:lnSpc>
              <a:spcBef>
                <a:spcPts val="1200"/>
              </a:spcBef>
              <a:spcAft>
                <a:spcPts val="1200"/>
              </a:spcAft>
              <a:buNone/>
            </a:pPr>
            <a:r>
              <a:t/>
            </a:r>
            <a:endParaRPr sz="1900"/>
          </a:p>
        </p:txBody>
      </p:sp>
      <p:pic>
        <p:nvPicPr>
          <p:cNvPr id="463" name="Google Shape;463;p62"/>
          <p:cNvPicPr preferRelativeResize="0"/>
          <p:nvPr/>
        </p:nvPicPr>
        <p:blipFill>
          <a:blip r:embed="rId3">
            <a:alphaModFix/>
          </a:blip>
          <a:stretch>
            <a:fillRect/>
          </a:stretch>
        </p:blipFill>
        <p:spPr>
          <a:xfrm>
            <a:off x="3925450" y="1876413"/>
            <a:ext cx="2152650" cy="695325"/>
          </a:xfrm>
          <a:prstGeom prst="rect">
            <a:avLst/>
          </a:prstGeom>
          <a:noFill/>
          <a:ln>
            <a:noFill/>
          </a:ln>
        </p:spPr>
      </p:pic>
      <p:pic>
        <p:nvPicPr>
          <p:cNvPr id="464" name="Google Shape;464;p62"/>
          <p:cNvPicPr preferRelativeResize="0"/>
          <p:nvPr/>
        </p:nvPicPr>
        <p:blipFill>
          <a:blip r:embed="rId4">
            <a:alphaModFix/>
          </a:blip>
          <a:stretch>
            <a:fillRect/>
          </a:stretch>
        </p:blipFill>
        <p:spPr>
          <a:xfrm>
            <a:off x="1740550" y="2571750"/>
            <a:ext cx="4546849" cy="203495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63"/>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5. Backpropagation</a:t>
            </a:r>
            <a:endParaRPr b="0" sz="2100">
              <a:solidFill>
                <a:schemeClr val="accent1"/>
              </a:solidFill>
              <a:latin typeface="Lato"/>
              <a:ea typeface="Lato"/>
              <a:cs typeface="Lato"/>
              <a:sym typeface="Lato"/>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470" name="Google Shape;470;p6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471" name="Google Shape;471;p63"/>
          <p:cNvSpPr txBox="1"/>
          <p:nvPr/>
        </p:nvSpPr>
        <p:spPr>
          <a:xfrm>
            <a:off x="421075" y="1293325"/>
            <a:ext cx="8489100" cy="13698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None/>
            </a:pPr>
            <a:r>
              <a:rPr lang="es" sz="1900"/>
              <a:t>Primero:</a:t>
            </a:r>
            <a:r>
              <a:rPr b="1" lang="es" sz="1900"/>
              <a:t> Forward pass</a:t>
            </a:r>
            <a:r>
              <a:rPr lang="es" sz="1900"/>
              <a:t>. Calculamos las salidas de cada nodo a partir</a:t>
            </a:r>
            <a:endParaRPr sz="1900"/>
          </a:p>
          <a:p>
            <a:pPr indent="0" lvl="0" marL="0" marR="0" rtl="0" algn="just">
              <a:lnSpc>
                <a:spcPct val="100000"/>
              </a:lnSpc>
              <a:spcBef>
                <a:spcPts val="1200"/>
              </a:spcBef>
              <a:spcAft>
                <a:spcPts val="0"/>
              </a:spcAft>
              <a:buNone/>
            </a:pPr>
            <a:r>
              <a:rPr lang="es" sz="1900"/>
              <a:t>de sus inputs.</a:t>
            </a:r>
            <a:endParaRPr sz="1900"/>
          </a:p>
          <a:p>
            <a:pPr indent="0" lvl="0" marL="0" marR="0" rtl="0" algn="just">
              <a:lnSpc>
                <a:spcPct val="100000"/>
              </a:lnSpc>
              <a:spcBef>
                <a:spcPts val="1200"/>
              </a:spcBef>
              <a:spcAft>
                <a:spcPts val="1200"/>
              </a:spcAft>
              <a:buNone/>
            </a:pPr>
            <a:r>
              <a:t/>
            </a:r>
            <a:endParaRPr sz="1900"/>
          </a:p>
        </p:txBody>
      </p:sp>
      <p:pic>
        <p:nvPicPr>
          <p:cNvPr id="472" name="Google Shape;472;p63"/>
          <p:cNvPicPr preferRelativeResize="0"/>
          <p:nvPr/>
        </p:nvPicPr>
        <p:blipFill>
          <a:blip r:embed="rId3">
            <a:alphaModFix/>
          </a:blip>
          <a:stretch>
            <a:fillRect/>
          </a:stretch>
        </p:blipFill>
        <p:spPr>
          <a:xfrm>
            <a:off x="496450" y="2328213"/>
            <a:ext cx="2152650" cy="695325"/>
          </a:xfrm>
          <a:prstGeom prst="rect">
            <a:avLst/>
          </a:prstGeom>
          <a:noFill/>
          <a:ln>
            <a:noFill/>
          </a:ln>
        </p:spPr>
      </p:pic>
      <p:pic>
        <p:nvPicPr>
          <p:cNvPr id="473" name="Google Shape;473;p63"/>
          <p:cNvPicPr preferRelativeResize="0"/>
          <p:nvPr/>
        </p:nvPicPr>
        <p:blipFill>
          <a:blip r:embed="rId4">
            <a:alphaModFix/>
          </a:blip>
          <a:stretch>
            <a:fillRect/>
          </a:stretch>
        </p:blipFill>
        <p:spPr>
          <a:xfrm>
            <a:off x="3252650" y="2328225"/>
            <a:ext cx="4768923" cy="2175575"/>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64"/>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5. Backpropagation</a:t>
            </a:r>
            <a:endParaRPr b="0" sz="2100">
              <a:solidFill>
                <a:schemeClr val="accent1"/>
              </a:solidFill>
              <a:latin typeface="Lato"/>
              <a:ea typeface="Lato"/>
              <a:cs typeface="Lato"/>
              <a:sym typeface="Lato"/>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479" name="Google Shape;479;p6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480" name="Google Shape;480;p64"/>
          <p:cNvSpPr txBox="1"/>
          <p:nvPr/>
        </p:nvSpPr>
        <p:spPr>
          <a:xfrm>
            <a:off x="421075" y="1293325"/>
            <a:ext cx="8489100" cy="4770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1200"/>
              </a:spcAft>
              <a:buNone/>
            </a:pPr>
            <a:r>
              <a:t/>
            </a:r>
            <a:endParaRPr sz="1900"/>
          </a:p>
        </p:txBody>
      </p:sp>
      <p:sp>
        <p:nvSpPr>
          <p:cNvPr id="481" name="Google Shape;481;p64"/>
          <p:cNvSpPr txBox="1"/>
          <p:nvPr/>
        </p:nvSpPr>
        <p:spPr>
          <a:xfrm>
            <a:off x="454100" y="1403750"/>
            <a:ext cx="61017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900"/>
              <a:t>El gradiente de f respecto a sí misma es 1.</a:t>
            </a:r>
            <a:endParaRPr sz="1900"/>
          </a:p>
        </p:txBody>
      </p:sp>
      <p:pic>
        <p:nvPicPr>
          <p:cNvPr id="482" name="Google Shape;482;p64"/>
          <p:cNvPicPr preferRelativeResize="0"/>
          <p:nvPr/>
        </p:nvPicPr>
        <p:blipFill>
          <a:blip r:embed="rId3">
            <a:alphaModFix/>
          </a:blip>
          <a:stretch>
            <a:fillRect/>
          </a:stretch>
        </p:blipFill>
        <p:spPr>
          <a:xfrm>
            <a:off x="2199900" y="2072475"/>
            <a:ext cx="3838575" cy="167640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65"/>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5. Backpropagation</a:t>
            </a:r>
            <a:endParaRPr b="0" sz="2100">
              <a:solidFill>
                <a:schemeClr val="accent1"/>
              </a:solidFill>
              <a:latin typeface="Lato"/>
              <a:ea typeface="Lato"/>
              <a:cs typeface="Lato"/>
              <a:sym typeface="Lato"/>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488" name="Google Shape;488;p6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489" name="Google Shape;489;p65"/>
          <p:cNvSpPr txBox="1"/>
          <p:nvPr/>
        </p:nvSpPr>
        <p:spPr>
          <a:xfrm>
            <a:off x="421075" y="1293325"/>
            <a:ext cx="8489100" cy="9234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None/>
            </a:pPr>
            <a:r>
              <a:t/>
            </a:r>
            <a:endParaRPr sz="1900"/>
          </a:p>
          <a:p>
            <a:pPr indent="0" lvl="0" marL="0" marR="0" rtl="0" algn="just">
              <a:lnSpc>
                <a:spcPct val="100000"/>
              </a:lnSpc>
              <a:spcBef>
                <a:spcPts val="1200"/>
              </a:spcBef>
              <a:spcAft>
                <a:spcPts val="1200"/>
              </a:spcAft>
              <a:buNone/>
            </a:pPr>
            <a:r>
              <a:t/>
            </a:r>
            <a:endParaRPr sz="1900"/>
          </a:p>
        </p:txBody>
      </p:sp>
      <p:sp>
        <p:nvSpPr>
          <p:cNvPr id="490" name="Google Shape;490;p65"/>
          <p:cNvSpPr txBox="1"/>
          <p:nvPr/>
        </p:nvSpPr>
        <p:spPr>
          <a:xfrm>
            <a:off x="443275" y="1370275"/>
            <a:ext cx="8444700" cy="1062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900"/>
              <a:t>Producto:</a:t>
            </a:r>
            <a:r>
              <a:rPr lang="es" sz="1900"/>
              <a:t> El gradiente de una variable de entrada viene dado por el producto del valor de la otra variable de entrada y el valor del gradiente de salida.</a:t>
            </a:r>
            <a:endParaRPr/>
          </a:p>
        </p:txBody>
      </p:sp>
      <p:pic>
        <p:nvPicPr>
          <p:cNvPr id="491" name="Google Shape;491;p65"/>
          <p:cNvPicPr preferRelativeResize="0"/>
          <p:nvPr/>
        </p:nvPicPr>
        <p:blipFill>
          <a:blip r:embed="rId3">
            <a:alphaModFix/>
          </a:blip>
          <a:stretch>
            <a:fillRect/>
          </a:stretch>
        </p:blipFill>
        <p:spPr>
          <a:xfrm>
            <a:off x="652750" y="2409100"/>
            <a:ext cx="4273074" cy="1901475"/>
          </a:xfrm>
          <a:prstGeom prst="rect">
            <a:avLst/>
          </a:prstGeom>
          <a:noFill/>
          <a:ln>
            <a:noFill/>
          </a:ln>
        </p:spPr>
      </p:pic>
      <p:sp>
        <p:nvSpPr>
          <p:cNvPr id="492" name="Google Shape;492;p65"/>
          <p:cNvSpPr txBox="1"/>
          <p:nvPr/>
        </p:nvSpPr>
        <p:spPr>
          <a:xfrm>
            <a:off x="5094525" y="2585775"/>
            <a:ext cx="2757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latin typeface="Lato"/>
                <a:ea typeface="Lato"/>
                <a:cs typeface="Lato"/>
                <a:sym typeface="Lato"/>
              </a:rPr>
              <a:t>1*(-4)=-4</a:t>
            </a:r>
            <a:endParaRPr>
              <a:latin typeface="Lato"/>
              <a:ea typeface="Lato"/>
              <a:cs typeface="Lato"/>
              <a:sym typeface="Lato"/>
            </a:endParaRPr>
          </a:p>
          <a:p>
            <a:pPr indent="0" lvl="0" marL="0" rtl="0" algn="l">
              <a:spcBef>
                <a:spcPts val="0"/>
              </a:spcBef>
              <a:spcAft>
                <a:spcPts val="0"/>
              </a:spcAft>
              <a:buNone/>
            </a:pPr>
            <a:r>
              <a:rPr lang="es">
                <a:latin typeface="Lato"/>
                <a:ea typeface="Lato"/>
                <a:cs typeface="Lato"/>
                <a:sym typeface="Lato"/>
              </a:rPr>
              <a:t>1*3=3</a:t>
            </a:r>
            <a:endParaRPr>
              <a:latin typeface="Lato"/>
              <a:ea typeface="Lato"/>
              <a:cs typeface="Lato"/>
              <a:sym typeface="Lato"/>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66"/>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5. Backpropagation</a:t>
            </a:r>
            <a:endParaRPr b="0" sz="2100">
              <a:solidFill>
                <a:schemeClr val="accent1"/>
              </a:solidFill>
              <a:latin typeface="Lato"/>
              <a:ea typeface="Lato"/>
              <a:cs typeface="Lato"/>
              <a:sym typeface="Lato"/>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498" name="Google Shape;498;p6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499" name="Google Shape;499;p66"/>
          <p:cNvSpPr txBox="1"/>
          <p:nvPr/>
        </p:nvSpPr>
        <p:spPr>
          <a:xfrm>
            <a:off x="421075" y="1293325"/>
            <a:ext cx="8489100" cy="9234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None/>
            </a:pPr>
            <a:r>
              <a:t/>
            </a:r>
            <a:endParaRPr sz="1900"/>
          </a:p>
          <a:p>
            <a:pPr indent="0" lvl="0" marL="0" marR="0" rtl="0" algn="just">
              <a:lnSpc>
                <a:spcPct val="100000"/>
              </a:lnSpc>
              <a:spcBef>
                <a:spcPts val="1200"/>
              </a:spcBef>
              <a:spcAft>
                <a:spcPts val="1200"/>
              </a:spcAft>
              <a:buNone/>
            </a:pPr>
            <a:r>
              <a:t/>
            </a:r>
            <a:endParaRPr sz="1900"/>
          </a:p>
        </p:txBody>
      </p:sp>
      <p:sp>
        <p:nvSpPr>
          <p:cNvPr id="500" name="Google Shape;500;p66"/>
          <p:cNvSpPr txBox="1"/>
          <p:nvPr/>
        </p:nvSpPr>
        <p:spPr>
          <a:xfrm>
            <a:off x="443275" y="1370275"/>
            <a:ext cx="84447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900"/>
              <a:t>Suma</a:t>
            </a:r>
            <a:r>
              <a:rPr b="1" lang="es" sz="1900"/>
              <a:t>: </a:t>
            </a:r>
            <a:r>
              <a:rPr lang="es" sz="1900"/>
              <a:t>Envía el gradiente de salida directamente hacia atrás a todos los inputs. Consecuencia de que la derivada respecto a los inputs sea 1.</a:t>
            </a:r>
            <a:endParaRPr/>
          </a:p>
        </p:txBody>
      </p:sp>
      <p:sp>
        <p:nvSpPr>
          <p:cNvPr id="501" name="Google Shape;501;p66"/>
          <p:cNvSpPr txBox="1"/>
          <p:nvPr/>
        </p:nvSpPr>
        <p:spPr>
          <a:xfrm>
            <a:off x="5094525" y="2585775"/>
            <a:ext cx="2757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Lato"/>
              <a:ea typeface="Lato"/>
              <a:cs typeface="Lato"/>
              <a:sym typeface="Lato"/>
            </a:endParaRPr>
          </a:p>
        </p:txBody>
      </p:sp>
      <p:pic>
        <p:nvPicPr>
          <p:cNvPr id="502" name="Google Shape;502;p66"/>
          <p:cNvPicPr preferRelativeResize="0"/>
          <p:nvPr/>
        </p:nvPicPr>
        <p:blipFill>
          <a:blip r:embed="rId3">
            <a:alphaModFix/>
          </a:blip>
          <a:stretch>
            <a:fillRect/>
          </a:stretch>
        </p:blipFill>
        <p:spPr>
          <a:xfrm>
            <a:off x="2570101" y="2311750"/>
            <a:ext cx="4003800" cy="1965675"/>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67"/>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5. Backpropagation</a:t>
            </a:r>
            <a:endParaRPr b="0" sz="2100">
              <a:solidFill>
                <a:schemeClr val="accent1"/>
              </a:solidFill>
              <a:latin typeface="Lato"/>
              <a:ea typeface="Lato"/>
              <a:cs typeface="Lato"/>
              <a:sym typeface="Lato"/>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508" name="Google Shape;508;p6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509" name="Google Shape;509;p67"/>
          <p:cNvSpPr txBox="1"/>
          <p:nvPr/>
        </p:nvSpPr>
        <p:spPr>
          <a:xfrm>
            <a:off x="421075" y="1293325"/>
            <a:ext cx="8489100" cy="9234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None/>
            </a:pPr>
            <a:r>
              <a:t/>
            </a:r>
            <a:endParaRPr sz="1900"/>
          </a:p>
          <a:p>
            <a:pPr indent="0" lvl="0" marL="0" marR="0" rtl="0" algn="just">
              <a:lnSpc>
                <a:spcPct val="100000"/>
              </a:lnSpc>
              <a:spcBef>
                <a:spcPts val="1200"/>
              </a:spcBef>
              <a:spcAft>
                <a:spcPts val="1200"/>
              </a:spcAft>
              <a:buNone/>
            </a:pPr>
            <a:r>
              <a:t/>
            </a:r>
            <a:endParaRPr sz="1900"/>
          </a:p>
        </p:txBody>
      </p:sp>
      <p:sp>
        <p:nvSpPr>
          <p:cNvPr id="510" name="Google Shape;510;p67"/>
          <p:cNvSpPr txBox="1"/>
          <p:nvPr/>
        </p:nvSpPr>
        <p:spPr>
          <a:xfrm>
            <a:off x="443275" y="1370275"/>
            <a:ext cx="8444700" cy="1062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900"/>
              <a:t>Otro patrón que se encuentra es el </a:t>
            </a:r>
            <a:r>
              <a:rPr b="1" lang="es" sz="1900"/>
              <a:t>máximo: </a:t>
            </a:r>
            <a:r>
              <a:rPr lang="es" sz="1900"/>
              <a:t>La variable con mayor valor se lleva todo el gradiente de salida, mientras que la variable de menor valor tiene gradiente 0 (el gradiente no fluye hacia atrás).</a:t>
            </a:r>
            <a:endParaRPr sz="1900"/>
          </a:p>
        </p:txBody>
      </p:sp>
      <p:sp>
        <p:nvSpPr>
          <p:cNvPr id="511" name="Google Shape;511;p67"/>
          <p:cNvSpPr txBox="1"/>
          <p:nvPr/>
        </p:nvSpPr>
        <p:spPr>
          <a:xfrm>
            <a:off x="5094525" y="2585775"/>
            <a:ext cx="2757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Lato"/>
              <a:ea typeface="Lato"/>
              <a:cs typeface="Lato"/>
              <a:sym typeface="Lato"/>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68"/>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5. Backpropagation</a:t>
            </a:r>
            <a:endParaRPr b="0" sz="2100">
              <a:solidFill>
                <a:schemeClr val="accent1"/>
              </a:solidFill>
              <a:latin typeface="Lato"/>
              <a:ea typeface="Lato"/>
              <a:cs typeface="Lato"/>
              <a:sym typeface="Lato"/>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517" name="Google Shape;517;p6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518" name="Google Shape;518;p68"/>
          <p:cNvSpPr txBox="1"/>
          <p:nvPr/>
        </p:nvSpPr>
        <p:spPr>
          <a:xfrm>
            <a:off x="421075" y="1293325"/>
            <a:ext cx="8489100" cy="9234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None/>
            </a:pPr>
            <a:r>
              <a:t/>
            </a:r>
            <a:endParaRPr sz="1900"/>
          </a:p>
          <a:p>
            <a:pPr indent="0" lvl="0" marL="0" marR="0" rtl="0" algn="just">
              <a:lnSpc>
                <a:spcPct val="100000"/>
              </a:lnSpc>
              <a:spcBef>
                <a:spcPts val="1200"/>
              </a:spcBef>
              <a:spcAft>
                <a:spcPts val="1200"/>
              </a:spcAft>
              <a:buNone/>
            </a:pPr>
            <a:r>
              <a:t/>
            </a:r>
            <a:endParaRPr sz="1900"/>
          </a:p>
        </p:txBody>
      </p:sp>
      <p:sp>
        <p:nvSpPr>
          <p:cNvPr id="519" name="Google Shape;519;p68"/>
          <p:cNvSpPr txBox="1"/>
          <p:nvPr/>
        </p:nvSpPr>
        <p:spPr>
          <a:xfrm>
            <a:off x="443275" y="1370275"/>
            <a:ext cx="84447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900"/>
              <a:t>Ejemplo:</a:t>
            </a:r>
            <a:endParaRPr/>
          </a:p>
        </p:txBody>
      </p:sp>
      <p:sp>
        <p:nvSpPr>
          <p:cNvPr id="520" name="Google Shape;520;p68"/>
          <p:cNvSpPr txBox="1"/>
          <p:nvPr/>
        </p:nvSpPr>
        <p:spPr>
          <a:xfrm>
            <a:off x="5094525" y="2585775"/>
            <a:ext cx="2757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Lato"/>
              <a:ea typeface="Lato"/>
              <a:cs typeface="Lato"/>
              <a:sym typeface="Lato"/>
            </a:endParaRPr>
          </a:p>
        </p:txBody>
      </p:sp>
      <p:pic>
        <p:nvPicPr>
          <p:cNvPr id="521" name="Google Shape;521;p68"/>
          <p:cNvPicPr preferRelativeResize="0"/>
          <p:nvPr/>
        </p:nvPicPr>
        <p:blipFill>
          <a:blip r:embed="rId3">
            <a:alphaModFix/>
          </a:blip>
          <a:stretch>
            <a:fillRect/>
          </a:stretch>
        </p:blipFill>
        <p:spPr>
          <a:xfrm>
            <a:off x="2018275" y="1659100"/>
            <a:ext cx="4475042" cy="2621975"/>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69"/>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5. Backpropagation</a:t>
            </a:r>
            <a:endParaRPr b="0" sz="2100">
              <a:solidFill>
                <a:schemeClr val="accent1"/>
              </a:solidFill>
              <a:latin typeface="Lato"/>
              <a:ea typeface="Lato"/>
              <a:cs typeface="Lato"/>
              <a:sym typeface="Lato"/>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527" name="Google Shape;527;p6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528" name="Google Shape;528;p69"/>
          <p:cNvSpPr txBox="1"/>
          <p:nvPr/>
        </p:nvSpPr>
        <p:spPr>
          <a:xfrm>
            <a:off x="421075" y="1293325"/>
            <a:ext cx="8489100" cy="9234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None/>
            </a:pPr>
            <a:r>
              <a:t/>
            </a:r>
            <a:endParaRPr sz="1900"/>
          </a:p>
          <a:p>
            <a:pPr indent="0" lvl="0" marL="0" marR="0" rtl="0" algn="just">
              <a:lnSpc>
                <a:spcPct val="100000"/>
              </a:lnSpc>
              <a:spcBef>
                <a:spcPts val="1200"/>
              </a:spcBef>
              <a:spcAft>
                <a:spcPts val="1200"/>
              </a:spcAft>
              <a:buNone/>
            </a:pPr>
            <a:r>
              <a:t/>
            </a:r>
            <a:endParaRPr sz="1900"/>
          </a:p>
        </p:txBody>
      </p:sp>
      <p:sp>
        <p:nvSpPr>
          <p:cNvPr id="529" name="Google Shape;529;p69"/>
          <p:cNvSpPr txBox="1"/>
          <p:nvPr/>
        </p:nvSpPr>
        <p:spPr>
          <a:xfrm>
            <a:off x="443275" y="1370275"/>
            <a:ext cx="84447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900"/>
              <a:t>Ejemplo:</a:t>
            </a:r>
            <a:endParaRPr/>
          </a:p>
        </p:txBody>
      </p:sp>
      <p:sp>
        <p:nvSpPr>
          <p:cNvPr id="530" name="Google Shape;530;p69"/>
          <p:cNvSpPr txBox="1"/>
          <p:nvPr/>
        </p:nvSpPr>
        <p:spPr>
          <a:xfrm>
            <a:off x="5094525" y="2585775"/>
            <a:ext cx="2757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Lato"/>
              <a:ea typeface="Lato"/>
              <a:cs typeface="Lato"/>
              <a:sym typeface="Lato"/>
            </a:endParaRPr>
          </a:p>
        </p:txBody>
      </p:sp>
      <p:pic>
        <p:nvPicPr>
          <p:cNvPr id="531" name="Google Shape;531;p69"/>
          <p:cNvPicPr preferRelativeResize="0"/>
          <p:nvPr/>
        </p:nvPicPr>
        <p:blipFill>
          <a:blip r:embed="rId3">
            <a:alphaModFix/>
          </a:blip>
          <a:stretch>
            <a:fillRect/>
          </a:stretch>
        </p:blipFill>
        <p:spPr>
          <a:xfrm>
            <a:off x="2100825" y="1716900"/>
            <a:ext cx="4171325" cy="2621975"/>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70"/>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5. Backpropagation</a:t>
            </a:r>
            <a:endParaRPr b="0" sz="2100">
              <a:solidFill>
                <a:schemeClr val="accent1"/>
              </a:solidFill>
              <a:latin typeface="Lato"/>
              <a:ea typeface="Lato"/>
              <a:cs typeface="Lato"/>
              <a:sym typeface="Lato"/>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537" name="Google Shape;537;p7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538" name="Google Shape;538;p70"/>
          <p:cNvSpPr txBox="1"/>
          <p:nvPr/>
        </p:nvSpPr>
        <p:spPr>
          <a:xfrm>
            <a:off x="421075" y="1293325"/>
            <a:ext cx="8489100" cy="9234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None/>
            </a:pPr>
            <a:r>
              <a:t/>
            </a:r>
            <a:endParaRPr sz="1900"/>
          </a:p>
          <a:p>
            <a:pPr indent="0" lvl="0" marL="0" marR="0" rtl="0" algn="just">
              <a:lnSpc>
                <a:spcPct val="100000"/>
              </a:lnSpc>
              <a:spcBef>
                <a:spcPts val="1200"/>
              </a:spcBef>
              <a:spcAft>
                <a:spcPts val="1200"/>
              </a:spcAft>
              <a:buNone/>
            </a:pPr>
            <a:r>
              <a:t/>
            </a:r>
            <a:endParaRPr sz="1900"/>
          </a:p>
        </p:txBody>
      </p:sp>
      <p:sp>
        <p:nvSpPr>
          <p:cNvPr id="539" name="Google Shape;539;p70"/>
          <p:cNvSpPr txBox="1"/>
          <p:nvPr/>
        </p:nvSpPr>
        <p:spPr>
          <a:xfrm>
            <a:off x="443275" y="1370275"/>
            <a:ext cx="84447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900"/>
              <a:t>El gradiente de f respecto a sí misma es 1.</a:t>
            </a:r>
            <a:endParaRPr sz="1900"/>
          </a:p>
          <a:p>
            <a:pPr indent="0" lvl="0" marL="0" rtl="0" algn="l">
              <a:spcBef>
                <a:spcPts val="0"/>
              </a:spcBef>
              <a:spcAft>
                <a:spcPts val="0"/>
              </a:spcAft>
              <a:buNone/>
            </a:pPr>
            <a:r>
              <a:t/>
            </a:r>
            <a:endParaRPr b="1" sz="1900"/>
          </a:p>
        </p:txBody>
      </p:sp>
      <p:sp>
        <p:nvSpPr>
          <p:cNvPr id="540" name="Google Shape;540;p70"/>
          <p:cNvSpPr txBox="1"/>
          <p:nvPr/>
        </p:nvSpPr>
        <p:spPr>
          <a:xfrm>
            <a:off x="5094525" y="2585775"/>
            <a:ext cx="2757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Lato"/>
              <a:ea typeface="Lato"/>
              <a:cs typeface="Lato"/>
              <a:sym typeface="Lato"/>
            </a:endParaRPr>
          </a:p>
        </p:txBody>
      </p:sp>
      <p:pic>
        <p:nvPicPr>
          <p:cNvPr id="541" name="Google Shape;541;p70"/>
          <p:cNvPicPr preferRelativeResize="0"/>
          <p:nvPr/>
        </p:nvPicPr>
        <p:blipFill>
          <a:blip r:embed="rId3">
            <a:alphaModFix/>
          </a:blip>
          <a:stretch>
            <a:fillRect/>
          </a:stretch>
        </p:blipFill>
        <p:spPr>
          <a:xfrm>
            <a:off x="2034775" y="1857250"/>
            <a:ext cx="4041565" cy="2621975"/>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71"/>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5. Backpropagation</a:t>
            </a:r>
            <a:endParaRPr b="0" sz="2100">
              <a:solidFill>
                <a:schemeClr val="accent1"/>
              </a:solidFill>
              <a:latin typeface="Lato"/>
              <a:ea typeface="Lato"/>
              <a:cs typeface="Lato"/>
              <a:sym typeface="Lato"/>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547" name="Google Shape;547;p7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548" name="Google Shape;548;p71"/>
          <p:cNvSpPr txBox="1"/>
          <p:nvPr/>
        </p:nvSpPr>
        <p:spPr>
          <a:xfrm>
            <a:off x="421075" y="1293325"/>
            <a:ext cx="8489100" cy="9234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None/>
            </a:pPr>
            <a:r>
              <a:t/>
            </a:r>
            <a:endParaRPr sz="1900"/>
          </a:p>
          <a:p>
            <a:pPr indent="0" lvl="0" marL="0" marR="0" rtl="0" algn="just">
              <a:lnSpc>
                <a:spcPct val="100000"/>
              </a:lnSpc>
              <a:spcBef>
                <a:spcPts val="1200"/>
              </a:spcBef>
              <a:spcAft>
                <a:spcPts val="1200"/>
              </a:spcAft>
              <a:buNone/>
            </a:pPr>
            <a:r>
              <a:t/>
            </a:r>
            <a:endParaRPr sz="1900"/>
          </a:p>
        </p:txBody>
      </p:sp>
      <p:sp>
        <p:nvSpPr>
          <p:cNvPr id="549" name="Google Shape;549;p71"/>
          <p:cNvSpPr txBox="1"/>
          <p:nvPr/>
        </p:nvSpPr>
        <p:spPr>
          <a:xfrm>
            <a:off x="443275" y="1370275"/>
            <a:ext cx="8444700" cy="1354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900"/>
              <a:t>Producto:</a:t>
            </a:r>
            <a:r>
              <a:rPr lang="es" sz="1900"/>
              <a:t> El gradiente de una variable de entrada viene dado por el producto del valor de la otra variable de entrada y el valor del gradiente de salida.</a:t>
            </a:r>
            <a:endParaRPr sz="1900"/>
          </a:p>
          <a:p>
            <a:pPr indent="0" lvl="0" marL="0" rtl="0" algn="l">
              <a:spcBef>
                <a:spcPts val="0"/>
              </a:spcBef>
              <a:spcAft>
                <a:spcPts val="0"/>
              </a:spcAft>
              <a:buNone/>
            </a:pPr>
            <a:r>
              <a:t/>
            </a:r>
            <a:endParaRPr b="1" sz="1900"/>
          </a:p>
        </p:txBody>
      </p:sp>
      <p:sp>
        <p:nvSpPr>
          <p:cNvPr id="550" name="Google Shape;550;p71"/>
          <p:cNvSpPr txBox="1"/>
          <p:nvPr/>
        </p:nvSpPr>
        <p:spPr>
          <a:xfrm>
            <a:off x="5094525" y="2585775"/>
            <a:ext cx="2757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Lato"/>
              <a:ea typeface="Lato"/>
              <a:cs typeface="Lato"/>
              <a:sym typeface="Lato"/>
            </a:endParaRPr>
          </a:p>
        </p:txBody>
      </p:sp>
      <p:pic>
        <p:nvPicPr>
          <p:cNvPr id="551" name="Google Shape;551;p71"/>
          <p:cNvPicPr preferRelativeResize="0"/>
          <p:nvPr/>
        </p:nvPicPr>
        <p:blipFill>
          <a:blip r:embed="rId3">
            <a:alphaModFix/>
          </a:blip>
          <a:stretch>
            <a:fillRect/>
          </a:stretch>
        </p:blipFill>
        <p:spPr>
          <a:xfrm>
            <a:off x="2348500" y="2282725"/>
            <a:ext cx="3796177" cy="2113925"/>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72"/>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5. Backpropagation</a:t>
            </a:r>
            <a:endParaRPr b="0" sz="2100">
              <a:solidFill>
                <a:schemeClr val="accent1"/>
              </a:solidFill>
              <a:latin typeface="Lato"/>
              <a:ea typeface="Lato"/>
              <a:cs typeface="Lato"/>
              <a:sym typeface="Lato"/>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557" name="Google Shape;557;p7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558" name="Google Shape;558;p72"/>
          <p:cNvSpPr txBox="1"/>
          <p:nvPr/>
        </p:nvSpPr>
        <p:spPr>
          <a:xfrm>
            <a:off x="421075" y="1293325"/>
            <a:ext cx="8489100" cy="9234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None/>
            </a:pPr>
            <a:r>
              <a:t/>
            </a:r>
            <a:endParaRPr sz="1900"/>
          </a:p>
          <a:p>
            <a:pPr indent="0" lvl="0" marL="0" marR="0" rtl="0" algn="just">
              <a:lnSpc>
                <a:spcPct val="100000"/>
              </a:lnSpc>
              <a:spcBef>
                <a:spcPts val="1200"/>
              </a:spcBef>
              <a:spcAft>
                <a:spcPts val="1200"/>
              </a:spcAft>
              <a:buNone/>
            </a:pPr>
            <a:r>
              <a:t/>
            </a:r>
            <a:endParaRPr sz="1900"/>
          </a:p>
        </p:txBody>
      </p:sp>
      <p:sp>
        <p:nvSpPr>
          <p:cNvPr id="559" name="Google Shape;559;p72"/>
          <p:cNvSpPr txBox="1"/>
          <p:nvPr/>
        </p:nvSpPr>
        <p:spPr>
          <a:xfrm>
            <a:off x="443275" y="1370275"/>
            <a:ext cx="8444700" cy="1354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900"/>
              <a:t>Suma: </a:t>
            </a:r>
            <a:r>
              <a:rPr lang="es" sz="1900"/>
              <a:t>Envía el gradiente de salida directamente hacia atrás a todos los inputs. Consecuencia de que la derivada respecto a los inputs sea 1.</a:t>
            </a:r>
            <a:endParaRPr/>
          </a:p>
          <a:p>
            <a:pPr indent="0" lvl="0" marL="0" rtl="0" algn="l">
              <a:spcBef>
                <a:spcPts val="0"/>
              </a:spcBef>
              <a:spcAft>
                <a:spcPts val="0"/>
              </a:spcAft>
              <a:buNone/>
            </a:pPr>
            <a:r>
              <a:t/>
            </a:r>
            <a:endParaRPr b="1" sz="1900"/>
          </a:p>
          <a:p>
            <a:pPr indent="0" lvl="0" marL="0" rtl="0" algn="l">
              <a:spcBef>
                <a:spcPts val="0"/>
              </a:spcBef>
              <a:spcAft>
                <a:spcPts val="0"/>
              </a:spcAft>
              <a:buNone/>
            </a:pPr>
            <a:r>
              <a:t/>
            </a:r>
            <a:endParaRPr b="1" sz="1900"/>
          </a:p>
        </p:txBody>
      </p:sp>
      <p:sp>
        <p:nvSpPr>
          <p:cNvPr id="560" name="Google Shape;560;p72"/>
          <p:cNvSpPr txBox="1"/>
          <p:nvPr/>
        </p:nvSpPr>
        <p:spPr>
          <a:xfrm>
            <a:off x="5094525" y="2585775"/>
            <a:ext cx="2757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Lato"/>
              <a:ea typeface="Lato"/>
              <a:cs typeface="Lato"/>
              <a:sym typeface="Lato"/>
            </a:endParaRPr>
          </a:p>
        </p:txBody>
      </p:sp>
      <p:pic>
        <p:nvPicPr>
          <p:cNvPr id="561" name="Google Shape;561;p72"/>
          <p:cNvPicPr preferRelativeResize="0"/>
          <p:nvPr/>
        </p:nvPicPr>
        <p:blipFill>
          <a:blip r:embed="rId3">
            <a:alphaModFix/>
          </a:blip>
          <a:stretch>
            <a:fillRect/>
          </a:stretch>
        </p:blipFill>
        <p:spPr>
          <a:xfrm>
            <a:off x="1976975" y="2216725"/>
            <a:ext cx="3849864" cy="2113925"/>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p73"/>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5. Backpropagation</a:t>
            </a:r>
            <a:endParaRPr b="0" sz="2100">
              <a:solidFill>
                <a:schemeClr val="accent1"/>
              </a:solidFill>
              <a:latin typeface="Lato"/>
              <a:ea typeface="Lato"/>
              <a:cs typeface="Lato"/>
              <a:sym typeface="Lato"/>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567" name="Google Shape;567;p7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568" name="Google Shape;568;p73"/>
          <p:cNvSpPr txBox="1"/>
          <p:nvPr/>
        </p:nvSpPr>
        <p:spPr>
          <a:xfrm>
            <a:off x="421075" y="1293325"/>
            <a:ext cx="8489100" cy="9234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None/>
            </a:pPr>
            <a:r>
              <a:t/>
            </a:r>
            <a:endParaRPr sz="1900"/>
          </a:p>
          <a:p>
            <a:pPr indent="0" lvl="0" marL="0" marR="0" rtl="0" algn="just">
              <a:lnSpc>
                <a:spcPct val="100000"/>
              </a:lnSpc>
              <a:spcBef>
                <a:spcPts val="1200"/>
              </a:spcBef>
              <a:spcAft>
                <a:spcPts val="1200"/>
              </a:spcAft>
              <a:buNone/>
            </a:pPr>
            <a:r>
              <a:t/>
            </a:r>
            <a:endParaRPr sz="1900"/>
          </a:p>
        </p:txBody>
      </p:sp>
      <p:sp>
        <p:nvSpPr>
          <p:cNvPr id="569" name="Google Shape;569;p73"/>
          <p:cNvSpPr txBox="1"/>
          <p:nvPr/>
        </p:nvSpPr>
        <p:spPr>
          <a:xfrm>
            <a:off x="443275" y="1370275"/>
            <a:ext cx="8444700" cy="164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900"/>
              <a:t>M</a:t>
            </a:r>
            <a:r>
              <a:rPr b="1" lang="es" sz="1900"/>
              <a:t>áximo: </a:t>
            </a:r>
            <a:r>
              <a:rPr lang="es" sz="1900"/>
              <a:t>La variable con mayor valor se lleva todo el gradiente de salida, mientras que la variable de menor valor tiene gradiente 0 (el gradiente no fluye hacia atrás).</a:t>
            </a:r>
            <a:endParaRPr/>
          </a:p>
          <a:p>
            <a:pPr indent="0" lvl="0" marL="0" rtl="0" algn="l">
              <a:spcBef>
                <a:spcPts val="0"/>
              </a:spcBef>
              <a:spcAft>
                <a:spcPts val="0"/>
              </a:spcAft>
              <a:buNone/>
            </a:pPr>
            <a:r>
              <a:t/>
            </a:r>
            <a:endParaRPr b="1" sz="1900"/>
          </a:p>
          <a:p>
            <a:pPr indent="0" lvl="0" marL="0" rtl="0" algn="l">
              <a:spcBef>
                <a:spcPts val="0"/>
              </a:spcBef>
              <a:spcAft>
                <a:spcPts val="0"/>
              </a:spcAft>
              <a:buNone/>
            </a:pPr>
            <a:r>
              <a:t/>
            </a:r>
            <a:endParaRPr b="1" sz="1900"/>
          </a:p>
        </p:txBody>
      </p:sp>
      <p:sp>
        <p:nvSpPr>
          <p:cNvPr id="570" name="Google Shape;570;p73"/>
          <p:cNvSpPr txBox="1"/>
          <p:nvPr/>
        </p:nvSpPr>
        <p:spPr>
          <a:xfrm>
            <a:off x="5094525" y="2585775"/>
            <a:ext cx="2757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Lato"/>
              <a:ea typeface="Lato"/>
              <a:cs typeface="Lato"/>
              <a:sym typeface="Lato"/>
            </a:endParaRPr>
          </a:p>
        </p:txBody>
      </p:sp>
      <p:pic>
        <p:nvPicPr>
          <p:cNvPr id="571" name="Google Shape;571;p73"/>
          <p:cNvPicPr preferRelativeResize="0"/>
          <p:nvPr/>
        </p:nvPicPr>
        <p:blipFill>
          <a:blip r:embed="rId3">
            <a:alphaModFix/>
          </a:blip>
          <a:stretch>
            <a:fillRect/>
          </a:stretch>
        </p:blipFill>
        <p:spPr>
          <a:xfrm>
            <a:off x="2794325" y="2451400"/>
            <a:ext cx="3269224" cy="1821425"/>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74"/>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5. Backpropagation</a:t>
            </a:r>
            <a:endParaRPr b="0" sz="2100">
              <a:solidFill>
                <a:schemeClr val="accent1"/>
              </a:solidFill>
              <a:latin typeface="Lato"/>
              <a:ea typeface="Lato"/>
              <a:cs typeface="Lato"/>
              <a:sym typeface="Lato"/>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577" name="Google Shape;577;p7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578" name="Google Shape;578;p74"/>
          <p:cNvSpPr txBox="1"/>
          <p:nvPr/>
        </p:nvSpPr>
        <p:spPr>
          <a:xfrm>
            <a:off x="421075" y="1293325"/>
            <a:ext cx="8489100" cy="9234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None/>
            </a:pPr>
            <a:r>
              <a:t/>
            </a:r>
            <a:endParaRPr sz="1900"/>
          </a:p>
          <a:p>
            <a:pPr indent="0" lvl="0" marL="0" marR="0" rtl="0" algn="just">
              <a:lnSpc>
                <a:spcPct val="100000"/>
              </a:lnSpc>
              <a:spcBef>
                <a:spcPts val="1200"/>
              </a:spcBef>
              <a:spcAft>
                <a:spcPts val="1200"/>
              </a:spcAft>
              <a:buNone/>
            </a:pPr>
            <a:r>
              <a:t/>
            </a:r>
            <a:endParaRPr sz="1900"/>
          </a:p>
        </p:txBody>
      </p:sp>
      <p:sp>
        <p:nvSpPr>
          <p:cNvPr id="579" name="Google Shape;579;p74"/>
          <p:cNvSpPr txBox="1"/>
          <p:nvPr/>
        </p:nvSpPr>
        <p:spPr>
          <a:xfrm>
            <a:off x="443275" y="1370275"/>
            <a:ext cx="8444700" cy="193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900"/>
              <a:t>Producto:</a:t>
            </a:r>
            <a:r>
              <a:rPr lang="es" sz="1900"/>
              <a:t> El gradiente de una variable de entrada viene dado por el producto del valor de la otra variable de entrada y el valor del gradiente de salida.</a:t>
            </a:r>
            <a:endParaRPr sz="1900"/>
          </a:p>
          <a:p>
            <a:pPr indent="0" lvl="0" marL="0" rtl="0" algn="l">
              <a:spcBef>
                <a:spcPts val="0"/>
              </a:spcBef>
              <a:spcAft>
                <a:spcPts val="0"/>
              </a:spcAft>
              <a:buNone/>
            </a:pPr>
            <a:r>
              <a:t/>
            </a:r>
            <a:endParaRPr b="1" sz="1900"/>
          </a:p>
          <a:p>
            <a:pPr indent="0" lvl="0" marL="0" rtl="0" algn="l">
              <a:spcBef>
                <a:spcPts val="0"/>
              </a:spcBef>
              <a:spcAft>
                <a:spcPts val="0"/>
              </a:spcAft>
              <a:buNone/>
            </a:pPr>
            <a:r>
              <a:t/>
            </a:r>
            <a:endParaRPr b="1" sz="1900"/>
          </a:p>
          <a:p>
            <a:pPr indent="0" lvl="0" marL="0" rtl="0" algn="l">
              <a:spcBef>
                <a:spcPts val="0"/>
              </a:spcBef>
              <a:spcAft>
                <a:spcPts val="0"/>
              </a:spcAft>
              <a:buNone/>
            </a:pPr>
            <a:r>
              <a:t/>
            </a:r>
            <a:endParaRPr b="1" sz="1900"/>
          </a:p>
        </p:txBody>
      </p:sp>
      <p:sp>
        <p:nvSpPr>
          <p:cNvPr id="580" name="Google Shape;580;p74"/>
          <p:cNvSpPr txBox="1"/>
          <p:nvPr/>
        </p:nvSpPr>
        <p:spPr>
          <a:xfrm>
            <a:off x="6386400" y="2489200"/>
            <a:ext cx="2757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latin typeface="Lato"/>
                <a:ea typeface="Lato"/>
                <a:cs typeface="Lato"/>
                <a:sym typeface="Lato"/>
              </a:rPr>
              <a:t>2*(-4)=8</a:t>
            </a:r>
            <a:endParaRPr>
              <a:latin typeface="Lato"/>
              <a:ea typeface="Lato"/>
              <a:cs typeface="Lato"/>
              <a:sym typeface="Lato"/>
            </a:endParaRPr>
          </a:p>
          <a:p>
            <a:pPr indent="0" lvl="0" marL="0" rtl="0" algn="l">
              <a:spcBef>
                <a:spcPts val="0"/>
              </a:spcBef>
              <a:spcAft>
                <a:spcPts val="0"/>
              </a:spcAft>
              <a:buNone/>
            </a:pPr>
            <a:r>
              <a:rPr lang="es">
                <a:latin typeface="Lato"/>
                <a:ea typeface="Lato"/>
                <a:cs typeface="Lato"/>
                <a:sym typeface="Lato"/>
              </a:rPr>
              <a:t>2*3=6</a:t>
            </a:r>
            <a:endParaRPr>
              <a:latin typeface="Lato"/>
              <a:ea typeface="Lato"/>
              <a:cs typeface="Lato"/>
              <a:sym typeface="Lato"/>
            </a:endParaRPr>
          </a:p>
        </p:txBody>
      </p:sp>
      <p:pic>
        <p:nvPicPr>
          <p:cNvPr id="581" name="Google Shape;581;p74"/>
          <p:cNvPicPr preferRelativeResize="0"/>
          <p:nvPr/>
        </p:nvPicPr>
        <p:blipFill>
          <a:blip r:embed="rId3">
            <a:alphaModFix/>
          </a:blip>
          <a:stretch>
            <a:fillRect/>
          </a:stretch>
        </p:blipFill>
        <p:spPr>
          <a:xfrm>
            <a:off x="1610472" y="2291147"/>
            <a:ext cx="4636826" cy="2358075"/>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75"/>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5. Backpropagation</a:t>
            </a:r>
            <a:endParaRPr b="0" sz="2100">
              <a:solidFill>
                <a:schemeClr val="accent1"/>
              </a:solidFill>
              <a:latin typeface="Lato"/>
              <a:ea typeface="Lato"/>
              <a:cs typeface="Lato"/>
              <a:sym typeface="Lato"/>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587" name="Google Shape;587;p7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588" name="Google Shape;588;p75"/>
          <p:cNvSpPr txBox="1"/>
          <p:nvPr/>
        </p:nvSpPr>
        <p:spPr>
          <a:xfrm>
            <a:off x="421075" y="1293325"/>
            <a:ext cx="8489100" cy="9234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None/>
            </a:pPr>
            <a:r>
              <a:t/>
            </a:r>
            <a:endParaRPr sz="1900"/>
          </a:p>
          <a:p>
            <a:pPr indent="0" lvl="0" marL="0" marR="0" rtl="0" algn="just">
              <a:lnSpc>
                <a:spcPct val="100000"/>
              </a:lnSpc>
              <a:spcBef>
                <a:spcPts val="1200"/>
              </a:spcBef>
              <a:spcAft>
                <a:spcPts val="1200"/>
              </a:spcAft>
              <a:buNone/>
            </a:pPr>
            <a:r>
              <a:t/>
            </a:r>
            <a:endParaRPr sz="1900"/>
          </a:p>
        </p:txBody>
      </p:sp>
      <p:sp>
        <p:nvSpPr>
          <p:cNvPr id="589" name="Google Shape;589;p75"/>
          <p:cNvSpPr txBox="1"/>
          <p:nvPr/>
        </p:nvSpPr>
        <p:spPr>
          <a:xfrm>
            <a:off x="443275" y="1370275"/>
            <a:ext cx="8444700" cy="193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900"/>
              <a:t>Producto:</a:t>
            </a:r>
            <a:r>
              <a:rPr lang="es" sz="1900"/>
              <a:t> El gradiente de una variable de entrada viene dado por el producto del valor de la otra variable de entrada y el valor del gradiente de salida.</a:t>
            </a:r>
            <a:endParaRPr sz="1900"/>
          </a:p>
          <a:p>
            <a:pPr indent="0" lvl="0" marL="0" rtl="0" algn="l">
              <a:spcBef>
                <a:spcPts val="0"/>
              </a:spcBef>
              <a:spcAft>
                <a:spcPts val="0"/>
              </a:spcAft>
              <a:buNone/>
            </a:pPr>
            <a:r>
              <a:t/>
            </a:r>
            <a:endParaRPr b="1" sz="1900"/>
          </a:p>
          <a:p>
            <a:pPr indent="0" lvl="0" marL="0" rtl="0" algn="l">
              <a:spcBef>
                <a:spcPts val="0"/>
              </a:spcBef>
              <a:spcAft>
                <a:spcPts val="0"/>
              </a:spcAft>
              <a:buNone/>
            </a:pPr>
            <a:r>
              <a:t/>
            </a:r>
            <a:endParaRPr b="1" sz="1900"/>
          </a:p>
          <a:p>
            <a:pPr indent="0" lvl="0" marL="0" rtl="0" algn="l">
              <a:spcBef>
                <a:spcPts val="0"/>
              </a:spcBef>
              <a:spcAft>
                <a:spcPts val="0"/>
              </a:spcAft>
              <a:buNone/>
            </a:pPr>
            <a:r>
              <a:t/>
            </a:r>
            <a:endParaRPr b="1" sz="1900"/>
          </a:p>
        </p:txBody>
      </p:sp>
      <p:sp>
        <p:nvSpPr>
          <p:cNvPr id="590" name="Google Shape;590;p75"/>
          <p:cNvSpPr txBox="1"/>
          <p:nvPr/>
        </p:nvSpPr>
        <p:spPr>
          <a:xfrm>
            <a:off x="6386400" y="2489200"/>
            <a:ext cx="2757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latin typeface="Lato"/>
                <a:ea typeface="Lato"/>
                <a:cs typeface="Lato"/>
                <a:sym typeface="Lato"/>
              </a:rPr>
              <a:t>2*(-4)=8</a:t>
            </a:r>
            <a:endParaRPr>
              <a:latin typeface="Lato"/>
              <a:ea typeface="Lato"/>
              <a:cs typeface="Lato"/>
              <a:sym typeface="Lato"/>
            </a:endParaRPr>
          </a:p>
          <a:p>
            <a:pPr indent="0" lvl="0" marL="0" rtl="0" algn="l">
              <a:spcBef>
                <a:spcPts val="0"/>
              </a:spcBef>
              <a:spcAft>
                <a:spcPts val="0"/>
              </a:spcAft>
              <a:buNone/>
            </a:pPr>
            <a:r>
              <a:rPr lang="es">
                <a:latin typeface="Lato"/>
                <a:ea typeface="Lato"/>
                <a:cs typeface="Lato"/>
                <a:sym typeface="Lato"/>
              </a:rPr>
              <a:t>2*3=6</a:t>
            </a:r>
            <a:endParaRPr>
              <a:latin typeface="Lato"/>
              <a:ea typeface="Lato"/>
              <a:cs typeface="Lato"/>
              <a:sym typeface="Lato"/>
            </a:endParaRPr>
          </a:p>
        </p:txBody>
      </p:sp>
      <p:pic>
        <p:nvPicPr>
          <p:cNvPr id="591" name="Google Shape;591;p75"/>
          <p:cNvPicPr preferRelativeResize="0"/>
          <p:nvPr/>
        </p:nvPicPr>
        <p:blipFill>
          <a:blip r:embed="rId3">
            <a:alphaModFix/>
          </a:blip>
          <a:stretch>
            <a:fillRect/>
          </a:stretch>
        </p:blipFill>
        <p:spPr>
          <a:xfrm>
            <a:off x="1610472" y="2291147"/>
            <a:ext cx="4636826" cy="2358075"/>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p76"/>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5. Backpropagation</a:t>
            </a:r>
            <a:endParaRPr b="0" sz="2100">
              <a:solidFill>
                <a:schemeClr val="accent1"/>
              </a:solidFill>
              <a:latin typeface="Lato"/>
              <a:ea typeface="Lato"/>
              <a:cs typeface="Lato"/>
              <a:sym typeface="Lato"/>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597" name="Google Shape;597;p7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598" name="Google Shape;598;p76"/>
          <p:cNvSpPr txBox="1"/>
          <p:nvPr/>
        </p:nvSpPr>
        <p:spPr>
          <a:xfrm>
            <a:off x="421075" y="1293325"/>
            <a:ext cx="8489100" cy="9234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None/>
            </a:pPr>
            <a:r>
              <a:t/>
            </a:r>
            <a:endParaRPr sz="1900"/>
          </a:p>
          <a:p>
            <a:pPr indent="0" lvl="0" marL="0" marR="0" rtl="0" algn="just">
              <a:lnSpc>
                <a:spcPct val="100000"/>
              </a:lnSpc>
              <a:spcBef>
                <a:spcPts val="1200"/>
              </a:spcBef>
              <a:spcAft>
                <a:spcPts val="1200"/>
              </a:spcAft>
              <a:buNone/>
            </a:pPr>
            <a:r>
              <a:t/>
            </a:r>
            <a:endParaRPr sz="1900"/>
          </a:p>
        </p:txBody>
      </p:sp>
      <p:sp>
        <p:nvSpPr>
          <p:cNvPr id="599" name="Google Shape;599;p76"/>
          <p:cNvSpPr txBox="1"/>
          <p:nvPr/>
        </p:nvSpPr>
        <p:spPr>
          <a:xfrm>
            <a:off x="443275" y="1370275"/>
            <a:ext cx="4378800" cy="281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900"/>
              <a:t>Hemos conseguido que operaciones muy costosas a nivel de cálculo, se conviertan en operaciones aritméticas básicas.</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rPr lang="es" sz="1900"/>
              <a:t>Gracias a la regla de la cadena.</a:t>
            </a:r>
            <a:endParaRPr sz="1900"/>
          </a:p>
          <a:p>
            <a:pPr indent="0" lvl="0" marL="0" rtl="0" algn="l">
              <a:spcBef>
                <a:spcPts val="0"/>
              </a:spcBef>
              <a:spcAft>
                <a:spcPts val="0"/>
              </a:spcAft>
              <a:buNone/>
            </a:pPr>
            <a:r>
              <a:t/>
            </a:r>
            <a:endParaRPr b="1" sz="1900"/>
          </a:p>
          <a:p>
            <a:pPr indent="0" lvl="0" marL="0" rtl="0" algn="l">
              <a:spcBef>
                <a:spcPts val="0"/>
              </a:spcBef>
              <a:spcAft>
                <a:spcPts val="0"/>
              </a:spcAft>
              <a:buNone/>
            </a:pPr>
            <a:r>
              <a:t/>
            </a:r>
            <a:endParaRPr b="1" sz="1900"/>
          </a:p>
          <a:p>
            <a:pPr indent="0" lvl="0" marL="0" rtl="0" algn="l">
              <a:spcBef>
                <a:spcPts val="0"/>
              </a:spcBef>
              <a:spcAft>
                <a:spcPts val="0"/>
              </a:spcAft>
              <a:buNone/>
            </a:pPr>
            <a:r>
              <a:t/>
            </a:r>
            <a:endParaRPr b="1" sz="1900"/>
          </a:p>
        </p:txBody>
      </p:sp>
      <p:sp>
        <p:nvSpPr>
          <p:cNvPr id="600" name="Google Shape;600;p76"/>
          <p:cNvSpPr txBox="1"/>
          <p:nvPr/>
        </p:nvSpPr>
        <p:spPr>
          <a:xfrm>
            <a:off x="6386400" y="2489200"/>
            <a:ext cx="2757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Lato"/>
              <a:ea typeface="Lato"/>
              <a:cs typeface="Lato"/>
              <a:sym typeface="Lato"/>
            </a:endParaRPr>
          </a:p>
        </p:txBody>
      </p:sp>
      <p:pic>
        <p:nvPicPr>
          <p:cNvPr id="601" name="Google Shape;601;p76"/>
          <p:cNvPicPr preferRelativeResize="0"/>
          <p:nvPr/>
        </p:nvPicPr>
        <p:blipFill>
          <a:blip r:embed="rId3">
            <a:alphaModFix/>
          </a:blip>
          <a:stretch>
            <a:fillRect/>
          </a:stretch>
        </p:blipFill>
        <p:spPr>
          <a:xfrm>
            <a:off x="5052275" y="1165750"/>
            <a:ext cx="3364075" cy="3137276"/>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p77"/>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5. Backpropagation</a:t>
            </a:r>
            <a:endParaRPr b="0" sz="2100">
              <a:solidFill>
                <a:schemeClr val="accent1"/>
              </a:solidFill>
              <a:latin typeface="Lato"/>
              <a:ea typeface="Lato"/>
              <a:cs typeface="Lato"/>
              <a:sym typeface="Lato"/>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607" name="Google Shape;607;p7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608" name="Google Shape;608;p77"/>
          <p:cNvSpPr txBox="1"/>
          <p:nvPr/>
        </p:nvSpPr>
        <p:spPr>
          <a:xfrm>
            <a:off x="421075" y="1293325"/>
            <a:ext cx="8489100" cy="9234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None/>
            </a:pPr>
            <a:r>
              <a:t/>
            </a:r>
            <a:endParaRPr sz="1900"/>
          </a:p>
          <a:p>
            <a:pPr indent="0" lvl="0" marL="0" marR="0" rtl="0" algn="just">
              <a:lnSpc>
                <a:spcPct val="100000"/>
              </a:lnSpc>
              <a:spcBef>
                <a:spcPts val="1200"/>
              </a:spcBef>
              <a:spcAft>
                <a:spcPts val="1200"/>
              </a:spcAft>
              <a:buNone/>
            </a:pPr>
            <a:r>
              <a:t/>
            </a:r>
            <a:endParaRPr sz="1900"/>
          </a:p>
        </p:txBody>
      </p:sp>
      <p:sp>
        <p:nvSpPr>
          <p:cNvPr id="609" name="Google Shape;609;p77"/>
          <p:cNvSpPr txBox="1"/>
          <p:nvPr/>
        </p:nvSpPr>
        <p:spPr>
          <a:xfrm>
            <a:off x="443275" y="1370275"/>
            <a:ext cx="7813200" cy="164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900"/>
              <a:t>Así podríamos representar una neurona en un grafo de computación.</a:t>
            </a:r>
            <a:endParaRPr sz="1900"/>
          </a:p>
          <a:p>
            <a:pPr indent="0" lvl="0" marL="0" rtl="0" algn="l">
              <a:spcBef>
                <a:spcPts val="0"/>
              </a:spcBef>
              <a:spcAft>
                <a:spcPts val="0"/>
              </a:spcAft>
              <a:buNone/>
            </a:pPr>
            <a:r>
              <a:rPr lang="es" sz="1900"/>
              <a:t>Para una función de activación Sigmoid tenemos el siguiente grafo.</a:t>
            </a:r>
            <a:endParaRPr sz="1900"/>
          </a:p>
          <a:p>
            <a:pPr indent="0" lvl="0" marL="0" rtl="0" algn="l">
              <a:spcBef>
                <a:spcPts val="0"/>
              </a:spcBef>
              <a:spcAft>
                <a:spcPts val="0"/>
              </a:spcAft>
              <a:buNone/>
            </a:pPr>
            <a:r>
              <a:t/>
            </a:r>
            <a:endParaRPr b="1" sz="1900"/>
          </a:p>
          <a:p>
            <a:pPr indent="0" lvl="0" marL="0" rtl="0" algn="l">
              <a:spcBef>
                <a:spcPts val="0"/>
              </a:spcBef>
              <a:spcAft>
                <a:spcPts val="0"/>
              </a:spcAft>
              <a:buNone/>
            </a:pPr>
            <a:r>
              <a:t/>
            </a:r>
            <a:endParaRPr b="1" sz="1900"/>
          </a:p>
          <a:p>
            <a:pPr indent="0" lvl="0" marL="0" rtl="0" algn="l">
              <a:spcBef>
                <a:spcPts val="0"/>
              </a:spcBef>
              <a:spcAft>
                <a:spcPts val="0"/>
              </a:spcAft>
              <a:buNone/>
            </a:pPr>
            <a:r>
              <a:t/>
            </a:r>
            <a:endParaRPr b="1" sz="1900"/>
          </a:p>
        </p:txBody>
      </p:sp>
      <p:sp>
        <p:nvSpPr>
          <p:cNvPr id="610" name="Google Shape;610;p77"/>
          <p:cNvSpPr txBox="1"/>
          <p:nvPr/>
        </p:nvSpPr>
        <p:spPr>
          <a:xfrm>
            <a:off x="6386400" y="2489200"/>
            <a:ext cx="2757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Lato"/>
              <a:ea typeface="Lato"/>
              <a:cs typeface="Lato"/>
              <a:sym typeface="Lato"/>
            </a:endParaRPr>
          </a:p>
        </p:txBody>
      </p:sp>
      <p:pic>
        <p:nvPicPr>
          <p:cNvPr id="611" name="Google Shape;611;p77"/>
          <p:cNvPicPr preferRelativeResize="0"/>
          <p:nvPr/>
        </p:nvPicPr>
        <p:blipFill>
          <a:blip r:embed="rId3">
            <a:alphaModFix/>
          </a:blip>
          <a:stretch>
            <a:fillRect/>
          </a:stretch>
        </p:blipFill>
        <p:spPr>
          <a:xfrm>
            <a:off x="523900" y="2322625"/>
            <a:ext cx="4660886" cy="1821425"/>
          </a:xfrm>
          <a:prstGeom prst="rect">
            <a:avLst/>
          </a:prstGeom>
          <a:noFill/>
          <a:ln>
            <a:noFill/>
          </a:ln>
        </p:spPr>
      </p:pic>
      <p:pic>
        <p:nvPicPr>
          <p:cNvPr id="612" name="Google Shape;612;p77"/>
          <p:cNvPicPr preferRelativeResize="0"/>
          <p:nvPr/>
        </p:nvPicPr>
        <p:blipFill>
          <a:blip r:embed="rId4">
            <a:alphaModFix/>
          </a:blip>
          <a:stretch>
            <a:fillRect/>
          </a:stretch>
        </p:blipFill>
        <p:spPr>
          <a:xfrm>
            <a:off x="5184786" y="2496675"/>
            <a:ext cx="3547088" cy="857439"/>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p78"/>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5. Backpropagation</a:t>
            </a:r>
            <a:endParaRPr b="0" sz="2100">
              <a:solidFill>
                <a:schemeClr val="accent1"/>
              </a:solidFill>
              <a:latin typeface="Lato"/>
              <a:ea typeface="Lato"/>
              <a:cs typeface="Lato"/>
              <a:sym typeface="Lato"/>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618" name="Google Shape;618;p7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619" name="Google Shape;619;p78"/>
          <p:cNvSpPr txBox="1"/>
          <p:nvPr/>
        </p:nvSpPr>
        <p:spPr>
          <a:xfrm>
            <a:off x="421075" y="1293325"/>
            <a:ext cx="8489100" cy="9234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None/>
            </a:pPr>
            <a:r>
              <a:t/>
            </a:r>
            <a:endParaRPr sz="1900"/>
          </a:p>
          <a:p>
            <a:pPr indent="0" lvl="0" marL="0" marR="0" rtl="0" algn="just">
              <a:lnSpc>
                <a:spcPct val="100000"/>
              </a:lnSpc>
              <a:spcBef>
                <a:spcPts val="1200"/>
              </a:spcBef>
              <a:spcAft>
                <a:spcPts val="1200"/>
              </a:spcAft>
              <a:buNone/>
            </a:pPr>
            <a:r>
              <a:t/>
            </a:r>
            <a:endParaRPr sz="1900"/>
          </a:p>
        </p:txBody>
      </p:sp>
      <p:sp>
        <p:nvSpPr>
          <p:cNvPr id="620" name="Google Shape;620;p78"/>
          <p:cNvSpPr txBox="1"/>
          <p:nvPr/>
        </p:nvSpPr>
        <p:spPr>
          <a:xfrm>
            <a:off x="443275" y="1370275"/>
            <a:ext cx="7813200" cy="1354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900"/>
              <a:t>Fragmento de código de TensorFlow.</a:t>
            </a:r>
            <a:endParaRPr sz="1900"/>
          </a:p>
          <a:p>
            <a:pPr indent="0" lvl="0" marL="0" rtl="0" algn="l">
              <a:spcBef>
                <a:spcPts val="0"/>
              </a:spcBef>
              <a:spcAft>
                <a:spcPts val="0"/>
              </a:spcAft>
              <a:buNone/>
            </a:pPr>
            <a:r>
              <a:t/>
            </a:r>
            <a:endParaRPr b="1" sz="1900"/>
          </a:p>
          <a:p>
            <a:pPr indent="0" lvl="0" marL="0" rtl="0" algn="l">
              <a:spcBef>
                <a:spcPts val="0"/>
              </a:spcBef>
              <a:spcAft>
                <a:spcPts val="0"/>
              </a:spcAft>
              <a:buNone/>
            </a:pPr>
            <a:r>
              <a:t/>
            </a:r>
            <a:endParaRPr b="1" sz="1900"/>
          </a:p>
          <a:p>
            <a:pPr indent="0" lvl="0" marL="0" rtl="0" algn="l">
              <a:spcBef>
                <a:spcPts val="0"/>
              </a:spcBef>
              <a:spcAft>
                <a:spcPts val="0"/>
              </a:spcAft>
              <a:buNone/>
            </a:pPr>
            <a:r>
              <a:t/>
            </a:r>
            <a:endParaRPr b="1" sz="1900"/>
          </a:p>
        </p:txBody>
      </p:sp>
      <p:sp>
        <p:nvSpPr>
          <p:cNvPr id="621" name="Google Shape;621;p78"/>
          <p:cNvSpPr txBox="1"/>
          <p:nvPr/>
        </p:nvSpPr>
        <p:spPr>
          <a:xfrm>
            <a:off x="6386400" y="2489200"/>
            <a:ext cx="2757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Lato"/>
              <a:ea typeface="Lato"/>
              <a:cs typeface="Lato"/>
              <a:sym typeface="Lato"/>
            </a:endParaRPr>
          </a:p>
        </p:txBody>
      </p:sp>
      <p:pic>
        <p:nvPicPr>
          <p:cNvPr id="622" name="Google Shape;622;p78"/>
          <p:cNvPicPr preferRelativeResize="0"/>
          <p:nvPr/>
        </p:nvPicPr>
        <p:blipFill>
          <a:blip r:embed="rId3">
            <a:alphaModFix/>
          </a:blip>
          <a:stretch>
            <a:fillRect/>
          </a:stretch>
        </p:blipFill>
        <p:spPr>
          <a:xfrm>
            <a:off x="1141100" y="1911225"/>
            <a:ext cx="6221676" cy="2276225"/>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p79"/>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5. Backpropagation</a:t>
            </a:r>
            <a:endParaRPr b="0" sz="2100">
              <a:solidFill>
                <a:schemeClr val="accent1"/>
              </a:solidFill>
              <a:latin typeface="Lato"/>
              <a:ea typeface="Lato"/>
              <a:cs typeface="Lato"/>
              <a:sym typeface="Lato"/>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628" name="Google Shape;628;p7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629" name="Google Shape;629;p79"/>
          <p:cNvSpPr txBox="1"/>
          <p:nvPr/>
        </p:nvSpPr>
        <p:spPr>
          <a:xfrm>
            <a:off x="421075" y="1293325"/>
            <a:ext cx="8489100" cy="9234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None/>
            </a:pPr>
            <a:r>
              <a:t/>
            </a:r>
            <a:endParaRPr sz="1900"/>
          </a:p>
          <a:p>
            <a:pPr indent="0" lvl="0" marL="0" marR="0" rtl="0" algn="just">
              <a:lnSpc>
                <a:spcPct val="100000"/>
              </a:lnSpc>
              <a:spcBef>
                <a:spcPts val="1200"/>
              </a:spcBef>
              <a:spcAft>
                <a:spcPts val="1200"/>
              </a:spcAft>
              <a:buNone/>
            </a:pPr>
            <a:r>
              <a:t/>
            </a:r>
            <a:endParaRPr sz="1900"/>
          </a:p>
        </p:txBody>
      </p:sp>
      <p:sp>
        <p:nvSpPr>
          <p:cNvPr id="630" name="Google Shape;630;p79"/>
          <p:cNvSpPr txBox="1"/>
          <p:nvPr/>
        </p:nvSpPr>
        <p:spPr>
          <a:xfrm>
            <a:off x="443275" y="1370275"/>
            <a:ext cx="7813200" cy="281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900"/>
              <a:t>En definitiva, para aplicar el algoritmo de backpropagation, por cada</a:t>
            </a:r>
            <a:endParaRPr sz="1900"/>
          </a:p>
          <a:p>
            <a:pPr indent="0" lvl="0" marL="0" rtl="0" algn="l">
              <a:spcBef>
                <a:spcPts val="0"/>
              </a:spcBef>
              <a:spcAft>
                <a:spcPts val="0"/>
              </a:spcAft>
              <a:buNone/>
            </a:pPr>
            <a:r>
              <a:rPr lang="es" sz="1900"/>
              <a:t>operación o nodo a realizar necesitamos:</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rPr lang="es" sz="1900"/>
              <a:t>○ Forward pass: calcular el valor de salida del nodo.</a:t>
            </a:r>
            <a:endParaRPr sz="1900"/>
          </a:p>
          <a:p>
            <a:pPr indent="0" lvl="0" marL="0" rtl="0" algn="l">
              <a:spcBef>
                <a:spcPts val="0"/>
              </a:spcBef>
              <a:spcAft>
                <a:spcPts val="0"/>
              </a:spcAft>
              <a:buNone/>
            </a:pPr>
            <a:r>
              <a:rPr lang="es" sz="1900"/>
              <a:t>○ Backward pass: obtener el cálculo de los gradientes de cada input a partir del gradiente propagado hacia atrás.</a:t>
            </a:r>
            <a:endParaRPr sz="1900"/>
          </a:p>
          <a:p>
            <a:pPr indent="0" lvl="0" marL="0" rtl="0" algn="l">
              <a:spcBef>
                <a:spcPts val="0"/>
              </a:spcBef>
              <a:spcAft>
                <a:spcPts val="0"/>
              </a:spcAft>
              <a:buNone/>
            </a:pPr>
            <a:r>
              <a:t/>
            </a:r>
            <a:endParaRPr b="1" sz="1900"/>
          </a:p>
          <a:p>
            <a:pPr indent="0" lvl="0" marL="0" rtl="0" algn="l">
              <a:spcBef>
                <a:spcPts val="0"/>
              </a:spcBef>
              <a:spcAft>
                <a:spcPts val="0"/>
              </a:spcAft>
              <a:buNone/>
            </a:pPr>
            <a:r>
              <a:t/>
            </a:r>
            <a:endParaRPr b="1" sz="1900"/>
          </a:p>
          <a:p>
            <a:pPr indent="0" lvl="0" marL="0" rtl="0" algn="l">
              <a:spcBef>
                <a:spcPts val="0"/>
              </a:spcBef>
              <a:spcAft>
                <a:spcPts val="0"/>
              </a:spcAft>
              <a:buNone/>
            </a:pPr>
            <a:r>
              <a:t/>
            </a:r>
            <a:endParaRPr b="1" sz="1900"/>
          </a:p>
        </p:txBody>
      </p:sp>
      <p:sp>
        <p:nvSpPr>
          <p:cNvPr id="631" name="Google Shape;631;p79"/>
          <p:cNvSpPr txBox="1"/>
          <p:nvPr/>
        </p:nvSpPr>
        <p:spPr>
          <a:xfrm>
            <a:off x="6386400" y="2489200"/>
            <a:ext cx="2757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Lato"/>
              <a:ea typeface="Lato"/>
              <a:cs typeface="Lato"/>
              <a:sym typeface="Lato"/>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sp>
        <p:nvSpPr>
          <p:cNvPr id="636" name="Google Shape;636;p80"/>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5. Backpropagation</a:t>
            </a:r>
            <a:endParaRPr b="0" sz="2100">
              <a:solidFill>
                <a:schemeClr val="accent1"/>
              </a:solidFill>
              <a:latin typeface="Lato"/>
              <a:ea typeface="Lato"/>
              <a:cs typeface="Lato"/>
              <a:sym typeface="Lato"/>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637" name="Google Shape;637;p8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638" name="Google Shape;638;p80"/>
          <p:cNvSpPr txBox="1"/>
          <p:nvPr/>
        </p:nvSpPr>
        <p:spPr>
          <a:xfrm>
            <a:off x="421075" y="1293325"/>
            <a:ext cx="8489100" cy="9234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None/>
            </a:pPr>
            <a:r>
              <a:t/>
            </a:r>
            <a:endParaRPr sz="1900"/>
          </a:p>
          <a:p>
            <a:pPr indent="0" lvl="0" marL="0" marR="0" rtl="0" algn="just">
              <a:lnSpc>
                <a:spcPct val="100000"/>
              </a:lnSpc>
              <a:spcBef>
                <a:spcPts val="1200"/>
              </a:spcBef>
              <a:spcAft>
                <a:spcPts val="1200"/>
              </a:spcAft>
              <a:buNone/>
            </a:pPr>
            <a:r>
              <a:t/>
            </a:r>
            <a:endParaRPr sz="1900"/>
          </a:p>
        </p:txBody>
      </p:sp>
      <p:sp>
        <p:nvSpPr>
          <p:cNvPr id="639" name="Google Shape;639;p80"/>
          <p:cNvSpPr txBox="1"/>
          <p:nvPr/>
        </p:nvSpPr>
        <p:spPr>
          <a:xfrm>
            <a:off x="443275" y="1370275"/>
            <a:ext cx="8093100" cy="34017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s" sz="1900"/>
              <a:t>Conociendo las derivadas de cada neurona y de la función de coste,</a:t>
            </a:r>
            <a:endParaRPr sz="1900"/>
          </a:p>
          <a:p>
            <a:pPr indent="0" lvl="0" marL="0" rtl="0" algn="just">
              <a:spcBef>
                <a:spcPts val="0"/>
              </a:spcBef>
              <a:spcAft>
                <a:spcPts val="0"/>
              </a:spcAft>
              <a:buNone/>
            </a:pPr>
            <a:r>
              <a:rPr lang="es" sz="1900"/>
              <a:t>empezamos calculando el gradiente del coste final y lo propagamos</a:t>
            </a:r>
            <a:endParaRPr sz="1900"/>
          </a:p>
          <a:p>
            <a:pPr indent="0" lvl="0" marL="0" rtl="0" algn="just">
              <a:spcBef>
                <a:spcPts val="0"/>
              </a:spcBef>
              <a:spcAft>
                <a:spcPts val="0"/>
              </a:spcAft>
              <a:buNone/>
            </a:pPr>
            <a:r>
              <a:rPr lang="es" sz="1900"/>
              <a:t>hacia atrás hasta obtener los gradientes respecto a todos los</a:t>
            </a:r>
            <a:endParaRPr sz="1900"/>
          </a:p>
          <a:p>
            <a:pPr indent="0" lvl="0" marL="0" rtl="0" algn="just">
              <a:spcBef>
                <a:spcPts val="0"/>
              </a:spcBef>
              <a:spcAft>
                <a:spcPts val="0"/>
              </a:spcAft>
              <a:buNone/>
            </a:pPr>
            <a:r>
              <a:rPr lang="es" sz="1900"/>
              <a:t>parámetros.</a:t>
            </a:r>
            <a:endParaRPr sz="1900"/>
          </a:p>
          <a:p>
            <a:pPr indent="0" lvl="0" marL="0" rtl="0" algn="just">
              <a:spcBef>
                <a:spcPts val="0"/>
              </a:spcBef>
              <a:spcAft>
                <a:spcPts val="0"/>
              </a:spcAft>
              <a:buNone/>
            </a:pPr>
            <a:r>
              <a:t/>
            </a:r>
            <a:endParaRPr sz="1900"/>
          </a:p>
          <a:p>
            <a:pPr indent="0" lvl="0" marL="0" rtl="0" algn="just">
              <a:spcBef>
                <a:spcPts val="0"/>
              </a:spcBef>
              <a:spcAft>
                <a:spcPts val="0"/>
              </a:spcAft>
              <a:buNone/>
            </a:pPr>
            <a:r>
              <a:rPr lang="es" sz="1900"/>
              <a:t>Este proceso es general y funcionará para cualquier tipo de</a:t>
            </a:r>
            <a:endParaRPr sz="1900"/>
          </a:p>
          <a:p>
            <a:pPr indent="0" lvl="0" marL="0" rtl="0" algn="just">
              <a:spcBef>
                <a:spcPts val="0"/>
              </a:spcBef>
              <a:spcAft>
                <a:spcPts val="0"/>
              </a:spcAft>
              <a:buNone/>
            </a:pPr>
            <a:r>
              <a:rPr lang="es" sz="1900"/>
              <a:t>arquitectura de red siempre y cuando esté constituida de operaciones</a:t>
            </a:r>
            <a:endParaRPr sz="1900"/>
          </a:p>
          <a:p>
            <a:pPr indent="0" lvl="0" marL="0" rtl="0" algn="just">
              <a:spcBef>
                <a:spcPts val="0"/>
              </a:spcBef>
              <a:spcAft>
                <a:spcPts val="0"/>
              </a:spcAft>
              <a:buNone/>
            </a:pPr>
            <a:r>
              <a:rPr lang="es" sz="1900"/>
              <a:t>diferenciables.</a:t>
            </a:r>
            <a:endParaRPr sz="1900"/>
          </a:p>
          <a:p>
            <a:pPr indent="0" lvl="0" marL="0" rtl="0" algn="l">
              <a:spcBef>
                <a:spcPts val="0"/>
              </a:spcBef>
              <a:spcAft>
                <a:spcPts val="0"/>
              </a:spcAft>
              <a:buNone/>
            </a:pPr>
            <a:r>
              <a:t/>
            </a:r>
            <a:endParaRPr b="1" sz="1900"/>
          </a:p>
          <a:p>
            <a:pPr indent="0" lvl="0" marL="0" rtl="0" algn="l">
              <a:spcBef>
                <a:spcPts val="0"/>
              </a:spcBef>
              <a:spcAft>
                <a:spcPts val="0"/>
              </a:spcAft>
              <a:buNone/>
            </a:pPr>
            <a:r>
              <a:t/>
            </a:r>
            <a:endParaRPr b="1" sz="1900"/>
          </a:p>
          <a:p>
            <a:pPr indent="0" lvl="0" marL="0" rtl="0" algn="l">
              <a:spcBef>
                <a:spcPts val="0"/>
              </a:spcBef>
              <a:spcAft>
                <a:spcPts val="0"/>
              </a:spcAft>
              <a:buNone/>
            </a:pPr>
            <a:r>
              <a:t/>
            </a:r>
            <a:endParaRPr b="1" sz="1900"/>
          </a:p>
        </p:txBody>
      </p:sp>
      <p:sp>
        <p:nvSpPr>
          <p:cNvPr id="640" name="Google Shape;640;p80"/>
          <p:cNvSpPr txBox="1"/>
          <p:nvPr/>
        </p:nvSpPr>
        <p:spPr>
          <a:xfrm>
            <a:off x="6386400" y="2489200"/>
            <a:ext cx="2757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Lato"/>
              <a:ea typeface="Lato"/>
              <a:cs typeface="Lato"/>
              <a:sym typeface="Lato"/>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sp>
        <p:nvSpPr>
          <p:cNvPr id="645" name="Google Shape;645;p81"/>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6. Ejercicios de regla de la cadena.</a:t>
            </a:r>
            <a:endParaRPr b="0" sz="2100">
              <a:solidFill>
                <a:schemeClr val="accent1"/>
              </a:solidFill>
              <a:latin typeface="Lato"/>
              <a:ea typeface="Lato"/>
              <a:cs typeface="Lato"/>
              <a:sym typeface="Lato"/>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646" name="Google Shape;646;p8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647" name="Google Shape;647;p81"/>
          <p:cNvSpPr txBox="1"/>
          <p:nvPr/>
        </p:nvSpPr>
        <p:spPr>
          <a:xfrm>
            <a:off x="421075" y="1293325"/>
            <a:ext cx="8489100" cy="9234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None/>
            </a:pPr>
            <a:r>
              <a:t/>
            </a:r>
            <a:endParaRPr sz="1900"/>
          </a:p>
          <a:p>
            <a:pPr indent="0" lvl="0" marL="0" marR="0" rtl="0" algn="just">
              <a:lnSpc>
                <a:spcPct val="100000"/>
              </a:lnSpc>
              <a:spcBef>
                <a:spcPts val="1200"/>
              </a:spcBef>
              <a:spcAft>
                <a:spcPts val="1200"/>
              </a:spcAft>
              <a:buNone/>
            </a:pPr>
            <a:r>
              <a:t/>
            </a:r>
            <a:endParaRPr sz="1900"/>
          </a:p>
        </p:txBody>
      </p:sp>
      <p:sp>
        <p:nvSpPr>
          <p:cNvPr id="648" name="Google Shape;648;p81"/>
          <p:cNvSpPr txBox="1"/>
          <p:nvPr/>
        </p:nvSpPr>
        <p:spPr>
          <a:xfrm>
            <a:off x="443275" y="1370275"/>
            <a:ext cx="8444700" cy="1062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900"/>
              <a:t>Ejercicio 1</a:t>
            </a:r>
            <a:endParaRPr b="1" sz="1900"/>
          </a:p>
          <a:p>
            <a:pPr indent="0" lvl="0" marL="0" rtl="0" algn="l">
              <a:spcBef>
                <a:spcPts val="0"/>
              </a:spcBef>
              <a:spcAft>
                <a:spcPts val="0"/>
              </a:spcAft>
              <a:buNone/>
            </a:pPr>
            <a:r>
              <a:t/>
            </a:r>
            <a:endParaRPr b="1" sz="1900"/>
          </a:p>
          <a:p>
            <a:pPr indent="0" lvl="0" marL="0" rtl="0" algn="l">
              <a:spcBef>
                <a:spcPts val="0"/>
              </a:spcBef>
              <a:spcAft>
                <a:spcPts val="0"/>
              </a:spcAft>
              <a:buNone/>
            </a:pPr>
            <a:r>
              <a:t/>
            </a:r>
            <a:endParaRPr b="1" sz="1900"/>
          </a:p>
        </p:txBody>
      </p:sp>
      <p:sp>
        <p:nvSpPr>
          <p:cNvPr id="649" name="Google Shape;649;p81"/>
          <p:cNvSpPr txBox="1"/>
          <p:nvPr/>
        </p:nvSpPr>
        <p:spPr>
          <a:xfrm>
            <a:off x="6386400" y="2489200"/>
            <a:ext cx="2757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Lato"/>
              <a:ea typeface="Lato"/>
              <a:cs typeface="Lato"/>
              <a:sym typeface="Lato"/>
            </a:endParaRPr>
          </a:p>
        </p:txBody>
      </p:sp>
      <p:pic>
        <p:nvPicPr>
          <p:cNvPr id="650" name="Google Shape;650;p81"/>
          <p:cNvPicPr preferRelativeResize="0"/>
          <p:nvPr/>
        </p:nvPicPr>
        <p:blipFill>
          <a:blip r:embed="rId3">
            <a:alphaModFix/>
          </a:blip>
          <a:stretch>
            <a:fillRect/>
          </a:stretch>
        </p:blipFill>
        <p:spPr>
          <a:xfrm>
            <a:off x="1866900" y="2025200"/>
            <a:ext cx="4391025" cy="2276475"/>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 name="Shape 654"/>
        <p:cNvGrpSpPr/>
        <p:nvPr/>
      </p:nvGrpSpPr>
      <p:grpSpPr>
        <a:xfrm>
          <a:off x="0" y="0"/>
          <a:ext cx="0" cy="0"/>
          <a:chOff x="0" y="0"/>
          <a:chExt cx="0" cy="0"/>
        </a:xfrm>
      </p:grpSpPr>
      <p:sp>
        <p:nvSpPr>
          <p:cNvPr id="655" name="Google Shape;655;p82"/>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6. Ejercicios de regla de la cadena.</a:t>
            </a:r>
            <a:endParaRPr b="0" sz="2100">
              <a:solidFill>
                <a:schemeClr val="accent1"/>
              </a:solidFill>
              <a:latin typeface="Lato"/>
              <a:ea typeface="Lato"/>
              <a:cs typeface="Lato"/>
              <a:sym typeface="Lato"/>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656" name="Google Shape;656;p8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657" name="Google Shape;657;p82"/>
          <p:cNvSpPr txBox="1"/>
          <p:nvPr/>
        </p:nvSpPr>
        <p:spPr>
          <a:xfrm>
            <a:off x="421075" y="1293325"/>
            <a:ext cx="8489100" cy="9234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None/>
            </a:pPr>
            <a:r>
              <a:t/>
            </a:r>
            <a:endParaRPr sz="1900"/>
          </a:p>
          <a:p>
            <a:pPr indent="0" lvl="0" marL="0" marR="0" rtl="0" algn="just">
              <a:lnSpc>
                <a:spcPct val="100000"/>
              </a:lnSpc>
              <a:spcBef>
                <a:spcPts val="1200"/>
              </a:spcBef>
              <a:spcAft>
                <a:spcPts val="1200"/>
              </a:spcAft>
              <a:buNone/>
            </a:pPr>
            <a:r>
              <a:t/>
            </a:r>
            <a:endParaRPr sz="1900"/>
          </a:p>
        </p:txBody>
      </p:sp>
      <p:sp>
        <p:nvSpPr>
          <p:cNvPr id="658" name="Google Shape;658;p82"/>
          <p:cNvSpPr txBox="1"/>
          <p:nvPr/>
        </p:nvSpPr>
        <p:spPr>
          <a:xfrm>
            <a:off x="443275" y="1370275"/>
            <a:ext cx="8444700" cy="1062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900"/>
              <a:t>Ejercicio 2</a:t>
            </a:r>
            <a:endParaRPr b="1" sz="1900"/>
          </a:p>
          <a:p>
            <a:pPr indent="0" lvl="0" marL="0" rtl="0" algn="l">
              <a:spcBef>
                <a:spcPts val="0"/>
              </a:spcBef>
              <a:spcAft>
                <a:spcPts val="0"/>
              </a:spcAft>
              <a:buNone/>
            </a:pPr>
            <a:r>
              <a:t/>
            </a:r>
            <a:endParaRPr b="1" sz="1900"/>
          </a:p>
          <a:p>
            <a:pPr indent="0" lvl="0" marL="0" rtl="0" algn="l">
              <a:spcBef>
                <a:spcPts val="0"/>
              </a:spcBef>
              <a:spcAft>
                <a:spcPts val="0"/>
              </a:spcAft>
              <a:buNone/>
            </a:pPr>
            <a:r>
              <a:t/>
            </a:r>
            <a:endParaRPr b="1" sz="1900"/>
          </a:p>
        </p:txBody>
      </p:sp>
      <p:sp>
        <p:nvSpPr>
          <p:cNvPr id="659" name="Google Shape;659;p82"/>
          <p:cNvSpPr txBox="1"/>
          <p:nvPr/>
        </p:nvSpPr>
        <p:spPr>
          <a:xfrm>
            <a:off x="6386400" y="2489200"/>
            <a:ext cx="2757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Lato"/>
              <a:ea typeface="Lato"/>
              <a:cs typeface="Lato"/>
              <a:sym typeface="Lato"/>
            </a:endParaRPr>
          </a:p>
        </p:txBody>
      </p:sp>
      <p:pic>
        <p:nvPicPr>
          <p:cNvPr id="660" name="Google Shape;660;p82"/>
          <p:cNvPicPr preferRelativeResize="0"/>
          <p:nvPr/>
        </p:nvPicPr>
        <p:blipFill>
          <a:blip r:embed="rId3">
            <a:alphaModFix/>
          </a:blip>
          <a:stretch>
            <a:fillRect/>
          </a:stretch>
        </p:blipFill>
        <p:spPr>
          <a:xfrm>
            <a:off x="1686425" y="2025200"/>
            <a:ext cx="4248150" cy="2266950"/>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4" name="Shape 664"/>
        <p:cNvGrpSpPr/>
        <p:nvPr/>
      </p:nvGrpSpPr>
      <p:grpSpPr>
        <a:xfrm>
          <a:off x="0" y="0"/>
          <a:ext cx="0" cy="0"/>
          <a:chOff x="0" y="0"/>
          <a:chExt cx="0" cy="0"/>
        </a:xfrm>
      </p:grpSpPr>
      <p:sp>
        <p:nvSpPr>
          <p:cNvPr id="665" name="Google Shape;665;p83"/>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6. Ejercicios de regla de la cadena.</a:t>
            </a:r>
            <a:endParaRPr b="0" sz="2100">
              <a:solidFill>
                <a:schemeClr val="accent1"/>
              </a:solidFill>
              <a:latin typeface="Lato"/>
              <a:ea typeface="Lato"/>
              <a:cs typeface="Lato"/>
              <a:sym typeface="Lato"/>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666" name="Google Shape;666;p8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667" name="Google Shape;667;p83"/>
          <p:cNvSpPr txBox="1"/>
          <p:nvPr/>
        </p:nvSpPr>
        <p:spPr>
          <a:xfrm>
            <a:off x="421075" y="1293325"/>
            <a:ext cx="8489100" cy="9234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None/>
            </a:pPr>
            <a:r>
              <a:t/>
            </a:r>
            <a:endParaRPr sz="1900"/>
          </a:p>
          <a:p>
            <a:pPr indent="0" lvl="0" marL="0" marR="0" rtl="0" algn="just">
              <a:lnSpc>
                <a:spcPct val="100000"/>
              </a:lnSpc>
              <a:spcBef>
                <a:spcPts val="1200"/>
              </a:spcBef>
              <a:spcAft>
                <a:spcPts val="1200"/>
              </a:spcAft>
              <a:buNone/>
            </a:pPr>
            <a:r>
              <a:t/>
            </a:r>
            <a:endParaRPr sz="1900"/>
          </a:p>
        </p:txBody>
      </p:sp>
      <p:sp>
        <p:nvSpPr>
          <p:cNvPr id="668" name="Google Shape;668;p83"/>
          <p:cNvSpPr txBox="1"/>
          <p:nvPr/>
        </p:nvSpPr>
        <p:spPr>
          <a:xfrm>
            <a:off x="443275" y="1370275"/>
            <a:ext cx="8444700" cy="1062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900"/>
              <a:t>Ejercicio 3</a:t>
            </a:r>
            <a:endParaRPr b="1" sz="1900"/>
          </a:p>
          <a:p>
            <a:pPr indent="0" lvl="0" marL="0" rtl="0" algn="l">
              <a:spcBef>
                <a:spcPts val="0"/>
              </a:spcBef>
              <a:spcAft>
                <a:spcPts val="0"/>
              </a:spcAft>
              <a:buNone/>
            </a:pPr>
            <a:r>
              <a:t/>
            </a:r>
            <a:endParaRPr b="1" sz="1900"/>
          </a:p>
          <a:p>
            <a:pPr indent="0" lvl="0" marL="0" rtl="0" algn="l">
              <a:spcBef>
                <a:spcPts val="0"/>
              </a:spcBef>
              <a:spcAft>
                <a:spcPts val="0"/>
              </a:spcAft>
              <a:buNone/>
            </a:pPr>
            <a:r>
              <a:t/>
            </a:r>
            <a:endParaRPr b="1" sz="1900"/>
          </a:p>
        </p:txBody>
      </p:sp>
      <p:sp>
        <p:nvSpPr>
          <p:cNvPr id="669" name="Google Shape;669;p83"/>
          <p:cNvSpPr txBox="1"/>
          <p:nvPr/>
        </p:nvSpPr>
        <p:spPr>
          <a:xfrm>
            <a:off x="6386400" y="2489200"/>
            <a:ext cx="2757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Lato"/>
              <a:ea typeface="Lato"/>
              <a:cs typeface="Lato"/>
              <a:sym typeface="Lato"/>
            </a:endParaRPr>
          </a:p>
        </p:txBody>
      </p:sp>
      <p:pic>
        <p:nvPicPr>
          <p:cNvPr id="670" name="Google Shape;670;p83"/>
          <p:cNvPicPr preferRelativeResize="0"/>
          <p:nvPr/>
        </p:nvPicPr>
        <p:blipFill>
          <a:blip r:embed="rId3">
            <a:alphaModFix/>
          </a:blip>
          <a:stretch>
            <a:fillRect/>
          </a:stretch>
        </p:blipFill>
        <p:spPr>
          <a:xfrm>
            <a:off x="2171806" y="1447700"/>
            <a:ext cx="4987643" cy="3157775"/>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4" name="Shape 674"/>
        <p:cNvGrpSpPr/>
        <p:nvPr/>
      </p:nvGrpSpPr>
      <p:grpSpPr>
        <a:xfrm>
          <a:off x="0" y="0"/>
          <a:ext cx="0" cy="0"/>
          <a:chOff x="0" y="0"/>
          <a:chExt cx="0" cy="0"/>
        </a:xfrm>
      </p:grpSpPr>
      <p:sp>
        <p:nvSpPr>
          <p:cNvPr id="675" name="Google Shape;675;p84"/>
          <p:cNvSpPr txBox="1"/>
          <p:nvPr>
            <p:ph type="title"/>
          </p:nvPr>
        </p:nvSpPr>
        <p:spPr>
          <a:xfrm>
            <a:off x="727650" y="5657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6. Ejercicios de regla de la cadena.</a:t>
            </a:r>
            <a:endParaRPr b="0" sz="2100">
              <a:solidFill>
                <a:schemeClr val="accent1"/>
              </a:solidFill>
              <a:latin typeface="Lato"/>
              <a:ea typeface="Lato"/>
              <a:cs typeface="Lato"/>
              <a:sym typeface="Lato"/>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676" name="Google Shape;676;p8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677" name="Google Shape;677;p84"/>
          <p:cNvSpPr txBox="1"/>
          <p:nvPr/>
        </p:nvSpPr>
        <p:spPr>
          <a:xfrm>
            <a:off x="421075" y="1293325"/>
            <a:ext cx="8489100" cy="9234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None/>
            </a:pPr>
            <a:r>
              <a:t/>
            </a:r>
            <a:endParaRPr sz="1900"/>
          </a:p>
          <a:p>
            <a:pPr indent="0" lvl="0" marL="0" marR="0" rtl="0" algn="just">
              <a:lnSpc>
                <a:spcPct val="100000"/>
              </a:lnSpc>
              <a:spcBef>
                <a:spcPts val="1200"/>
              </a:spcBef>
              <a:spcAft>
                <a:spcPts val="1200"/>
              </a:spcAft>
              <a:buNone/>
            </a:pPr>
            <a:r>
              <a:t/>
            </a:r>
            <a:endParaRPr sz="1900"/>
          </a:p>
        </p:txBody>
      </p:sp>
      <p:sp>
        <p:nvSpPr>
          <p:cNvPr id="678" name="Google Shape;678;p84"/>
          <p:cNvSpPr txBox="1"/>
          <p:nvPr/>
        </p:nvSpPr>
        <p:spPr>
          <a:xfrm>
            <a:off x="443275" y="1370275"/>
            <a:ext cx="8444700" cy="1062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900"/>
              <a:t>Ejercicio 4</a:t>
            </a:r>
            <a:endParaRPr b="1" sz="1900"/>
          </a:p>
          <a:p>
            <a:pPr indent="0" lvl="0" marL="0" rtl="0" algn="l">
              <a:spcBef>
                <a:spcPts val="0"/>
              </a:spcBef>
              <a:spcAft>
                <a:spcPts val="0"/>
              </a:spcAft>
              <a:buNone/>
            </a:pPr>
            <a:r>
              <a:t/>
            </a:r>
            <a:endParaRPr b="1" sz="1900"/>
          </a:p>
          <a:p>
            <a:pPr indent="0" lvl="0" marL="0" rtl="0" algn="l">
              <a:spcBef>
                <a:spcPts val="0"/>
              </a:spcBef>
              <a:spcAft>
                <a:spcPts val="0"/>
              </a:spcAft>
              <a:buNone/>
            </a:pPr>
            <a:r>
              <a:t/>
            </a:r>
            <a:endParaRPr b="1" sz="1900"/>
          </a:p>
        </p:txBody>
      </p:sp>
      <p:sp>
        <p:nvSpPr>
          <p:cNvPr id="679" name="Google Shape;679;p84"/>
          <p:cNvSpPr txBox="1"/>
          <p:nvPr/>
        </p:nvSpPr>
        <p:spPr>
          <a:xfrm>
            <a:off x="6386400" y="2489200"/>
            <a:ext cx="2757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Lato"/>
              <a:ea typeface="Lato"/>
              <a:cs typeface="Lato"/>
              <a:sym typeface="Lato"/>
            </a:endParaRPr>
          </a:p>
        </p:txBody>
      </p:sp>
      <p:pic>
        <p:nvPicPr>
          <p:cNvPr id="680" name="Google Shape;680;p84"/>
          <p:cNvPicPr preferRelativeResize="0"/>
          <p:nvPr/>
        </p:nvPicPr>
        <p:blipFill>
          <a:blip r:embed="rId3">
            <a:alphaModFix/>
          </a:blip>
          <a:stretch>
            <a:fillRect/>
          </a:stretch>
        </p:blipFill>
        <p:spPr>
          <a:xfrm>
            <a:off x="2394800" y="1923425"/>
            <a:ext cx="4090750" cy="25310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